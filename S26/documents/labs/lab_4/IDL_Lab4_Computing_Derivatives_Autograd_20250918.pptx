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9144000" cy="5143500"/>
  <p:embeddedFontLst>
    <p:embeddedFont>
      <p:font typeface="Tahoma"/>
      <p:regular r:id="rId52"/>
      <p:bold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4" roundtripDataSignature="AMtx7mhQkar9x02nEXqKsT3An/OeEdXx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Tahoma-bold.fntdata"/><Relationship Id="rId52" Type="http://schemas.openxmlformats.org/officeDocument/2006/relationships/font" Target="fonts/Tahom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0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3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3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5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5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6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6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7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7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8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9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9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0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0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3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3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5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5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6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6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7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7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8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8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9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0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0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4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43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3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5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45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6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46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8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9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" type="body"/>
          </p:nvPr>
        </p:nvSpPr>
        <p:spPr>
          <a:xfrm>
            <a:off x="360574" y="996429"/>
            <a:ext cx="5116195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1"/>
          <p:cNvSpPr txBox="1"/>
          <p:nvPr>
            <p:ph type="ctrTitle"/>
          </p:nvPr>
        </p:nvSpPr>
        <p:spPr>
          <a:xfrm>
            <a:off x="301625" y="243286"/>
            <a:ext cx="668909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2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A7BB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47"/>
          <p:cNvSpPr/>
          <p:nvPr/>
        </p:nvSpPr>
        <p:spPr>
          <a:xfrm>
            <a:off x="8586257" y="0"/>
            <a:ext cx="0" cy="5144135"/>
          </a:xfrm>
          <a:custGeom>
            <a:rect b="b" l="l" r="r" t="t"/>
            <a:pathLst>
              <a:path extrusionOk="0" h="5144135" w="120000">
                <a:moveTo>
                  <a:pt x="0" y="0"/>
                </a:moveTo>
                <a:lnTo>
                  <a:pt x="0" y="5144099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" name="Google Shape;12;p47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47"/>
          <p:cNvSpPr txBox="1"/>
          <p:nvPr>
            <p:ph idx="1" type="body"/>
          </p:nvPr>
        </p:nvSpPr>
        <p:spPr>
          <a:xfrm>
            <a:off x="360574" y="996429"/>
            <a:ext cx="5116195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4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4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11" Type="http://schemas.openxmlformats.org/officeDocument/2006/relationships/image" Target="../media/image23.png"/><Relationship Id="rId10" Type="http://schemas.openxmlformats.org/officeDocument/2006/relationships/image" Target="../media/image19.png"/><Relationship Id="rId9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10" Type="http://schemas.openxmlformats.org/officeDocument/2006/relationships/image" Target="../media/image29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12" Type="http://schemas.openxmlformats.org/officeDocument/2006/relationships/image" Target="../media/image32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13" Type="http://schemas.openxmlformats.org/officeDocument/2006/relationships/image" Target="../media/image38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13" Type="http://schemas.openxmlformats.org/officeDocument/2006/relationships/image" Target="../media/image38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13" Type="http://schemas.openxmlformats.org/officeDocument/2006/relationships/image" Target="../media/image38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33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33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7.png"/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47.png"/><Relationship Id="rId9" Type="http://schemas.openxmlformats.org/officeDocument/2006/relationships/image" Target="../media/image15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33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6.png"/><Relationship Id="rId13" Type="http://schemas.openxmlformats.org/officeDocument/2006/relationships/image" Target="../media/image59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47.png"/><Relationship Id="rId14" Type="http://schemas.openxmlformats.org/officeDocument/2006/relationships/image" Target="../media/image69.png"/><Relationship Id="rId5" Type="http://schemas.openxmlformats.org/officeDocument/2006/relationships/image" Target="../media/image13.png"/><Relationship Id="rId6" Type="http://schemas.openxmlformats.org/officeDocument/2006/relationships/image" Target="../media/image56.png"/><Relationship Id="rId7" Type="http://schemas.openxmlformats.org/officeDocument/2006/relationships/image" Target="../media/image50.png"/><Relationship Id="rId8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47.png"/><Relationship Id="rId9" Type="http://schemas.openxmlformats.org/officeDocument/2006/relationships/image" Target="../media/image61.png"/><Relationship Id="rId5" Type="http://schemas.openxmlformats.org/officeDocument/2006/relationships/image" Target="../media/image48.png"/><Relationship Id="rId6" Type="http://schemas.openxmlformats.org/officeDocument/2006/relationships/image" Target="../media/image59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33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2.png"/><Relationship Id="rId4" Type="http://schemas.openxmlformats.org/officeDocument/2006/relationships/image" Target="../media/image67.png"/><Relationship Id="rId5" Type="http://schemas.openxmlformats.org/officeDocument/2006/relationships/image" Target="../media/image6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70.png"/><Relationship Id="rId8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70.png"/><Relationship Id="rId8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70.png"/><Relationship Id="rId8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70.png"/><Relationship Id="rId8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70.png"/><Relationship Id="rId8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6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1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7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74.png"/><Relationship Id="rId8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9.png"/><Relationship Id="rId4" Type="http://schemas.openxmlformats.org/officeDocument/2006/relationships/image" Target="../media/image7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2.png"/><Relationship Id="rId4" Type="http://schemas.openxmlformats.org/officeDocument/2006/relationships/image" Target="../media/image7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7.png"/><Relationship Id="rId4" Type="http://schemas.openxmlformats.org/officeDocument/2006/relationships/image" Target="../media/image7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A7BB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" name="Google Shape;50;p1"/>
          <p:cNvSpPr txBox="1"/>
          <p:nvPr>
            <p:ph type="title"/>
          </p:nvPr>
        </p:nvSpPr>
        <p:spPr>
          <a:xfrm>
            <a:off x="457200" y="2419350"/>
            <a:ext cx="83508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7150">
            <a:spAutoFit/>
          </a:bodyPr>
          <a:lstStyle/>
          <a:p>
            <a:pPr indent="0" lvl="0" marL="127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IDL S26 </a:t>
            </a:r>
            <a:br>
              <a:rPr lang="en-US" sz="5400"/>
            </a:br>
            <a:r>
              <a:rPr lang="en-US" sz="5400"/>
              <a:t>Computing Derivatives &amp; Autograd Lab 4</a:t>
            </a:r>
            <a:endParaRPr sz="5400"/>
          </a:p>
          <a:p>
            <a:pPr indent="0" lvl="0" marL="61594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lang="en-US" sz="1400"/>
              <a:t>By Khushee, Malihah and Anurag 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>
            <p:ph type="title"/>
          </p:nvPr>
        </p:nvSpPr>
        <p:spPr>
          <a:xfrm>
            <a:off x="301625" y="243286"/>
            <a:ext cx="525272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derivative?</a:t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741574" y="1834629"/>
            <a:ext cx="3596004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 rate of change (slope, gradient)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41574" y="2383268"/>
            <a:ext cx="470347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How quickly your position is changing right now?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Derivative - Wikipedia"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44" y="1252020"/>
            <a:ext cx="279146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301625" y="243286"/>
            <a:ext cx="5252720" cy="1074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do we need to compute derivatives? </a:t>
            </a: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741574" y="1834629"/>
            <a:ext cx="5252720" cy="154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When we train a neural network, we want to adjust the parameters so that the loss function gets smaller. 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To do that, we need to know: if I nudge this parameter a little bit, how will the loss change? 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That sensitivity is exactly what derivatives give us. Without derivatives, we couldn’t run gradient descent to optimize the model.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01625" y="243286"/>
            <a:ext cx="525272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Problem!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741574" y="1834629"/>
            <a:ext cx="5252720" cy="59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Modern networks have millions of parameters! (way more than that)</a:t>
            </a:r>
            <a:endParaRPr/>
          </a:p>
          <a:p>
            <a:pPr indent="-243840" lvl="0" marL="33274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Tahoma"/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Calculating derivatives by hand is impossible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872634" y="4156395"/>
            <a:ext cx="9906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3962400" y="4248150"/>
            <a:ext cx="5252720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Want to automatically calculate the derivatives of a function! 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/>
        </p:nvSpPr>
        <p:spPr>
          <a:xfrm>
            <a:off x="309999" y="108179"/>
            <a:ext cx="6223500" cy="14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950">
            <a:spAutoFit/>
          </a:bodyPr>
          <a:lstStyle/>
          <a:p>
            <a:pPr indent="0" lvl="0" marL="127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Trebuchet MS"/>
                <a:ea typeface="Trebuchet MS"/>
                <a:cs typeface="Trebuchet MS"/>
                <a:sym typeface="Trebuchet MS"/>
              </a:rPr>
              <a:t>Raise your hand if you dislike a lot of unnecessary derivatives!!!!!!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35"/>
              </a:spcBef>
              <a:spcAft>
                <a:spcPts val="0"/>
              </a:spcAft>
              <a:buNone/>
            </a:pPr>
            <a:r>
              <a:rPr lang="en-US" sz="2300">
                <a:latin typeface="Trebuchet MS"/>
                <a:ea typeface="Trebuchet MS"/>
                <a:cs typeface="Trebuchet MS"/>
                <a:sym typeface="Trebuchet MS"/>
              </a:rPr>
              <a:t>Raise your hand if you like points!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2725150" y="2029300"/>
            <a:ext cx="58431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rebuchet MS"/>
                <a:ea typeface="Trebuchet MS"/>
                <a:cs typeface="Trebuchet MS"/>
                <a:sym typeface="Trebuchet MS"/>
              </a:rPr>
              <a:t>Raise your hand if you like ***bonus*** points?</a:t>
            </a:r>
            <a:endParaRPr sz="2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0067" y="2336650"/>
            <a:ext cx="1075159" cy="50595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207300" y="2206289"/>
            <a:ext cx="77640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2914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None/>
            </a:pPr>
            <a:r>
              <a:rPr lang="en-US" sz="3800">
                <a:latin typeface="Trebuchet MS"/>
                <a:ea typeface="Trebuchet MS"/>
                <a:cs typeface="Trebuchet MS"/>
                <a:sym typeface="Trebuchet MS"/>
              </a:rPr>
              <a:t>We can combine all those</a:t>
            </a:r>
            <a:endParaRPr sz="3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207300" y="3370733"/>
            <a:ext cx="24822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latin typeface="Trebuchet MS"/>
                <a:ea typeface="Trebuchet MS"/>
                <a:cs typeface="Trebuchet MS"/>
                <a:sym typeface="Trebuchet MS"/>
              </a:rPr>
              <a:t>interests!!!</a:t>
            </a:r>
            <a:endParaRPr sz="3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4" name="Google Shape;84;p5"/>
          <p:cNvGrpSpPr/>
          <p:nvPr/>
        </p:nvGrpSpPr>
        <p:grpSpPr>
          <a:xfrm>
            <a:off x="3109267" y="3695793"/>
            <a:ext cx="4746108" cy="1009518"/>
            <a:chOff x="3039598" y="3695824"/>
            <a:chExt cx="5060896" cy="1011136"/>
          </a:xfrm>
        </p:grpSpPr>
        <p:sp>
          <p:nvSpPr>
            <p:cNvPr id="85" name="Google Shape;85;p5"/>
            <p:cNvSpPr/>
            <p:nvPr/>
          </p:nvSpPr>
          <p:spPr>
            <a:xfrm>
              <a:off x="3864038" y="3923099"/>
              <a:ext cx="4236456" cy="783861"/>
            </a:xfrm>
            <a:custGeom>
              <a:rect b="b" l="l" r="r" t="t"/>
              <a:pathLst>
                <a:path extrusionOk="0" h="1012825" w="4412615">
                  <a:moveTo>
                    <a:pt x="0" y="0"/>
                  </a:moveTo>
                  <a:lnTo>
                    <a:pt x="4412399" y="0"/>
                  </a:lnTo>
                  <a:lnTo>
                    <a:pt x="4412399" y="1012799"/>
                  </a:lnTo>
                  <a:lnTo>
                    <a:pt x="0" y="10127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14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3039598" y="3695824"/>
              <a:ext cx="612775" cy="363855"/>
            </a:xfrm>
            <a:custGeom>
              <a:rect b="b" l="l" r="r" t="t"/>
              <a:pathLst>
                <a:path extrusionOk="0" h="363854" w="612775">
                  <a:moveTo>
                    <a:pt x="0" y="0"/>
                  </a:moveTo>
                  <a:lnTo>
                    <a:pt x="612245" y="363577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7" name="Google Shape;8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00662" y="3986242"/>
              <a:ext cx="218896" cy="18049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8" name="Google Shape;8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900" y="3975250"/>
            <a:ext cx="3897950" cy="7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01625" y="243286"/>
            <a:ext cx="525272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 1: Hand-Coding Derivatives</a:t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5378498" y="1834629"/>
            <a:ext cx="3625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, etc.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41574" y="1834629"/>
            <a:ext cx="3596004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We use the deﬁnitions in calculus to calculate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Use the chain rule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41574" y="2383269"/>
            <a:ext cx="4013200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Pros: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Exact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Fast if well-implemented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Cons: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Error-prone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Wasteful in terms of generalizability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Time consuming to hand calculate and code.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3700" y="1767700"/>
            <a:ext cx="980450" cy="3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>
            <p:ph type="title"/>
          </p:nvPr>
        </p:nvSpPr>
        <p:spPr>
          <a:xfrm>
            <a:off x="301625" y="243286"/>
            <a:ext cx="468249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 2: Numerical Differentiation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605025" y="1834629"/>
            <a:ext cx="5263515" cy="203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Approximate derivatives with using ﬁnite differences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49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●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Consideration: epsilon value changes accuracy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469265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Pros: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Easier to code (sorta)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Cons: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Computationally expensive for higher-dimensional problems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Can accumulate a lot of error.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724" y="2083399"/>
            <a:ext cx="2175075" cy="39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0304" y="1644708"/>
            <a:ext cx="2178213" cy="2416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 3: Auto Differentiation :)</a:t>
            </a:r>
            <a:endParaRPr/>
          </a:p>
        </p:txBody>
      </p:sp>
      <p:sp>
        <p:nvSpPr>
          <p:cNvPr id="111" name="Google Shape;111;p8"/>
          <p:cNvSpPr txBox="1"/>
          <p:nvPr/>
        </p:nvSpPr>
        <p:spPr>
          <a:xfrm>
            <a:off x="741574" y="1211329"/>
            <a:ext cx="6497426" cy="150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b="1" lang="en-US" sz="1200">
                <a:latin typeface="Verdana"/>
                <a:ea typeface="Verdana"/>
                <a:cs typeface="Verdana"/>
                <a:sym typeface="Verdana"/>
              </a:rPr>
              <a:t>What is primitive operation?</a:t>
            </a:r>
            <a:endParaRPr/>
          </a:p>
          <a:p>
            <a:pPr indent="-243840" lvl="0" marL="33274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200"/>
              <a:buFont typeface="Tahoma"/>
              <a:buNone/>
            </a:pPr>
            <a:r>
              <a:t/>
            </a:r>
            <a:endParaRPr b="1"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The smallest building blocks of computation in automatic differentiation</a:t>
            </a:r>
            <a:endParaRPr/>
          </a:p>
          <a:p>
            <a:pPr indent="-3200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Examples: addition (+), subtraction (−), multiplication (×), division (÷) </a:t>
            </a:r>
            <a:endParaRPr/>
          </a:p>
          <a:p>
            <a:pPr indent="-3200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Common nonlinear ops: exp, log, sin, cos, relu, etc. </a:t>
            </a:r>
            <a:endParaRPr/>
          </a:p>
          <a:p>
            <a:pPr indent="-3200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Complex functions are composed of many primitive operations</a:t>
            </a:r>
            <a:endParaRPr/>
          </a:p>
          <a:p>
            <a:pPr indent="-320039" lvl="1" marL="926464" rtl="0" algn="l"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Autograd tracks these operations to build the computation graph</a:t>
            </a:r>
            <a:endParaRPr/>
          </a:p>
          <a:p>
            <a:pPr indent="-243839" lvl="1" marL="9264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 3: Auto Differentiation :)</a:t>
            </a: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741574" y="1211329"/>
            <a:ext cx="6037580" cy="229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Start with input x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Use Primitive Operations to incrementally create differentiation graph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Automatically track computations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Continuously Update parameters during gradient calculations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Pytorch uses an autodifferentiation engine called autograd that you have used!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Pros: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Backward is automatically if computation graph is correctly formed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Exact calculations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Cons: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Must be very careful while implementing the forward functions.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Makes brains hurt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1224400" y="2215261"/>
            <a:ext cx="3579495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start small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4275" y="398687"/>
            <a:ext cx="2412999" cy="40216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 for example,</a:t>
            </a:r>
            <a:endParaRPr/>
          </a:p>
        </p:txBody>
      </p:sp>
      <p:pic>
        <p:nvPicPr>
          <p:cNvPr id="129" name="Google Shape;1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000" y="2931449"/>
            <a:ext cx="233975" cy="42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6025" y="2920887"/>
            <a:ext cx="1382881" cy="44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8700" y="2931437"/>
            <a:ext cx="233974" cy="42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8725" y="2920875"/>
            <a:ext cx="1382876" cy="442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54950" y="3033887"/>
            <a:ext cx="1163800" cy="2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7649" y="3066487"/>
            <a:ext cx="298724" cy="150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1"/>
          <p:cNvGrpSpPr/>
          <p:nvPr/>
        </p:nvGrpSpPr>
        <p:grpSpPr>
          <a:xfrm>
            <a:off x="388624" y="1367149"/>
            <a:ext cx="4600072" cy="700875"/>
            <a:chOff x="388624" y="1367149"/>
            <a:chExt cx="4600072" cy="700875"/>
          </a:xfrm>
        </p:grpSpPr>
        <p:pic>
          <p:nvPicPr>
            <p:cNvPr id="136" name="Google Shape;136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88625" y="1367149"/>
              <a:ext cx="4600071" cy="21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88624" y="1583172"/>
              <a:ext cx="3319572" cy="4848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301625" y="243286"/>
            <a:ext cx="4214495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make a graph instead!</a:t>
            </a:r>
            <a:endParaRPr/>
          </a:p>
        </p:txBody>
      </p:sp>
      <p:pic>
        <p:nvPicPr>
          <p:cNvPr id="143" name="Google Shape;1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5" y="2207862"/>
            <a:ext cx="313174" cy="3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862" y="4123550"/>
            <a:ext cx="246700" cy="470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2"/>
          <p:cNvGrpSpPr/>
          <p:nvPr/>
        </p:nvGrpSpPr>
        <p:grpSpPr>
          <a:xfrm>
            <a:off x="794574" y="2083449"/>
            <a:ext cx="5137341" cy="2554380"/>
            <a:chOff x="794574" y="2083449"/>
            <a:chExt cx="5137341" cy="2554380"/>
          </a:xfrm>
        </p:grpSpPr>
        <p:sp>
          <p:nvSpPr>
            <p:cNvPr id="146" name="Google Shape;146;p12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2" name="Google Shape;15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40375" y="3211624"/>
              <a:ext cx="402150" cy="402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22650" y="3180400"/>
              <a:ext cx="402149" cy="464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2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12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6" name="Google Shape;156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47812" y="3128349"/>
              <a:ext cx="568726" cy="56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2"/>
            <p:cNvSpPr/>
            <p:nvPr/>
          </p:nvSpPr>
          <p:spPr>
            <a:xfrm>
              <a:off x="1270345" y="3622507"/>
              <a:ext cx="806450" cy="539750"/>
            </a:xfrm>
            <a:custGeom>
              <a:rect b="b" l="l" r="r" t="t"/>
              <a:pathLst>
                <a:path extrusionOk="0" h="539750" w="806450">
                  <a:moveTo>
                    <a:pt x="0" y="539421"/>
                  </a:moveTo>
                  <a:lnTo>
                    <a:pt x="80629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12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0" y="10959"/>
                  </a:lnTo>
                  <a:lnTo>
                    <a:pt x="44674" y="0"/>
                  </a:lnTo>
                  <a:lnTo>
                    <a:pt x="17496" y="37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12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44674" y="0"/>
                  </a:lnTo>
                  <a:lnTo>
                    <a:pt x="0" y="10959"/>
                  </a:lnTo>
                  <a:lnTo>
                    <a:pt x="17496" y="3711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12"/>
            <p:cNvSpPr/>
            <p:nvPr/>
          </p:nvSpPr>
          <p:spPr>
            <a:xfrm>
              <a:off x="1270345" y="2559220"/>
              <a:ext cx="792480" cy="602615"/>
            </a:xfrm>
            <a:custGeom>
              <a:rect b="b" l="l" r="r" t="t"/>
              <a:pathLst>
                <a:path extrusionOk="0" h="602614" w="792480">
                  <a:moveTo>
                    <a:pt x="0" y="0"/>
                  </a:moveTo>
                  <a:lnTo>
                    <a:pt x="792107" y="602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12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0" y="38686"/>
                  </a:moveTo>
                  <a:lnTo>
                    <a:pt x="0" y="25046"/>
                  </a:lnTo>
                  <a:lnTo>
                    <a:pt x="19045" y="0"/>
                  </a:lnTo>
                  <a:lnTo>
                    <a:pt x="43930" y="38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12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6"/>
                  </a:moveTo>
                  <a:lnTo>
                    <a:pt x="43930" y="38686"/>
                  </a:lnTo>
                  <a:lnTo>
                    <a:pt x="19045" y="0"/>
                  </a:lnTo>
                  <a:lnTo>
                    <a:pt x="0" y="2504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12"/>
            <p:cNvSpPr/>
            <p:nvPr/>
          </p:nvSpPr>
          <p:spPr>
            <a:xfrm>
              <a:off x="3324800" y="3412688"/>
              <a:ext cx="1917064" cy="13335"/>
            </a:xfrm>
            <a:custGeom>
              <a:rect b="b" l="l" r="r" t="t"/>
              <a:pathLst>
                <a:path extrusionOk="0" h="13335" w="1917064">
                  <a:moveTo>
                    <a:pt x="0" y="0"/>
                  </a:moveTo>
                  <a:lnTo>
                    <a:pt x="1916551" y="131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12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1" y="1602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12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1" y="16027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1351974" y="3634209"/>
              <a:ext cx="3874135" cy="725170"/>
            </a:xfrm>
            <a:custGeom>
              <a:rect b="b" l="l" r="r" t="t"/>
              <a:pathLst>
                <a:path extrusionOk="0" h="725170" w="3874135">
                  <a:moveTo>
                    <a:pt x="0" y="724789"/>
                  </a:moveTo>
                  <a:lnTo>
                    <a:pt x="3873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12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69" name="Google Shape;16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61775" y="3130887"/>
            <a:ext cx="313174" cy="563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4850" y="1090537"/>
            <a:ext cx="2412998" cy="402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301625" y="243286"/>
            <a:ext cx="393446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analyze how this works</a:t>
            </a:r>
            <a:endParaRPr/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850" y="1090537"/>
            <a:ext cx="2412998" cy="40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5" y="2207862"/>
            <a:ext cx="313174" cy="3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862" y="4123550"/>
            <a:ext cx="246700" cy="47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1775" y="3130887"/>
            <a:ext cx="313174" cy="5636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3"/>
          <p:cNvGrpSpPr/>
          <p:nvPr/>
        </p:nvGrpSpPr>
        <p:grpSpPr>
          <a:xfrm>
            <a:off x="794574" y="2083449"/>
            <a:ext cx="5176550" cy="2554380"/>
            <a:chOff x="794574" y="2083449"/>
            <a:chExt cx="5176550" cy="2554380"/>
          </a:xfrm>
        </p:grpSpPr>
        <p:sp>
          <p:nvSpPr>
            <p:cNvPr id="181" name="Google Shape;181;p13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7" name="Google Shape;187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40375" y="3211624"/>
              <a:ext cx="402150" cy="402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2650" y="3180400"/>
              <a:ext cx="402149" cy="464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3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1" name="Google Shape;191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347812" y="3128349"/>
              <a:ext cx="568726" cy="56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3"/>
            <p:cNvSpPr/>
            <p:nvPr/>
          </p:nvSpPr>
          <p:spPr>
            <a:xfrm>
              <a:off x="1270345" y="3622507"/>
              <a:ext cx="806450" cy="539750"/>
            </a:xfrm>
            <a:custGeom>
              <a:rect b="b" l="l" r="r" t="t"/>
              <a:pathLst>
                <a:path extrusionOk="0" h="539750" w="806450">
                  <a:moveTo>
                    <a:pt x="0" y="539421"/>
                  </a:moveTo>
                  <a:lnTo>
                    <a:pt x="80629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0" y="10959"/>
                  </a:lnTo>
                  <a:lnTo>
                    <a:pt x="44674" y="0"/>
                  </a:lnTo>
                  <a:lnTo>
                    <a:pt x="17496" y="37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44674" y="0"/>
                  </a:lnTo>
                  <a:lnTo>
                    <a:pt x="0" y="10959"/>
                  </a:lnTo>
                  <a:lnTo>
                    <a:pt x="17496" y="3711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1270345" y="2559220"/>
              <a:ext cx="792480" cy="602615"/>
            </a:xfrm>
            <a:custGeom>
              <a:rect b="b" l="l" r="r" t="t"/>
              <a:pathLst>
                <a:path extrusionOk="0" h="602614" w="792480">
                  <a:moveTo>
                    <a:pt x="0" y="0"/>
                  </a:moveTo>
                  <a:lnTo>
                    <a:pt x="792107" y="602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0" y="38686"/>
                  </a:moveTo>
                  <a:lnTo>
                    <a:pt x="0" y="25046"/>
                  </a:lnTo>
                  <a:lnTo>
                    <a:pt x="19045" y="0"/>
                  </a:lnTo>
                  <a:lnTo>
                    <a:pt x="43930" y="38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6"/>
                  </a:moveTo>
                  <a:lnTo>
                    <a:pt x="43930" y="38686"/>
                  </a:lnTo>
                  <a:lnTo>
                    <a:pt x="19045" y="0"/>
                  </a:lnTo>
                  <a:lnTo>
                    <a:pt x="0" y="2504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3324800" y="3412688"/>
              <a:ext cx="1917064" cy="13335"/>
            </a:xfrm>
            <a:custGeom>
              <a:rect b="b" l="l" r="r" t="t"/>
              <a:pathLst>
                <a:path extrusionOk="0" h="13335" w="1917064">
                  <a:moveTo>
                    <a:pt x="0" y="0"/>
                  </a:moveTo>
                  <a:lnTo>
                    <a:pt x="1916551" y="131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1" y="1602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1" y="16027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1351974" y="3634209"/>
              <a:ext cx="3874135" cy="725170"/>
            </a:xfrm>
            <a:custGeom>
              <a:rect b="b" l="l" r="r" t="t"/>
              <a:pathLst>
                <a:path extrusionOk="0" h="725170" w="3874135">
                  <a:moveTo>
                    <a:pt x="0" y="724789"/>
                  </a:moveTo>
                  <a:lnTo>
                    <a:pt x="3873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4" name="Google Shape;204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84925" y="2303325"/>
              <a:ext cx="686199" cy="521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13"/>
          <p:cNvSpPr txBox="1"/>
          <p:nvPr/>
        </p:nvSpPr>
        <p:spPr>
          <a:xfrm>
            <a:off x="4343400" y="4650670"/>
            <a:ext cx="4142721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For every node, use chain rule to calculate gradient!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>
            <p:ph type="title"/>
          </p:nvPr>
        </p:nvSpPr>
        <p:spPr>
          <a:xfrm>
            <a:off x="301625" y="243286"/>
            <a:ext cx="393446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analyze how this works</a:t>
            </a:r>
            <a:endParaRPr/>
          </a:p>
        </p:txBody>
      </p:sp>
      <p:pic>
        <p:nvPicPr>
          <p:cNvPr id="211" name="Google Shape;2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850" y="1090537"/>
            <a:ext cx="2412998" cy="40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5" y="2207862"/>
            <a:ext cx="313174" cy="3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862" y="4123550"/>
            <a:ext cx="246700" cy="470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14"/>
          <p:cNvGrpSpPr/>
          <p:nvPr/>
        </p:nvGrpSpPr>
        <p:grpSpPr>
          <a:xfrm>
            <a:off x="794574" y="2083449"/>
            <a:ext cx="5955201" cy="2700474"/>
            <a:chOff x="794574" y="2083449"/>
            <a:chExt cx="5955201" cy="2700474"/>
          </a:xfrm>
        </p:grpSpPr>
        <p:sp>
          <p:nvSpPr>
            <p:cNvPr id="215" name="Google Shape;215;p14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1" name="Google Shape;221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40375" y="3211624"/>
              <a:ext cx="402150" cy="402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2650" y="3180400"/>
              <a:ext cx="402149" cy="464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4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5" name="Google Shape;225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347812" y="3128349"/>
              <a:ext cx="568726" cy="56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4"/>
            <p:cNvSpPr/>
            <p:nvPr/>
          </p:nvSpPr>
          <p:spPr>
            <a:xfrm>
              <a:off x="1270345" y="3622507"/>
              <a:ext cx="806450" cy="539750"/>
            </a:xfrm>
            <a:custGeom>
              <a:rect b="b" l="l" r="r" t="t"/>
              <a:pathLst>
                <a:path extrusionOk="0" h="539750" w="806450">
                  <a:moveTo>
                    <a:pt x="0" y="539421"/>
                  </a:moveTo>
                  <a:lnTo>
                    <a:pt x="80629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0" y="10959"/>
                  </a:lnTo>
                  <a:lnTo>
                    <a:pt x="44674" y="0"/>
                  </a:lnTo>
                  <a:lnTo>
                    <a:pt x="17496" y="37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44674" y="0"/>
                  </a:lnTo>
                  <a:lnTo>
                    <a:pt x="0" y="10959"/>
                  </a:lnTo>
                  <a:lnTo>
                    <a:pt x="17496" y="3711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1270345" y="2559220"/>
              <a:ext cx="792480" cy="602615"/>
            </a:xfrm>
            <a:custGeom>
              <a:rect b="b" l="l" r="r" t="t"/>
              <a:pathLst>
                <a:path extrusionOk="0" h="602614" w="792480">
                  <a:moveTo>
                    <a:pt x="0" y="0"/>
                  </a:moveTo>
                  <a:lnTo>
                    <a:pt x="792107" y="602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0" y="38686"/>
                  </a:moveTo>
                  <a:lnTo>
                    <a:pt x="0" y="25046"/>
                  </a:lnTo>
                  <a:lnTo>
                    <a:pt x="19045" y="0"/>
                  </a:lnTo>
                  <a:lnTo>
                    <a:pt x="43930" y="38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6"/>
                  </a:moveTo>
                  <a:lnTo>
                    <a:pt x="43930" y="38686"/>
                  </a:lnTo>
                  <a:lnTo>
                    <a:pt x="19045" y="0"/>
                  </a:lnTo>
                  <a:lnTo>
                    <a:pt x="0" y="2504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324800" y="3412688"/>
              <a:ext cx="1917064" cy="13335"/>
            </a:xfrm>
            <a:custGeom>
              <a:rect b="b" l="l" r="r" t="t"/>
              <a:pathLst>
                <a:path extrusionOk="0" h="13335" w="1917064">
                  <a:moveTo>
                    <a:pt x="0" y="0"/>
                  </a:moveTo>
                  <a:lnTo>
                    <a:pt x="1916551" y="131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1" y="1602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1" y="16027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1351974" y="3634209"/>
              <a:ext cx="3874135" cy="725170"/>
            </a:xfrm>
            <a:custGeom>
              <a:rect b="b" l="l" r="r" t="t"/>
              <a:pathLst>
                <a:path extrusionOk="0" h="725170" w="3874135">
                  <a:moveTo>
                    <a:pt x="0" y="724789"/>
                  </a:moveTo>
                  <a:lnTo>
                    <a:pt x="3873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8" name="Google Shape;238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161775" y="3130887"/>
              <a:ext cx="313174" cy="5636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84925" y="2303325"/>
              <a:ext cx="686199" cy="52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386225" y="2386050"/>
              <a:ext cx="1919756" cy="464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609550" y="4319349"/>
              <a:ext cx="1922513" cy="464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14"/>
            <p:cNvSpPr/>
            <p:nvPr/>
          </p:nvSpPr>
          <p:spPr>
            <a:xfrm>
              <a:off x="5073375" y="2899424"/>
              <a:ext cx="1676400" cy="1175385"/>
            </a:xfrm>
            <a:custGeom>
              <a:rect b="b" l="l" r="r" t="t"/>
              <a:pathLst>
                <a:path extrusionOk="0" h="1175385" w="1676400">
                  <a:moveTo>
                    <a:pt x="0" y="0"/>
                  </a:moveTo>
                  <a:lnTo>
                    <a:pt x="1675799" y="0"/>
                  </a:lnTo>
                  <a:lnTo>
                    <a:pt x="1675799" y="1175099"/>
                  </a:lnTo>
                  <a:lnTo>
                    <a:pt x="0" y="11750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3" name="Google Shape;243;p14"/>
          <p:cNvSpPr txBox="1"/>
          <p:nvPr/>
        </p:nvSpPr>
        <p:spPr>
          <a:xfrm>
            <a:off x="2384191" y="1973070"/>
            <a:ext cx="897843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f = b * c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>
            <p:ph type="title"/>
          </p:nvPr>
        </p:nvSpPr>
        <p:spPr>
          <a:xfrm>
            <a:off x="301625" y="243286"/>
            <a:ext cx="393446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analyze how this works</a:t>
            </a:r>
            <a:endParaRPr/>
          </a:p>
        </p:txBody>
      </p:sp>
      <p:pic>
        <p:nvPicPr>
          <p:cNvPr id="249" name="Google Shape;2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850" y="1090537"/>
            <a:ext cx="2412998" cy="40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5" y="2207862"/>
            <a:ext cx="313174" cy="3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862" y="4123550"/>
            <a:ext cx="246700" cy="47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1775" y="3130887"/>
            <a:ext cx="313174" cy="5636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5"/>
          <p:cNvGrpSpPr/>
          <p:nvPr/>
        </p:nvGrpSpPr>
        <p:grpSpPr>
          <a:xfrm>
            <a:off x="794574" y="2083449"/>
            <a:ext cx="5176550" cy="2700474"/>
            <a:chOff x="794574" y="2083449"/>
            <a:chExt cx="5176550" cy="2700474"/>
          </a:xfrm>
        </p:grpSpPr>
        <p:sp>
          <p:nvSpPr>
            <p:cNvPr id="254" name="Google Shape;254;p15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0" name="Google Shape;260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40375" y="3211624"/>
              <a:ext cx="402150" cy="402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2650" y="3180400"/>
              <a:ext cx="402149" cy="464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15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4" name="Google Shape;264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347812" y="3128349"/>
              <a:ext cx="568726" cy="56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15"/>
            <p:cNvSpPr/>
            <p:nvPr/>
          </p:nvSpPr>
          <p:spPr>
            <a:xfrm>
              <a:off x="1270345" y="3622507"/>
              <a:ext cx="806450" cy="539750"/>
            </a:xfrm>
            <a:custGeom>
              <a:rect b="b" l="l" r="r" t="t"/>
              <a:pathLst>
                <a:path extrusionOk="0" h="539750" w="806450">
                  <a:moveTo>
                    <a:pt x="0" y="539421"/>
                  </a:moveTo>
                  <a:lnTo>
                    <a:pt x="80629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0" y="10959"/>
                  </a:lnTo>
                  <a:lnTo>
                    <a:pt x="44674" y="0"/>
                  </a:lnTo>
                  <a:lnTo>
                    <a:pt x="17496" y="37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44674" y="0"/>
                  </a:lnTo>
                  <a:lnTo>
                    <a:pt x="0" y="10959"/>
                  </a:lnTo>
                  <a:lnTo>
                    <a:pt x="17496" y="3711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1270345" y="2559220"/>
              <a:ext cx="792480" cy="602615"/>
            </a:xfrm>
            <a:custGeom>
              <a:rect b="b" l="l" r="r" t="t"/>
              <a:pathLst>
                <a:path extrusionOk="0" h="602614" w="792480">
                  <a:moveTo>
                    <a:pt x="0" y="0"/>
                  </a:moveTo>
                  <a:lnTo>
                    <a:pt x="792107" y="602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0" y="38686"/>
                  </a:moveTo>
                  <a:lnTo>
                    <a:pt x="0" y="25046"/>
                  </a:lnTo>
                  <a:lnTo>
                    <a:pt x="19045" y="0"/>
                  </a:lnTo>
                  <a:lnTo>
                    <a:pt x="43930" y="38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6"/>
                  </a:moveTo>
                  <a:lnTo>
                    <a:pt x="43930" y="38686"/>
                  </a:lnTo>
                  <a:lnTo>
                    <a:pt x="19045" y="0"/>
                  </a:lnTo>
                  <a:lnTo>
                    <a:pt x="0" y="2504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3324800" y="3412688"/>
              <a:ext cx="1917064" cy="13335"/>
            </a:xfrm>
            <a:custGeom>
              <a:rect b="b" l="l" r="r" t="t"/>
              <a:pathLst>
                <a:path extrusionOk="0" h="13335" w="1917064">
                  <a:moveTo>
                    <a:pt x="0" y="0"/>
                  </a:moveTo>
                  <a:lnTo>
                    <a:pt x="1916551" y="131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1" y="1602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1" y="16027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1351974" y="3634209"/>
              <a:ext cx="3874135" cy="725170"/>
            </a:xfrm>
            <a:custGeom>
              <a:rect b="b" l="l" r="r" t="t"/>
              <a:pathLst>
                <a:path extrusionOk="0" h="725170" w="3874135">
                  <a:moveTo>
                    <a:pt x="0" y="724789"/>
                  </a:moveTo>
                  <a:lnTo>
                    <a:pt x="3873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77" name="Google Shape;277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84925" y="2303325"/>
              <a:ext cx="686199" cy="52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386225" y="2386050"/>
              <a:ext cx="1919756" cy="464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609550" y="4319349"/>
              <a:ext cx="1922513" cy="464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5"/>
            <p:cNvSpPr/>
            <p:nvPr/>
          </p:nvSpPr>
          <p:spPr>
            <a:xfrm>
              <a:off x="1808850" y="2882137"/>
              <a:ext cx="1651000" cy="1061720"/>
            </a:xfrm>
            <a:custGeom>
              <a:rect b="b" l="l" r="r" t="t"/>
              <a:pathLst>
                <a:path extrusionOk="0" h="1061720" w="1651000">
                  <a:moveTo>
                    <a:pt x="0" y="0"/>
                  </a:moveTo>
                  <a:lnTo>
                    <a:pt x="1650899" y="0"/>
                  </a:lnTo>
                  <a:lnTo>
                    <a:pt x="1650899" y="1061099"/>
                  </a:lnTo>
                  <a:lnTo>
                    <a:pt x="0" y="10610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773549" y="3964900"/>
              <a:ext cx="1363980" cy="175260"/>
            </a:xfrm>
            <a:custGeom>
              <a:rect b="b" l="l" r="r" t="t"/>
              <a:pathLst>
                <a:path extrusionOk="0" h="175260" w="1363979">
                  <a:moveTo>
                    <a:pt x="1363625" y="0"/>
                  </a:moveTo>
                  <a:lnTo>
                    <a:pt x="0" y="175152"/>
                  </a:lnTo>
                </a:path>
              </a:pathLst>
            </a:custGeom>
            <a:noFill/>
            <a:ln cap="flat" cmpd="sng" w="76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2430564" y="4015216"/>
              <a:ext cx="359410" cy="250190"/>
            </a:xfrm>
            <a:custGeom>
              <a:rect b="b" l="l" r="r" t="t"/>
              <a:pathLst>
                <a:path extrusionOk="0" h="250189" w="359410">
                  <a:moveTo>
                    <a:pt x="359019" y="249672"/>
                  </a:moveTo>
                  <a:lnTo>
                    <a:pt x="0" y="168891"/>
                  </a:lnTo>
                  <a:lnTo>
                    <a:pt x="326950" y="0"/>
                  </a:lnTo>
                  <a:lnTo>
                    <a:pt x="359019" y="2496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2430564" y="4015216"/>
              <a:ext cx="359410" cy="250190"/>
            </a:xfrm>
            <a:custGeom>
              <a:rect b="b" l="l" r="r" t="t"/>
              <a:pathLst>
                <a:path extrusionOk="0" h="250189" w="359410">
                  <a:moveTo>
                    <a:pt x="326950" y="0"/>
                  </a:moveTo>
                  <a:lnTo>
                    <a:pt x="0" y="168891"/>
                  </a:lnTo>
                  <a:lnTo>
                    <a:pt x="359019" y="249672"/>
                  </a:lnTo>
                  <a:lnTo>
                    <a:pt x="326950" y="0"/>
                  </a:lnTo>
                  <a:close/>
                </a:path>
              </a:pathLst>
            </a:custGeom>
            <a:noFill/>
            <a:ln cap="flat" cmpd="sng" w="76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4" name="Google Shape;284;p15"/>
          <p:cNvSpPr txBox="1"/>
          <p:nvPr/>
        </p:nvSpPr>
        <p:spPr>
          <a:xfrm>
            <a:off x="4193525" y="3916653"/>
            <a:ext cx="6661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Verdana"/>
                <a:ea typeface="Verdana"/>
                <a:cs typeface="Verdana"/>
                <a:sym typeface="Verdana"/>
              </a:rPr>
              <a:t>What about dbdc?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5" name="Google Shape;285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8575" y="1584475"/>
            <a:ext cx="2828437" cy="4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/>
          <p:nvPr>
            <p:ph type="title"/>
          </p:nvPr>
        </p:nvSpPr>
        <p:spPr>
          <a:xfrm>
            <a:off x="301625" y="243286"/>
            <a:ext cx="393446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analyze how this works</a:t>
            </a:r>
            <a:endParaRPr/>
          </a:p>
        </p:txBody>
      </p:sp>
      <p:pic>
        <p:nvPicPr>
          <p:cNvPr id="291" name="Google Shape;2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850" y="1090537"/>
            <a:ext cx="2412998" cy="40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5" y="2207862"/>
            <a:ext cx="313174" cy="3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862" y="4123550"/>
            <a:ext cx="246700" cy="47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1775" y="3130887"/>
            <a:ext cx="313174" cy="5636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16"/>
          <p:cNvGrpSpPr/>
          <p:nvPr/>
        </p:nvGrpSpPr>
        <p:grpSpPr>
          <a:xfrm>
            <a:off x="794574" y="2083449"/>
            <a:ext cx="5176550" cy="2706800"/>
            <a:chOff x="794574" y="2083449"/>
            <a:chExt cx="5176550" cy="2706800"/>
          </a:xfrm>
        </p:grpSpPr>
        <p:sp>
          <p:nvSpPr>
            <p:cNvPr id="296" name="Google Shape;296;p16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794574" y="2083449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794574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2141750" y="3112999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02" name="Google Shape;302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40375" y="3211624"/>
              <a:ext cx="402150" cy="402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2650" y="3180400"/>
              <a:ext cx="402149" cy="464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16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5332475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06" name="Google Shape;306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347812" y="3128349"/>
              <a:ext cx="568726" cy="56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6"/>
            <p:cNvSpPr/>
            <p:nvPr/>
          </p:nvSpPr>
          <p:spPr>
            <a:xfrm>
              <a:off x="1270345" y="3622507"/>
              <a:ext cx="806450" cy="539750"/>
            </a:xfrm>
            <a:custGeom>
              <a:rect b="b" l="l" r="r" t="t"/>
              <a:pathLst>
                <a:path extrusionOk="0" h="539750" w="806450">
                  <a:moveTo>
                    <a:pt x="0" y="539421"/>
                  </a:moveTo>
                  <a:lnTo>
                    <a:pt x="80629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0" y="10959"/>
                  </a:lnTo>
                  <a:lnTo>
                    <a:pt x="44674" y="0"/>
                  </a:lnTo>
                  <a:lnTo>
                    <a:pt x="17496" y="37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2067897" y="359847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44674" y="0"/>
                  </a:lnTo>
                  <a:lnTo>
                    <a:pt x="0" y="10959"/>
                  </a:lnTo>
                  <a:lnTo>
                    <a:pt x="17496" y="3711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1270345" y="2559220"/>
              <a:ext cx="792480" cy="602615"/>
            </a:xfrm>
            <a:custGeom>
              <a:rect b="b" l="l" r="r" t="t"/>
              <a:pathLst>
                <a:path extrusionOk="0" h="602614" w="792480">
                  <a:moveTo>
                    <a:pt x="0" y="0"/>
                  </a:moveTo>
                  <a:lnTo>
                    <a:pt x="792107" y="602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0" y="38686"/>
                  </a:moveTo>
                  <a:lnTo>
                    <a:pt x="0" y="25046"/>
                  </a:lnTo>
                  <a:lnTo>
                    <a:pt x="19045" y="0"/>
                  </a:lnTo>
                  <a:lnTo>
                    <a:pt x="43930" y="38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6"/>
                  </a:moveTo>
                  <a:lnTo>
                    <a:pt x="43930" y="38686"/>
                  </a:lnTo>
                  <a:lnTo>
                    <a:pt x="19045" y="0"/>
                  </a:lnTo>
                  <a:lnTo>
                    <a:pt x="0" y="2504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3324800" y="3412688"/>
              <a:ext cx="1917064" cy="13335"/>
            </a:xfrm>
            <a:custGeom>
              <a:rect b="b" l="l" r="r" t="t"/>
              <a:pathLst>
                <a:path extrusionOk="0" h="13335" w="1917064">
                  <a:moveTo>
                    <a:pt x="0" y="0"/>
                  </a:moveTo>
                  <a:lnTo>
                    <a:pt x="1916551" y="131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1" y="1602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1" y="16027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1351974" y="3634209"/>
              <a:ext cx="3874135" cy="725170"/>
            </a:xfrm>
            <a:custGeom>
              <a:rect b="b" l="l" r="r" t="t"/>
              <a:pathLst>
                <a:path extrusionOk="0" h="725170" w="3874135">
                  <a:moveTo>
                    <a:pt x="0" y="724789"/>
                  </a:moveTo>
                  <a:lnTo>
                    <a:pt x="3873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19" name="Google Shape;319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84925" y="2303325"/>
              <a:ext cx="686199" cy="52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386225" y="2386050"/>
              <a:ext cx="1919756" cy="464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609550" y="4319350"/>
              <a:ext cx="3552531" cy="470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16"/>
            <p:cNvSpPr/>
            <p:nvPr/>
          </p:nvSpPr>
          <p:spPr>
            <a:xfrm>
              <a:off x="3685973" y="4147199"/>
              <a:ext cx="727710" cy="121285"/>
            </a:xfrm>
            <a:custGeom>
              <a:rect b="b" l="l" r="r" t="t"/>
              <a:pathLst>
                <a:path extrusionOk="0" h="121285" w="727710">
                  <a:moveTo>
                    <a:pt x="727226" y="0"/>
                  </a:moveTo>
                  <a:lnTo>
                    <a:pt x="0" y="1211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3643335" y="4252792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45222" y="31037"/>
                  </a:moveTo>
                  <a:lnTo>
                    <a:pt x="0" y="22619"/>
                  </a:lnTo>
                  <a:lnTo>
                    <a:pt x="40053" y="0"/>
                  </a:lnTo>
                  <a:lnTo>
                    <a:pt x="45222" y="310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3643335" y="4252792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40053" y="0"/>
                  </a:moveTo>
                  <a:lnTo>
                    <a:pt x="0" y="22619"/>
                  </a:lnTo>
                  <a:lnTo>
                    <a:pt x="45222" y="31037"/>
                  </a:lnTo>
                  <a:lnTo>
                    <a:pt x="4005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5" name="Google Shape;325;p16"/>
          <p:cNvSpPr txBox="1"/>
          <p:nvPr/>
        </p:nvSpPr>
        <p:spPr>
          <a:xfrm>
            <a:off x="4471725" y="4085077"/>
            <a:ext cx="77216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Verdana"/>
                <a:ea typeface="Verdana"/>
                <a:cs typeface="Verdana"/>
                <a:sym typeface="Verdana"/>
              </a:rPr>
              <a:t>Just add it on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6" name="Google Shape;32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8575" y="1584475"/>
            <a:ext cx="2828437" cy="4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/>
          <p:nvPr>
            <p:ph type="title"/>
          </p:nvPr>
        </p:nvSpPr>
        <p:spPr>
          <a:xfrm>
            <a:off x="301625" y="243286"/>
            <a:ext cx="393446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analyze how this works</a:t>
            </a:r>
            <a:endParaRPr/>
          </a:p>
        </p:txBody>
      </p:sp>
      <p:pic>
        <p:nvPicPr>
          <p:cNvPr id="332" name="Google Shape;3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850" y="1090537"/>
            <a:ext cx="2412998" cy="40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5" y="2207862"/>
            <a:ext cx="313174" cy="3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862" y="4123550"/>
            <a:ext cx="246700" cy="47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1775" y="3130887"/>
            <a:ext cx="313174" cy="5636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7"/>
          <p:cNvGrpSpPr/>
          <p:nvPr/>
        </p:nvGrpSpPr>
        <p:grpSpPr>
          <a:xfrm>
            <a:off x="668575" y="1584475"/>
            <a:ext cx="5302549" cy="3205774"/>
            <a:chOff x="668575" y="1584475"/>
            <a:chExt cx="5302549" cy="3205774"/>
          </a:xfrm>
        </p:grpSpPr>
        <p:sp>
          <p:nvSpPr>
            <p:cNvPr id="337" name="Google Shape;337;p17"/>
            <p:cNvSpPr/>
            <p:nvPr/>
          </p:nvSpPr>
          <p:spPr>
            <a:xfrm>
              <a:off x="794575" y="2083450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794575" y="2083450"/>
              <a:ext cx="557530" cy="557530"/>
            </a:xfrm>
            <a:custGeom>
              <a:rect b="b" l="l" r="r" t="t"/>
              <a:pathLst>
                <a:path extrusionOk="0" h="557530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794575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278699" y="557399"/>
                  </a:move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794575" y="4080299"/>
              <a:ext cx="557530" cy="557530"/>
            </a:xfrm>
            <a:custGeom>
              <a:rect b="b" l="l" r="r" t="t"/>
              <a:pathLst>
                <a:path extrusionOk="0" h="557529" w="557530">
                  <a:moveTo>
                    <a:pt x="0" y="278699"/>
                  </a:moveTo>
                  <a:lnTo>
                    <a:pt x="3647" y="233493"/>
                  </a:lnTo>
                  <a:lnTo>
                    <a:pt x="14208" y="190609"/>
                  </a:lnTo>
                  <a:lnTo>
                    <a:pt x="31107" y="150621"/>
                  </a:lnTo>
                  <a:lnTo>
                    <a:pt x="53772" y="114103"/>
                  </a:lnTo>
                  <a:lnTo>
                    <a:pt x="81629" y="81629"/>
                  </a:lnTo>
                  <a:lnTo>
                    <a:pt x="114103" y="53772"/>
                  </a:lnTo>
                  <a:lnTo>
                    <a:pt x="150621" y="31107"/>
                  </a:lnTo>
                  <a:lnTo>
                    <a:pt x="190609" y="14208"/>
                  </a:lnTo>
                  <a:lnTo>
                    <a:pt x="233493" y="3647"/>
                  </a:lnTo>
                  <a:lnTo>
                    <a:pt x="278699" y="0"/>
                  </a:lnTo>
                  <a:lnTo>
                    <a:pt x="333325" y="5404"/>
                  </a:lnTo>
                  <a:lnTo>
                    <a:pt x="385353" y="21214"/>
                  </a:lnTo>
                  <a:lnTo>
                    <a:pt x="433322" y="46824"/>
                  </a:lnTo>
                  <a:lnTo>
                    <a:pt x="475770" y="81629"/>
                  </a:lnTo>
                  <a:lnTo>
                    <a:pt x="510575" y="124077"/>
                  </a:lnTo>
                  <a:lnTo>
                    <a:pt x="536185" y="172046"/>
                  </a:lnTo>
                  <a:lnTo>
                    <a:pt x="551995" y="224074"/>
                  </a:lnTo>
                  <a:lnTo>
                    <a:pt x="557399" y="278699"/>
                  </a:lnTo>
                  <a:lnTo>
                    <a:pt x="553752" y="323906"/>
                  </a:lnTo>
                  <a:lnTo>
                    <a:pt x="543191" y="366790"/>
                  </a:lnTo>
                  <a:lnTo>
                    <a:pt x="526292" y="406778"/>
                  </a:lnTo>
                  <a:lnTo>
                    <a:pt x="503627" y="443296"/>
                  </a:lnTo>
                  <a:lnTo>
                    <a:pt x="475770" y="475770"/>
                  </a:lnTo>
                  <a:lnTo>
                    <a:pt x="443296" y="503627"/>
                  </a:lnTo>
                  <a:lnTo>
                    <a:pt x="406778" y="526292"/>
                  </a:lnTo>
                  <a:lnTo>
                    <a:pt x="366790" y="543191"/>
                  </a:lnTo>
                  <a:lnTo>
                    <a:pt x="323906" y="553752"/>
                  </a:lnTo>
                  <a:lnTo>
                    <a:pt x="278699" y="557399"/>
                  </a:lnTo>
                  <a:lnTo>
                    <a:pt x="233493" y="553752"/>
                  </a:lnTo>
                  <a:lnTo>
                    <a:pt x="190609" y="543191"/>
                  </a:lnTo>
                  <a:lnTo>
                    <a:pt x="150621" y="526292"/>
                  </a:lnTo>
                  <a:lnTo>
                    <a:pt x="114103" y="503627"/>
                  </a:lnTo>
                  <a:lnTo>
                    <a:pt x="81629" y="475770"/>
                  </a:lnTo>
                  <a:lnTo>
                    <a:pt x="53772" y="443296"/>
                  </a:lnTo>
                  <a:lnTo>
                    <a:pt x="31107" y="406778"/>
                  </a:lnTo>
                  <a:lnTo>
                    <a:pt x="14208" y="366790"/>
                  </a:lnTo>
                  <a:lnTo>
                    <a:pt x="3647" y="323906"/>
                  </a:lnTo>
                  <a:lnTo>
                    <a:pt x="0" y="2786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2141750" y="3113000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2141750" y="3113000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43" name="Google Shape;343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40375" y="3211625"/>
              <a:ext cx="402150" cy="402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2650" y="3180400"/>
              <a:ext cx="402149" cy="464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17"/>
            <p:cNvSpPr/>
            <p:nvPr/>
          </p:nvSpPr>
          <p:spPr>
            <a:xfrm>
              <a:off x="5332474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599399" y="599399"/>
                  </a:moveTo>
                  <a:lnTo>
                    <a:pt x="0" y="599399"/>
                  </a:lnTo>
                  <a:lnTo>
                    <a:pt x="0" y="0"/>
                  </a:lnTo>
                  <a:lnTo>
                    <a:pt x="599399" y="0"/>
                  </a:lnTo>
                  <a:lnTo>
                    <a:pt x="599399" y="599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5332474" y="3113012"/>
              <a:ext cx="599440" cy="599440"/>
            </a:xfrm>
            <a:custGeom>
              <a:rect b="b" l="l" r="r" t="t"/>
              <a:pathLst>
                <a:path extrusionOk="0" h="599439" w="599439">
                  <a:moveTo>
                    <a:pt x="0" y="0"/>
                  </a:moveTo>
                  <a:lnTo>
                    <a:pt x="599399" y="0"/>
                  </a:lnTo>
                  <a:lnTo>
                    <a:pt x="599399" y="599399"/>
                  </a:lnTo>
                  <a:lnTo>
                    <a:pt x="0" y="599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47" name="Google Shape;347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347811" y="3128349"/>
              <a:ext cx="568726" cy="56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17"/>
            <p:cNvSpPr/>
            <p:nvPr/>
          </p:nvSpPr>
          <p:spPr>
            <a:xfrm>
              <a:off x="1270345" y="3622507"/>
              <a:ext cx="806450" cy="539750"/>
            </a:xfrm>
            <a:custGeom>
              <a:rect b="b" l="l" r="r" t="t"/>
              <a:pathLst>
                <a:path extrusionOk="0" h="539750" w="806450">
                  <a:moveTo>
                    <a:pt x="0" y="539421"/>
                  </a:moveTo>
                  <a:lnTo>
                    <a:pt x="80629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2067897" y="3598472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0" y="10959"/>
                  </a:lnTo>
                  <a:lnTo>
                    <a:pt x="44674" y="0"/>
                  </a:lnTo>
                  <a:lnTo>
                    <a:pt x="17496" y="37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2067897" y="3598472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6" y="37111"/>
                  </a:moveTo>
                  <a:lnTo>
                    <a:pt x="44674" y="0"/>
                  </a:lnTo>
                  <a:lnTo>
                    <a:pt x="0" y="10959"/>
                  </a:lnTo>
                  <a:lnTo>
                    <a:pt x="17496" y="37111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270345" y="2559220"/>
              <a:ext cx="792480" cy="602615"/>
            </a:xfrm>
            <a:custGeom>
              <a:rect b="b" l="l" r="r" t="t"/>
              <a:pathLst>
                <a:path extrusionOk="0" h="602614" w="792480">
                  <a:moveTo>
                    <a:pt x="0" y="0"/>
                  </a:moveTo>
                  <a:lnTo>
                    <a:pt x="792107" y="602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0" y="38686"/>
                  </a:moveTo>
                  <a:lnTo>
                    <a:pt x="0" y="25046"/>
                  </a:lnTo>
                  <a:lnTo>
                    <a:pt x="19045" y="0"/>
                  </a:lnTo>
                  <a:lnTo>
                    <a:pt x="43930" y="38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2052930" y="314900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6"/>
                  </a:moveTo>
                  <a:lnTo>
                    <a:pt x="43930" y="38686"/>
                  </a:lnTo>
                  <a:lnTo>
                    <a:pt x="19045" y="0"/>
                  </a:lnTo>
                  <a:lnTo>
                    <a:pt x="0" y="2504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3324799" y="3412688"/>
              <a:ext cx="1917064" cy="13335"/>
            </a:xfrm>
            <a:custGeom>
              <a:rect b="b" l="l" r="r" t="t"/>
              <a:pathLst>
                <a:path extrusionOk="0" h="13335" w="1917064">
                  <a:moveTo>
                    <a:pt x="0" y="0"/>
                  </a:moveTo>
                  <a:lnTo>
                    <a:pt x="1916551" y="131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1" y="1602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5241243" y="3410065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1" y="16027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1351974" y="3634209"/>
              <a:ext cx="3874135" cy="725170"/>
            </a:xfrm>
            <a:custGeom>
              <a:rect b="b" l="l" r="r" t="t"/>
              <a:pathLst>
                <a:path extrusionOk="0" h="725170" w="3874135">
                  <a:moveTo>
                    <a:pt x="0" y="724789"/>
                  </a:moveTo>
                  <a:lnTo>
                    <a:pt x="3873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5222906" y="361874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60" name="Google Shape;360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84925" y="2303325"/>
              <a:ext cx="686199" cy="52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386225" y="2386050"/>
              <a:ext cx="1919756" cy="464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609550" y="4319350"/>
              <a:ext cx="3552531" cy="470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68575" y="1584475"/>
              <a:ext cx="2828437" cy="464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/>
          <p:nvPr>
            <p:ph type="title"/>
          </p:nvPr>
        </p:nvSpPr>
        <p:spPr>
          <a:xfrm>
            <a:off x="301625" y="243286"/>
            <a:ext cx="461010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understand the autograd framework</a:t>
            </a:r>
            <a:endParaRPr/>
          </a:p>
        </p:txBody>
      </p:sp>
      <p:sp>
        <p:nvSpPr>
          <p:cNvPr id="369" name="Google Shape;369;p18"/>
          <p:cNvSpPr txBox="1"/>
          <p:nvPr/>
        </p:nvSpPr>
        <p:spPr>
          <a:xfrm>
            <a:off x="741574" y="1834629"/>
            <a:ext cx="5462270" cy="240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Node class initialization: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Contains some data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I.e. </a:t>
            </a:r>
            <a:r>
              <a:rPr b="1" lang="en-US" sz="1200">
                <a:latin typeface="Tahoma"/>
                <a:ea typeface="Tahoma"/>
                <a:cs typeface="Tahoma"/>
                <a:sym typeface="Tahoma"/>
              </a:rPr>
              <a:t>node a 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contains its data input </a:t>
            </a:r>
            <a:r>
              <a:rPr b="1" lang="en-US" sz="1200">
                <a:latin typeface="Tahoma"/>
                <a:ea typeface="Tahoma"/>
                <a:cs typeface="Tahoma"/>
                <a:sym typeface="Tahoma"/>
              </a:rPr>
              <a:t>a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(tip: make this a numpy array holding data)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It also holds its gradient during backprop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Initialize it to a zero numpy array of the shape of the data.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tip: use np.zeros_like()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Also keep track of the parents of the node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675" lvl="2" marL="124714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Keep this as a </a:t>
            </a:r>
            <a:r>
              <a:rPr b="1" lang="en-US" sz="1200">
                <a:latin typeface="Tahoma"/>
                <a:ea typeface="Tahoma"/>
                <a:cs typeface="Tahoma"/>
                <a:sym typeface="Tahoma"/>
              </a:rPr>
              <a:t>set 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of parent nodes (so we don’t duplicate parent nodes accidentally)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I.e. node C has to know its parents are nodes a and b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0" name="Google Shape;3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6684" y="1404855"/>
            <a:ext cx="150140" cy="270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18"/>
          <p:cNvGrpSpPr/>
          <p:nvPr/>
        </p:nvGrpSpPr>
        <p:grpSpPr>
          <a:xfrm>
            <a:off x="5348950" y="902700"/>
            <a:ext cx="2676604" cy="1297673"/>
            <a:chOff x="5348950" y="902700"/>
            <a:chExt cx="2676604" cy="1297673"/>
          </a:xfrm>
        </p:grpSpPr>
        <p:sp>
          <p:nvSpPr>
            <p:cNvPr id="372" name="Google Shape;372;p18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5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4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76" name="Google Shape;3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48950" y="962345"/>
              <a:ext cx="150140" cy="147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64884" y="1880750"/>
              <a:ext cx="118271" cy="225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18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287399" y="287399"/>
                  </a:moveTo>
                  <a:lnTo>
                    <a:pt x="0" y="287399"/>
                  </a:lnTo>
                  <a:lnTo>
                    <a:pt x="0" y="0"/>
                  </a:lnTo>
                  <a:lnTo>
                    <a:pt x="287399" y="0"/>
                  </a:lnTo>
                  <a:lnTo>
                    <a:pt x="287399" y="287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0" y="0"/>
                  </a:moveTo>
                  <a:lnTo>
                    <a:pt x="287399" y="0"/>
                  </a:lnTo>
                  <a:lnTo>
                    <a:pt x="287399" y="287399"/>
                  </a:lnTo>
                  <a:lnTo>
                    <a:pt x="0" y="287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80" name="Google Shape;380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36707" y="1443562"/>
              <a:ext cx="192796" cy="192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63799" y="1428592"/>
              <a:ext cx="192796" cy="222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00055" y="1377236"/>
              <a:ext cx="325499" cy="325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18"/>
            <p:cNvSpPr/>
            <p:nvPr/>
          </p:nvSpPr>
          <p:spPr>
            <a:xfrm>
              <a:off x="5771723" y="1657050"/>
              <a:ext cx="361950" cy="242570"/>
            </a:xfrm>
            <a:custGeom>
              <a:rect b="b" l="l" r="r" t="t"/>
              <a:pathLst>
                <a:path extrusionOk="0" h="242569" w="361950">
                  <a:moveTo>
                    <a:pt x="0" y="242110"/>
                  </a:moveTo>
                  <a:lnTo>
                    <a:pt x="36170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0" y="10969"/>
                  </a:lnTo>
                  <a:lnTo>
                    <a:pt x="44672" y="0"/>
                  </a:lnTo>
                  <a:lnTo>
                    <a:pt x="17502" y="37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44672" y="0"/>
                  </a:lnTo>
                  <a:lnTo>
                    <a:pt x="0" y="10969"/>
                  </a:lnTo>
                  <a:lnTo>
                    <a:pt x="17502" y="3711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5771723" y="1130855"/>
              <a:ext cx="356235" cy="271145"/>
            </a:xfrm>
            <a:custGeom>
              <a:rect b="b" l="l" r="r" t="t"/>
              <a:pathLst>
                <a:path extrusionOk="0" h="271144" w="356235">
                  <a:moveTo>
                    <a:pt x="0" y="0"/>
                  </a:moveTo>
                  <a:lnTo>
                    <a:pt x="356204" y="2708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43931" y="38685"/>
                  </a:moveTo>
                  <a:lnTo>
                    <a:pt x="0" y="25048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0" y="25048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6756596" y="1539954"/>
              <a:ext cx="889635" cy="6350"/>
            </a:xfrm>
            <a:custGeom>
              <a:rect b="b" l="l" r="r" t="t"/>
              <a:pathLst>
                <a:path extrusionOk="0" h="6350" w="889634">
                  <a:moveTo>
                    <a:pt x="0" y="0"/>
                  </a:moveTo>
                  <a:lnTo>
                    <a:pt x="889051" y="620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219" y="0"/>
                  </a:lnTo>
                  <a:lnTo>
                    <a:pt x="43334" y="16033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43334" y="16033"/>
                  </a:lnTo>
                  <a:lnTo>
                    <a:pt x="219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5810794" y="1651639"/>
              <a:ext cx="1828164" cy="342265"/>
            </a:xfrm>
            <a:custGeom>
              <a:rect b="b" l="l" r="r" t="t"/>
              <a:pathLst>
                <a:path extrusionOk="0" h="342264" w="1828165">
                  <a:moveTo>
                    <a:pt x="0" y="341989"/>
                  </a:moveTo>
                  <a:lnTo>
                    <a:pt x="1827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95" name="Google Shape;395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96309" y="1008111"/>
              <a:ext cx="328973" cy="250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06629" y="1047770"/>
              <a:ext cx="920358" cy="222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34280" y="1974619"/>
              <a:ext cx="1703140" cy="2257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8" name="Google Shape;398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19550" y="573649"/>
            <a:ext cx="1374427" cy="22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/>
          <p:nvPr>
            <p:ph type="title"/>
          </p:nvPr>
        </p:nvSpPr>
        <p:spPr>
          <a:xfrm>
            <a:off x="301625" y="243286"/>
            <a:ext cx="461010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understand the autograd framework</a:t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604550" y="2304550"/>
            <a:ext cx="6856095" cy="1378585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 u="sng">
                <a:solidFill>
                  <a:srgbClr val="DCDC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r>
              <a:rPr lang="en-US" sz="1050" u="sng">
                <a:solidFill>
                  <a:srgbClr val="DCDC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_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parents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5278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.data = np.array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Store data as NumPy array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52780" marR="59309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.grad = np.zeros_like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Gradient initialized to zero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._parents = 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_parents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Parent nodes in the computation graph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5" name="Google Shape;4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6684" y="1404855"/>
            <a:ext cx="150140" cy="270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" name="Google Shape;406;p19"/>
          <p:cNvGrpSpPr/>
          <p:nvPr/>
        </p:nvGrpSpPr>
        <p:grpSpPr>
          <a:xfrm>
            <a:off x="5348950" y="651979"/>
            <a:ext cx="2676604" cy="1548394"/>
            <a:chOff x="5348950" y="651979"/>
            <a:chExt cx="2676604" cy="1548394"/>
          </a:xfrm>
        </p:grpSpPr>
        <p:sp>
          <p:nvSpPr>
            <p:cNvPr id="407" name="Google Shape;407;p19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5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4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11" name="Google Shape;41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48950" y="962345"/>
              <a:ext cx="150140" cy="147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64884" y="1880750"/>
              <a:ext cx="118271" cy="225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19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287399" y="287399"/>
                  </a:moveTo>
                  <a:lnTo>
                    <a:pt x="0" y="287399"/>
                  </a:lnTo>
                  <a:lnTo>
                    <a:pt x="0" y="0"/>
                  </a:lnTo>
                  <a:lnTo>
                    <a:pt x="287399" y="0"/>
                  </a:lnTo>
                  <a:lnTo>
                    <a:pt x="287399" y="287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19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0" y="0"/>
                  </a:moveTo>
                  <a:lnTo>
                    <a:pt x="287399" y="0"/>
                  </a:lnTo>
                  <a:lnTo>
                    <a:pt x="287399" y="287399"/>
                  </a:lnTo>
                  <a:lnTo>
                    <a:pt x="0" y="287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15" name="Google Shape;415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36707" y="1443562"/>
              <a:ext cx="192796" cy="192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63799" y="1428592"/>
              <a:ext cx="192796" cy="222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00055" y="1377235"/>
              <a:ext cx="325499" cy="325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19"/>
            <p:cNvSpPr/>
            <p:nvPr/>
          </p:nvSpPr>
          <p:spPr>
            <a:xfrm>
              <a:off x="5771723" y="1657050"/>
              <a:ext cx="361950" cy="242570"/>
            </a:xfrm>
            <a:custGeom>
              <a:rect b="b" l="l" r="r" t="t"/>
              <a:pathLst>
                <a:path extrusionOk="0" h="242569" w="361950">
                  <a:moveTo>
                    <a:pt x="0" y="242110"/>
                  </a:moveTo>
                  <a:lnTo>
                    <a:pt x="36170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0" y="10969"/>
                  </a:lnTo>
                  <a:lnTo>
                    <a:pt x="44672" y="0"/>
                  </a:lnTo>
                  <a:lnTo>
                    <a:pt x="17502" y="37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44672" y="0"/>
                  </a:lnTo>
                  <a:lnTo>
                    <a:pt x="0" y="10969"/>
                  </a:lnTo>
                  <a:lnTo>
                    <a:pt x="17502" y="3711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5771723" y="1130855"/>
              <a:ext cx="356235" cy="271145"/>
            </a:xfrm>
            <a:custGeom>
              <a:rect b="b" l="l" r="r" t="t"/>
              <a:pathLst>
                <a:path extrusionOk="0" h="271144" w="356235">
                  <a:moveTo>
                    <a:pt x="0" y="0"/>
                  </a:moveTo>
                  <a:lnTo>
                    <a:pt x="356204" y="2708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43931" y="38685"/>
                  </a:moveTo>
                  <a:lnTo>
                    <a:pt x="0" y="25048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0" y="25048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6756596" y="1539954"/>
              <a:ext cx="889635" cy="6350"/>
            </a:xfrm>
            <a:custGeom>
              <a:rect b="b" l="l" r="r" t="t"/>
              <a:pathLst>
                <a:path extrusionOk="0" h="6350" w="889634">
                  <a:moveTo>
                    <a:pt x="0" y="0"/>
                  </a:moveTo>
                  <a:lnTo>
                    <a:pt x="889051" y="620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219" y="0"/>
                  </a:lnTo>
                  <a:lnTo>
                    <a:pt x="43334" y="16033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43334" y="16033"/>
                  </a:lnTo>
                  <a:lnTo>
                    <a:pt x="219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5810794" y="1651639"/>
              <a:ext cx="1828164" cy="342265"/>
            </a:xfrm>
            <a:custGeom>
              <a:rect b="b" l="l" r="r" t="t"/>
              <a:pathLst>
                <a:path extrusionOk="0" h="342264" w="1828165">
                  <a:moveTo>
                    <a:pt x="0" y="341989"/>
                  </a:moveTo>
                  <a:lnTo>
                    <a:pt x="1827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30" name="Google Shape;430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96309" y="1008111"/>
              <a:ext cx="328973" cy="250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06629" y="1047770"/>
              <a:ext cx="920358" cy="222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67137" y="651979"/>
              <a:ext cx="839536" cy="2031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934280" y="1974619"/>
              <a:ext cx="1703140" cy="2257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4" name="Google Shape;434;p19"/>
          <p:cNvSpPr txBox="1"/>
          <p:nvPr/>
        </p:nvSpPr>
        <p:spPr>
          <a:xfrm>
            <a:off x="685800" y="3832145"/>
            <a:ext cx="4038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Transition 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implement primitives!</a:t>
            </a:r>
            <a:endParaRPr/>
          </a:p>
        </p:txBody>
      </p:sp>
      <p:sp>
        <p:nvSpPr>
          <p:cNvPr id="440" name="Google Shape;440;p20"/>
          <p:cNvSpPr txBox="1"/>
          <p:nvPr/>
        </p:nvSpPr>
        <p:spPr>
          <a:xfrm>
            <a:off x="561574" y="1309628"/>
            <a:ext cx="5006340" cy="240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675" lvl="0" marL="3327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Reminder: autograd works with a graph to incrementally perform backward operations.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We need to implement operation primitives to facilitate this.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3327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Examples: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Addition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Multiplication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Matrix Multiplication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Subtraction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Log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Exponential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Division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1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Addition</a:t>
            </a:r>
            <a:endParaRPr/>
          </a:p>
        </p:txBody>
      </p:sp>
      <p:pic>
        <p:nvPicPr>
          <p:cNvPr id="446" name="Google Shape;4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2488" y="3887610"/>
            <a:ext cx="163928" cy="31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4228" y="3260897"/>
            <a:ext cx="267223" cy="30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125" y="1247237"/>
            <a:ext cx="1545741" cy="312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21"/>
          <p:cNvGrpSpPr/>
          <p:nvPr/>
        </p:nvGrpSpPr>
        <p:grpSpPr>
          <a:xfrm>
            <a:off x="2610402" y="2531986"/>
            <a:ext cx="2093275" cy="1926164"/>
            <a:chOff x="2610402" y="2531986"/>
            <a:chExt cx="2093275" cy="1926164"/>
          </a:xfrm>
        </p:grpSpPr>
        <p:sp>
          <p:nvSpPr>
            <p:cNvPr id="450" name="Google Shape;450;p21"/>
            <p:cNvSpPr/>
            <p:nvPr/>
          </p:nvSpPr>
          <p:spPr>
            <a:xfrm>
              <a:off x="2880150" y="2531986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185249" y="370499"/>
                  </a:move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2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21559" y="3592"/>
                  </a:lnTo>
                  <a:lnTo>
                    <a:pt x="288027" y="31124"/>
                  </a:lnTo>
                  <a:lnTo>
                    <a:pt x="339376" y="82473"/>
                  </a:lnTo>
                  <a:lnTo>
                    <a:pt x="366907" y="148940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2880150" y="2531986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0" y="185249"/>
                  </a:move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2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56142" y="14101"/>
                  </a:lnTo>
                  <a:lnTo>
                    <a:pt x="316241" y="54258"/>
                  </a:lnTo>
                  <a:lnTo>
                    <a:pt x="356398" y="114357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2880150" y="3858871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185249" y="370499"/>
                  </a:move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1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21559" y="3592"/>
                  </a:lnTo>
                  <a:lnTo>
                    <a:pt x="288027" y="31124"/>
                  </a:lnTo>
                  <a:lnTo>
                    <a:pt x="339376" y="82473"/>
                  </a:lnTo>
                  <a:lnTo>
                    <a:pt x="366907" y="148940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2880150" y="3858871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0" y="185249"/>
                  </a:move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1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56142" y="14101"/>
                  </a:lnTo>
                  <a:lnTo>
                    <a:pt x="316241" y="54258"/>
                  </a:lnTo>
                  <a:lnTo>
                    <a:pt x="356398" y="114358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54" name="Google Shape;45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10402" y="2614657"/>
              <a:ext cx="208100" cy="2050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21"/>
            <p:cNvSpPr/>
            <p:nvPr/>
          </p:nvSpPr>
          <p:spPr>
            <a:xfrm>
              <a:off x="3775330" y="3216110"/>
              <a:ext cx="398780" cy="398780"/>
            </a:xfrm>
            <a:custGeom>
              <a:rect b="b" l="l" r="r" t="t"/>
              <a:pathLst>
                <a:path extrusionOk="0" h="398779" w="398779">
                  <a:moveTo>
                    <a:pt x="398399" y="398400"/>
                  </a:moveTo>
                  <a:lnTo>
                    <a:pt x="0" y="398400"/>
                  </a:lnTo>
                  <a:lnTo>
                    <a:pt x="0" y="0"/>
                  </a:lnTo>
                  <a:lnTo>
                    <a:pt x="398399" y="0"/>
                  </a:lnTo>
                  <a:lnTo>
                    <a:pt x="398399" y="3984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3775330" y="3216110"/>
              <a:ext cx="398780" cy="398780"/>
            </a:xfrm>
            <a:custGeom>
              <a:rect b="b" l="l" r="r" t="t"/>
              <a:pathLst>
                <a:path extrusionOk="0" h="398779" w="398779">
                  <a:moveTo>
                    <a:pt x="0" y="0"/>
                  </a:moveTo>
                  <a:lnTo>
                    <a:pt x="398399" y="0"/>
                  </a:lnTo>
                  <a:lnTo>
                    <a:pt x="398399" y="398400"/>
                  </a:lnTo>
                  <a:lnTo>
                    <a:pt x="0" y="398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57" name="Google Shape;457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840866" y="3281646"/>
              <a:ext cx="267223" cy="267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21"/>
            <p:cNvSpPr/>
            <p:nvPr/>
          </p:nvSpPr>
          <p:spPr>
            <a:xfrm>
              <a:off x="3196392" y="3565406"/>
              <a:ext cx="520065" cy="347980"/>
            </a:xfrm>
            <a:custGeom>
              <a:rect b="b" l="l" r="r" t="t"/>
              <a:pathLst>
                <a:path extrusionOk="0" h="347979" w="520064">
                  <a:moveTo>
                    <a:pt x="0" y="347723"/>
                  </a:moveTo>
                  <a:lnTo>
                    <a:pt x="51979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3707443" y="3541372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5" y="37110"/>
                  </a:moveTo>
                  <a:lnTo>
                    <a:pt x="0" y="10957"/>
                  </a:lnTo>
                  <a:lnTo>
                    <a:pt x="44675" y="0"/>
                  </a:lnTo>
                  <a:lnTo>
                    <a:pt x="17495" y="37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3707443" y="3541372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5" y="37110"/>
                  </a:moveTo>
                  <a:lnTo>
                    <a:pt x="44675" y="0"/>
                  </a:lnTo>
                  <a:lnTo>
                    <a:pt x="0" y="10957"/>
                  </a:lnTo>
                  <a:lnTo>
                    <a:pt x="17495" y="3711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3196392" y="2848227"/>
              <a:ext cx="511175" cy="389255"/>
            </a:xfrm>
            <a:custGeom>
              <a:rect b="b" l="l" r="r" t="t"/>
              <a:pathLst>
                <a:path extrusionOk="0" h="389255" w="511175">
                  <a:moveTo>
                    <a:pt x="0" y="0"/>
                  </a:moveTo>
                  <a:lnTo>
                    <a:pt x="511013" y="3887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3697880" y="322440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28" y="38691"/>
                  </a:moveTo>
                  <a:lnTo>
                    <a:pt x="0" y="25043"/>
                  </a:lnTo>
                  <a:lnTo>
                    <a:pt x="19049" y="0"/>
                  </a:lnTo>
                  <a:lnTo>
                    <a:pt x="43928" y="38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3697880" y="322440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3"/>
                  </a:moveTo>
                  <a:lnTo>
                    <a:pt x="43928" y="38691"/>
                  </a:lnTo>
                  <a:lnTo>
                    <a:pt x="19049" y="0"/>
                  </a:lnTo>
                  <a:lnTo>
                    <a:pt x="0" y="25043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64" name="Google Shape;464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21725" y="3977825"/>
              <a:ext cx="227095" cy="47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43600" y="3981150"/>
              <a:ext cx="960077" cy="477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6" name="Google Shape;46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73025" y="1743220"/>
            <a:ext cx="252924" cy="48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07737" y="1751504"/>
            <a:ext cx="981417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1575" y="3039875"/>
            <a:ext cx="848681" cy="48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99425" y="1918925"/>
            <a:ext cx="714774" cy="14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21575" y="4148575"/>
            <a:ext cx="714774" cy="14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Addition</a:t>
            </a:r>
            <a:endParaRPr/>
          </a:p>
        </p:txBody>
      </p:sp>
      <p:sp>
        <p:nvSpPr>
          <p:cNvPr id="476" name="Google Shape;476;p22"/>
          <p:cNvSpPr txBox="1"/>
          <p:nvPr>
            <p:ph idx="1" type="body"/>
          </p:nvPr>
        </p:nvSpPr>
        <p:spPr>
          <a:xfrm>
            <a:off x="360574" y="996429"/>
            <a:ext cx="5116195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lang="en-US"/>
              <a:t>Addition primitive function:</a:t>
            </a:r>
            <a:endParaRPr/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Create a new </a:t>
            </a:r>
            <a:r>
              <a:rPr b="1" lang="en-US" sz="1200">
                <a:latin typeface="Tahoma"/>
                <a:ea typeface="Tahoma"/>
                <a:cs typeface="Tahoma"/>
                <a:sym typeface="Tahoma"/>
              </a:rPr>
              <a:t>out node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Add the data from the input nodes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Keep track of parents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Deﬁne a backward function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675" lvl="2" marL="12471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Manipulate the input nodes’ gradients from within the function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Set the node’s backward function to track it.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77" name="Google Shape;4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842" y="1968741"/>
            <a:ext cx="185126" cy="213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3426" y="917325"/>
            <a:ext cx="175221" cy="336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1177" y="1815621"/>
            <a:ext cx="587949" cy="336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9608" y="1039049"/>
            <a:ext cx="495181" cy="984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22"/>
          <p:cNvGrpSpPr/>
          <p:nvPr/>
        </p:nvGrpSpPr>
        <p:grpSpPr>
          <a:xfrm>
            <a:off x="5829320" y="1463766"/>
            <a:ext cx="1265038" cy="1332105"/>
            <a:chOff x="5829320" y="1463766"/>
            <a:chExt cx="1265038" cy="1332105"/>
          </a:xfrm>
        </p:grpSpPr>
        <p:sp>
          <p:nvSpPr>
            <p:cNvPr id="482" name="Google Shape;482;p22"/>
            <p:cNvSpPr/>
            <p:nvPr/>
          </p:nvSpPr>
          <p:spPr>
            <a:xfrm>
              <a:off x="6016197" y="1463766"/>
              <a:ext cx="257175" cy="257175"/>
            </a:xfrm>
            <a:custGeom>
              <a:rect b="b" l="l" r="r" t="t"/>
              <a:pathLst>
                <a:path extrusionOk="0" h="257175" w="257175">
                  <a:moveTo>
                    <a:pt x="128399" y="256799"/>
                  </a:moveTo>
                  <a:lnTo>
                    <a:pt x="78420" y="246709"/>
                  </a:lnTo>
                  <a:lnTo>
                    <a:pt x="37607" y="219192"/>
                  </a:lnTo>
                  <a:lnTo>
                    <a:pt x="10090" y="178379"/>
                  </a:lnTo>
                  <a:lnTo>
                    <a:pt x="0" y="128399"/>
                  </a:lnTo>
                  <a:lnTo>
                    <a:pt x="10090" y="78420"/>
                  </a:lnTo>
                  <a:lnTo>
                    <a:pt x="37607" y="37607"/>
                  </a:lnTo>
                  <a:lnTo>
                    <a:pt x="78420" y="10090"/>
                  </a:lnTo>
                  <a:lnTo>
                    <a:pt x="128399" y="0"/>
                  </a:lnTo>
                  <a:lnTo>
                    <a:pt x="153566" y="2489"/>
                  </a:lnTo>
                  <a:lnTo>
                    <a:pt x="199636" y="21572"/>
                  </a:lnTo>
                  <a:lnTo>
                    <a:pt x="235227" y="57163"/>
                  </a:lnTo>
                  <a:lnTo>
                    <a:pt x="254310" y="103233"/>
                  </a:lnTo>
                  <a:lnTo>
                    <a:pt x="256799" y="128399"/>
                  </a:lnTo>
                  <a:lnTo>
                    <a:pt x="246709" y="178379"/>
                  </a:lnTo>
                  <a:lnTo>
                    <a:pt x="219192" y="219192"/>
                  </a:lnTo>
                  <a:lnTo>
                    <a:pt x="178379" y="246709"/>
                  </a:lnTo>
                  <a:lnTo>
                    <a:pt x="128399" y="2567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22"/>
            <p:cNvSpPr/>
            <p:nvPr/>
          </p:nvSpPr>
          <p:spPr>
            <a:xfrm>
              <a:off x="6016197" y="1463766"/>
              <a:ext cx="257175" cy="257175"/>
            </a:xfrm>
            <a:custGeom>
              <a:rect b="b" l="l" r="r" t="t"/>
              <a:pathLst>
                <a:path extrusionOk="0" h="257175" w="257175">
                  <a:moveTo>
                    <a:pt x="0" y="128399"/>
                  </a:moveTo>
                  <a:lnTo>
                    <a:pt x="10090" y="78420"/>
                  </a:lnTo>
                  <a:lnTo>
                    <a:pt x="37607" y="37607"/>
                  </a:lnTo>
                  <a:lnTo>
                    <a:pt x="78420" y="10090"/>
                  </a:lnTo>
                  <a:lnTo>
                    <a:pt x="128399" y="0"/>
                  </a:lnTo>
                  <a:lnTo>
                    <a:pt x="177536" y="9773"/>
                  </a:lnTo>
                  <a:lnTo>
                    <a:pt x="219192" y="37607"/>
                  </a:lnTo>
                  <a:lnTo>
                    <a:pt x="247026" y="79263"/>
                  </a:lnTo>
                  <a:lnTo>
                    <a:pt x="256799" y="128399"/>
                  </a:lnTo>
                  <a:lnTo>
                    <a:pt x="246709" y="178379"/>
                  </a:lnTo>
                  <a:lnTo>
                    <a:pt x="219192" y="219192"/>
                  </a:lnTo>
                  <a:lnTo>
                    <a:pt x="178379" y="246709"/>
                  </a:lnTo>
                  <a:lnTo>
                    <a:pt x="128399" y="256799"/>
                  </a:lnTo>
                  <a:lnTo>
                    <a:pt x="78420" y="246709"/>
                  </a:lnTo>
                  <a:lnTo>
                    <a:pt x="37607" y="219192"/>
                  </a:lnTo>
                  <a:lnTo>
                    <a:pt x="10090" y="178379"/>
                  </a:lnTo>
                  <a:lnTo>
                    <a:pt x="0" y="1283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6016197" y="2383005"/>
              <a:ext cx="257175" cy="257175"/>
            </a:xfrm>
            <a:custGeom>
              <a:rect b="b" l="l" r="r" t="t"/>
              <a:pathLst>
                <a:path extrusionOk="0" h="257175" w="257175">
                  <a:moveTo>
                    <a:pt x="128399" y="256799"/>
                  </a:moveTo>
                  <a:lnTo>
                    <a:pt x="78420" y="246709"/>
                  </a:lnTo>
                  <a:lnTo>
                    <a:pt x="37607" y="219192"/>
                  </a:lnTo>
                  <a:lnTo>
                    <a:pt x="10090" y="178379"/>
                  </a:lnTo>
                  <a:lnTo>
                    <a:pt x="0" y="128399"/>
                  </a:lnTo>
                  <a:lnTo>
                    <a:pt x="10090" y="78420"/>
                  </a:lnTo>
                  <a:lnTo>
                    <a:pt x="37607" y="37607"/>
                  </a:lnTo>
                  <a:lnTo>
                    <a:pt x="78420" y="10090"/>
                  </a:lnTo>
                  <a:lnTo>
                    <a:pt x="128399" y="0"/>
                  </a:lnTo>
                  <a:lnTo>
                    <a:pt x="153566" y="2489"/>
                  </a:lnTo>
                  <a:lnTo>
                    <a:pt x="199636" y="21572"/>
                  </a:lnTo>
                  <a:lnTo>
                    <a:pt x="235227" y="57163"/>
                  </a:lnTo>
                  <a:lnTo>
                    <a:pt x="254310" y="103233"/>
                  </a:lnTo>
                  <a:lnTo>
                    <a:pt x="256799" y="128399"/>
                  </a:lnTo>
                  <a:lnTo>
                    <a:pt x="246709" y="178379"/>
                  </a:lnTo>
                  <a:lnTo>
                    <a:pt x="219192" y="219192"/>
                  </a:lnTo>
                  <a:lnTo>
                    <a:pt x="178379" y="246709"/>
                  </a:lnTo>
                  <a:lnTo>
                    <a:pt x="128399" y="2567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5" name="Google Shape;485;p22"/>
            <p:cNvSpPr/>
            <p:nvPr/>
          </p:nvSpPr>
          <p:spPr>
            <a:xfrm>
              <a:off x="6016197" y="2383005"/>
              <a:ext cx="257175" cy="257175"/>
            </a:xfrm>
            <a:custGeom>
              <a:rect b="b" l="l" r="r" t="t"/>
              <a:pathLst>
                <a:path extrusionOk="0" h="257175" w="257175">
                  <a:moveTo>
                    <a:pt x="0" y="128399"/>
                  </a:moveTo>
                  <a:lnTo>
                    <a:pt x="10090" y="78420"/>
                  </a:lnTo>
                  <a:lnTo>
                    <a:pt x="37607" y="37607"/>
                  </a:lnTo>
                  <a:lnTo>
                    <a:pt x="78420" y="10090"/>
                  </a:lnTo>
                  <a:lnTo>
                    <a:pt x="128399" y="0"/>
                  </a:lnTo>
                  <a:lnTo>
                    <a:pt x="177536" y="9773"/>
                  </a:lnTo>
                  <a:lnTo>
                    <a:pt x="219192" y="37607"/>
                  </a:lnTo>
                  <a:lnTo>
                    <a:pt x="247026" y="79263"/>
                  </a:lnTo>
                  <a:lnTo>
                    <a:pt x="256799" y="128399"/>
                  </a:lnTo>
                  <a:lnTo>
                    <a:pt x="246709" y="178379"/>
                  </a:lnTo>
                  <a:lnTo>
                    <a:pt x="219192" y="219192"/>
                  </a:lnTo>
                  <a:lnTo>
                    <a:pt x="178379" y="246709"/>
                  </a:lnTo>
                  <a:lnTo>
                    <a:pt x="128399" y="256799"/>
                  </a:lnTo>
                  <a:lnTo>
                    <a:pt x="78420" y="246709"/>
                  </a:lnTo>
                  <a:lnTo>
                    <a:pt x="37607" y="219192"/>
                  </a:lnTo>
                  <a:lnTo>
                    <a:pt x="10090" y="178379"/>
                  </a:lnTo>
                  <a:lnTo>
                    <a:pt x="0" y="1283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86" name="Google Shape;486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29320" y="1521038"/>
              <a:ext cx="144167" cy="14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844621" y="2402916"/>
              <a:ext cx="113566" cy="216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22"/>
            <p:cNvSpPr/>
            <p:nvPr/>
          </p:nvSpPr>
          <p:spPr>
            <a:xfrm>
              <a:off x="6636359" y="1937714"/>
              <a:ext cx="276225" cy="276225"/>
            </a:xfrm>
            <a:custGeom>
              <a:rect b="b" l="l" r="r" t="t"/>
              <a:pathLst>
                <a:path extrusionOk="0" h="276225" w="276225">
                  <a:moveTo>
                    <a:pt x="275999" y="275999"/>
                  </a:moveTo>
                  <a:lnTo>
                    <a:pt x="0" y="275999"/>
                  </a:lnTo>
                  <a:lnTo>
                    <a:pt x="0" y="0"/>
                  </a:lnTo>
                  <a:lnTo>
                    <a:pt x="275999" y="0"/>
                  </a:lnTo>
                  <a:lnTo>
                    <a:pt x="275999" y="2759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9" name="Google Shape;489;p22"/>
            <p:cNvSpPr/>
            <p:nvPr/>
          </p:nvSpPr>
          <p:spPr>
            <a:xfrm>
              <a:off x="6636359" y="1937714"/>
              <a:ext cx="276225" cy="276225"/>
            </a:xfrm>
            <a:custGeom>
              <a:rect b="b" l="l" r="r" t="t"/>
              <a:pathLst>
                <a:path extrusionOk="0" h="276225" w="276225">
                  <a:moveTo>
                    <a:pt x="0" y="0"/>
                  </a:moveTo>
                  <a:lnTo>
                    <a:pt x="275999" y="0"/>
                  </a:lnTo>
                  <a:lnTo>
                    <a:pt x="275999" y="275999"/>
                  </a:lnTo>
                  <a:lnTo>
                    <a:pt x="0" y="2759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90" name="Google Shape;490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681761" y="1983115"/>
              <a:ext cx="185127" cy="185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22"/>
            <p:cNvSpPr/>
            <p:nvPr/>
          </p:nvSpPr>
          <p:spPr>
            <a:xfrm>
              <a:off x="6235389" y="2189581"/>
              <a:ext cx="346075" cy="231140"/>
            </a:xfrm>
            <a:custGeom>
              <a:rect b="b" l="l" r="r" t="t"/>
              <a:pathLst>
                <a:path extrusionOk="0" h="231139" w="346075">
                  <a:moveTo>
                    <a:pt x="0" y="231032"/>
                  </a:moveTo>
                  <a:lnTo>
                    <a:pt x="34549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6572137" y="2165554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0" y="37105"/>
                  </a:moveTo>
                  <a:lnTo>
                    <a:pt x="0" y="10949"/>
                  </a:lnTo>
                  <a:lnTo>
                    <a:pt x="44677" y="0"/>
                  </a:lnTo>
                  <a:lnTo>
                    <a:pt x="17490" y="371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22"/>
            <p:cNvSpPr/>
            <p:nvPr/>
          </p:nvSpPr>
          <p:spPr>
            <a:xfrm>
              <a:off x="6572137" y="2165554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0" y="37105"/>
                  </a:moveTo>
                  <a:lnTo>
                    <a:pt x="44677" y="0"/>
                  </a:lnTo>
                  <a:lnTo>
                    <a:pt x="0" y="10949"/>
                  </a:lnTo>
                  <a:lnTo>
                    <a:pt x="17490" y="3710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22"/>
            <p:cNvSpPr/>
            <p:nvPr/>
          </p:nvSpPr>
          <p:spPr>
            <a:xfrm>
              <a:off x="6235389" y="1682958"/>
              <a:ext cx="340360" cy="259079"/>
            </a:xfrm>
            <a:custGeom>
              <a:rect b="b" l="l" r="r" t="t"/>
              <a:pathLst>
                <a:path extrusionOk="0" h="259080" w="340359">
                  <a:moveTo>
                    <a:pt x="0" y="0"/>
                  </a:moveTo>
                  <a:lnTo>
                    <a:pt x="340023" y="25878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6565884" y="1929227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24" y="38698"/>
                  </a:moveTo>
                  <a:lnTo>
                    <a:pt x="0" y="25038"/>
                  </a:lnTo>
                  <a:lnTo>
                    <a:pt x="19056" y="0"/>
                  </a:lnTo>
                  <a:lnTo>
                    <a:pt x="43924" y="386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6565884" y="1929227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38"/>
                  </a:moveTo>
                  <a:lnTo>
                    <a:pt x="43924" y="38698"/>
                  </a:lnTo>
                  <a:lnTo>
                    <a:pt x="19056" y="0"/>
                  </a:lnTo>
                  <a:lnTo>
                    <a:pt x="0" y="2503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97" name="Google Shape;497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91389" y="2465415"/>
              <a:ext cx="157327" cy="330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99177" y="2583707"/>
              <a:ext cx="495181" cy="984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3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Addition</a:t>
            </a:r>
            <a:endParaRPr/>
          </a:p>
        </p:txBody>
      </p:sp>
      <p:sp>
        <p:nvSpPr>
          <p:cNvPr id="504" name="Google Shape;504;p23"/>
          <p:cNvSpPr txBox="1"/>
          <p:nvPr/>
        </p:nvSpPr>
        <p:spPr>
          <a:xfrm>
            <a:off x="604550" y="2304550"/>
            <a:ext cx="6856095" cy="1778635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add_node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32740" marR="211328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 = 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a_node.data + b_node.data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add_backward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52780" marR="299339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a_node.grad += out.grad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dL/dA = dL/dC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b_node.grad += out.grad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dL/dB = dL/dC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32740" marR="3953509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out.backward_fn = add_backward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05" name="Google Shape;5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6684" y="1404855"/>
            <a:ext cx="150140" cy="270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23"/>
          <p:cNvGrpSpPr/>
          <p:nvPr/>
        </p:nvGrpSpPr>
        <p:grpSpPr>
          <a:xfrm>
            <a:off x="5348950" y="651979"/>
            <a:ext cx="2676604" cy="1548394"/>
            <a:chOff x="5348950" y="651979"/>
            <a:chExt cx="2676604" cy="1548394"/>
          </a:xfrm>
        </p:grpSpPr>
        <p:sp>
          <p:nvSpPr>
            <p:cNvPr id="507" name="Google Shape;507;p23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5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4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11" name="Google Shape;51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48950" y="962345"/>
              <a:ext cx="150140" cy="147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64884" y="1880750"/>
              <a:ext cx="118271" cy="225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23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287399" y="287399"/>
                  </a:moveTo>
                  <a:lnTo>
                    <a:pt x="0" y="287399"/>
                  </a:lnTo>
                  <a:lnTo>
                    <a:pt x="0" y="0"/>
                  </a:lnTo>
                  <a:lnTo>
                    <a:pt x="287399" y="0"/>
                  </a:lnTo>
                  <a:lnTo>
                    <a:pt x="287399" y="287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23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0" y="0"/>
                  </a:moveTo>
                  <a:lnTo>
                    <a:pt x="287399" y="0"/>
                  </a:lnTo>
                  <a:lnTo>
                    <a:pt x="287399" y="287399"/>
                  </a:lnTo>
                  <a:lnTo>
                    <a:pt x="0" y="287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15" name="Google Shape;515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36707" y="1443562"/>
              <a:ext cx="192796" cy="192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6" name="Google Shape;516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63799" y="1428592"/>
              <a:ext cx="192796" cy="222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00055" y="1377235"/>
              <a:ext cx="325499" cy="325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23"/>
            <p:cNvSpPr/>
            <p:nvPr/>
          </p:nvSpPr>
          <p:spPr>
            <a:xfrm>
              <a:off x="5771723" y="1657050"/>
              <a:ext cx="361950" cy="242570"/>
            </a:xfrm>
            <a:custGeom>
              <a:rect b="b" l="l" r="r" t="t"/>
              <a:pathLst>
                <a:path extrusionOk="0" h="242569" w="361950">
                  <a:moveTo>
                    <a:pt x="0" y="242110"/>
                  </a:moveTo>
                  <a:lnTo>
                    <a:pt x="36170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23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0" y="10969"/>
                  </a:lnTo>
                  <a:lnTo>
                    <a:pt x="44672" y="0"/>
                  </a:lnTo>
                  <a:lnTo>
                    <a:pt x="17502" y="37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23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44672" y="0"/>
                  </a:lnTo>
                  <a:lnTo>
                    <a:pt x="0" y="10969"/>
                  </a:lnTo>
                  <a:lnTo>
                    <a:pt x="17502" y="3711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23"/>
            <p:cNvSpPr/>
            <p:nvPr/>
          </p:nvSpPr>
          <p:spPr>
            <a:xfrm>
              <a:off x="5771723" y="1130855"/>
              <a:ext cx="356235" cy="271145"/>
            </a:xfrm>
            <a:custGeom>
              <a:rect b="b" l="l" r="r" t="t"/>
              <a:pathLst>
                <a:path extrusionOk="0" h="271144" w="356235">
                  <a:moveTo>
                    <a:pt x="0" y="0"/>
                  </a:moveTo>
                  <a:lnTo>
                    <a:pt x="356204" y="2708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23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43931" y="38685"/>
                  </a:moveTo>
                  <a:lnTo>
                    <a:pt x="0" y="25048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0" y="25048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6756596" y="1539954"/>
              <a:ext cx="889635" cy="6350"/>
            </a:xfrm>
            <a:custGeom>
              <a:rect b="b" l="l" r="r" t="t"/>
              <a:pathLst>
                <a:path extrusionOk="0" h="6350" w="889634">
                  <a:moveTo>
                    <a:pt x="0" y="0"/>
                  </a:moveTo>
                  <a:lnTo>
                    <a:pt x="889051" y="620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23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219" y="0"/>
                  </a:lnTo>
                  <a:lnTo>
                    <a:pt x="43334" y="16033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43334" y="16033"/>
                  </a:lnTo>
                  <a:lnTo>
                    <a:pt x="219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23"/>
            <p:cNvSpPr/>
            <p:nvPr/>
          </p:nvSpPr>
          <p:spPr>
            <a:xfrm>
              <a:off x="5810794" y="1651639"/>
              <a:ext cx="1828164" cy="342265"/>
            </a:xfrm>
            <a:custGeom>
              <a:rect b="b" l="l" r="r" t="t"/>
              <a:pathLst>
                <a:path extrusionOk="0" h="342264" w="1828165">
                  <a:moveTo>
                    <a:pt x="0" y="341989"/>
                  </a:moveTo>
                  <a:lnTo>
                    <a:pt x="1827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23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30" name="Google Shape;530;p2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96309" y="1008111"/>
              <a:ext cx="328973" cy="250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06629" y="1047770"/>
              <a:ext cx="920358" cy="222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2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67137" y="651979"/>
              <a:ext cx="839536" cy="2031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2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934280" y="1974619"/>
              <a:ext cx="1703140" cy="2257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4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Multiplication</a:t>
            </a:r>
            <a:endParaRPr/>
          </a:p>
        </p:txBody>
      </p:sp>
      <p:pic>
        <p:nvPicPr>
          <p:cNvPr id="539" name="Google Shape;5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2488" y="3887610"/>
            <a:ext cx="163928" cy="31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4228" y="3260897"/>
            <a:ext cx="267223" cy="3087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1" name="Google Shape;541;p24"/>
          <p:cNvGrpSpPr/>
          <p:nvPr/>
        </p:nvGrpSpPr>
        <p:grpSpPr>
          <a:xfrm>
            <a:off x="2610402" y="2531986"/>
            <a:ext cx="2093275" cy="1926164"/>
            <a:chOff x="2610402" y="2531986"/>
            <a:chExt cx="2093275" cy="1926164"/>
          </a:xfrm>
        </p:grpSpPr>
        <p:sp>
          <p:nvSpPr>
            <p:cNvPr id="542" name="Google Shape;542;p24"/>
            <p:cNvSpPr/>
            <p:nvPr/>
          </p:nvSpPr>
          <p:spPr>
            <a:xfrm>
              <a:off x="2880150" y="2531986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185249" y="370499"/>
                  </a:move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2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21559" y="3592"/>
                  </a:lnTo>
                  <a:lnTo>
                    <a:pt x="288027" y="31124"/>
                  </a:lnTo>
                  <a:lnTo>
                    <a:pt x="339376" y="82473"/>
                  </a:lnTo>
                  <a:lnTo>
                    <a:pt x="366907" y="148940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2880150" y="2531986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0" y="185249"/>
                  </a:move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2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56142" y="14101"/>
                  </a:lnTo>
                  <a:lnTo>
                    <a:pt x="316241" y="54258"/>
                  </a:lnTo>
                  <a:lnTo>
                    <a:pt x="356398" y="114357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2880150" y="3858871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185249" y="370499"/>
                  </a:move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1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21559" y="3592"/>
                  </a:lnTo>
                  <a:lnTo>
                    <a:pt x="288027" y="31124"/>
                  </a:lnTo>
                  <a:lnTo>
                    <a:pt x="339376" y="82473"/>
                  </a:lnTo>
                  <a:lnTo>
                    <a:pt x="366907" y="148940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2880150" y="3858871"/>
              <a:ext cx="370840" cy="370840"/>
            </a:xfrm>
            <a:custGeom>
              <a:rect b="b" l="l" r="r" t="t"/>
              <a:pathLst>
                <a:path extrusionOk="0" h="370839" w="370839">
                  <a:moveTo>
                    <a:pt x="0" y="185249"/>
                  </a:moveTo>
                  <a:lnTo>
                    <a:pt x="6617" y="136003"/>
                  </a:lnTo>
                  <a:lnTo>
                    <a:pt x="25292" y="91750"/>
                  </a:lnTo>
                  <a:lnTo>
                    <a:pt x="54258" y="54258"/>
                  </a:lnTo>
                  <a:lnTo>
                    <a:pt x="91750" y="25291"/>
                  </a:lnTo>
                  <a:lnTo>
                    <a:pt x="136003" y="6617"/>
                  </a:lnTo>
                  <a:lnTo>
                    <a:pt x="185249" y="0"/>
                  </a:lnTo>
                  <a:lnTo>
                    <a:pt x="256142" y="14101"/>
                  </a:lnTo>
                  <a:lnTo>
                    <a:pt x="316241" y="54258"/>
                  </a:lnTo>
                  <a:lnTo>
                    <a:pt x="356398" y="114358"/>
                  </a:lnTo>
                  <a:lnTo>
                    <a:pt x="370499" y="185249"/>
                  </a:lnTo>
                  <a:lnTo>
                    <a:pt x="363882" y="234496"/>
                  </a:lnTo>
                  <a:lnTo>
                    <a:pt x="345207" y="278749"/>
                  </a:lnTo>
                  <a:lnTo>
                    <a:pt x="316241" y="316241"/>
                  </a:lnTo>
                  <a:lnTo>
                    <a:pt x="278749" y="345207"/>
                  </a:lnTo>
                  <a:lnTo>
                    <a:pt x="234496" y="363882"/>
                  </a:lnTo>
                  <a:lnTo>
                    <a:pt x="185249" y="370499"/>
                  </a:lnTo>
                  <a:lnTo>
                    <a:pt x="136003" y="363882"/>
                  </a:lnTo>
                  <a:lnTo>
                    <a:pt x="91750" y="345207"/>
                  </a:lnTo>
                  <a:lnTo>
                    <a:pt x="54258" y="316241"/>
                  </a:lnTo>
                  <a:lnTo>
                    <a:pt x="25292" y="278749"/>
                  </a:lnTo>
                  <a:lnTo>
                    <a:pt x="6617" y="234496"/>
                  </a:lnTo>
                  <a:lnTo>
                    <a:pt x="0" y="1852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46" name="Google Shape;546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10402" y="2614657"/>
              <a:ext cx="208100" cy="205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7" name="Google Shape;547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56280" y="3197060"/>
              <a:ext cx="436499" cy="436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24"/>
            <p:cNvSpPr/>
            <p:nvPr/>
          </p:nvSpPr>
          <p:spPr>
            <a:xfrm>
              <a:off x="3196392" y="3565406"/>
              <a:ext cx="520065" cy="347980"/>
            </a:xfrm>
            <a:custGeom>
              <a:rect b="b" l="l" r="r" t="t"/>
              <a:pathLst>
                <a:path extrusionOk="0" h="347979" w="520064">
                  <a:moveTo>
                    <a:pt x="0" y="347723"/>
                  </a:moveTo>
                  <a:lnTo>
                    <a:pt x="51979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3707443" y="3541372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5" y="37110"/>
                  </a:moveTo>
                  <a:lnTo>
                    <a:pt x="0" y="10957"/>
                  </a:lnTo>
                  <a:lnTo>
                    <a:pt x="44675" y="0"/>
                  </a:lnTo>
                  <a:lnTo>
                    <a:pt x="17495" y="37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3707443" y="3541372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5" y="37110"/>
                  </a:moveTo>
                  <a:lnTo>
                    <a:pt x="44675" y="0"/>
                  </a:lnTo>
                  <a:lnTo>
                    <a:pt x="0" y="10957"/>
                  </a:lnTo>
                  <a:lnTo>
                    <a:pt x="17495" y="3711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3196392" y="2848227"/>
              <a:ext cx="511175" cy="389255"/>
            </a:xfrm>
            <a:custGeom>
              <a:rect b="b" l="l" r="r" t="t"/>
              <a:pathLst>
                <a:path extrusionOk="0" h="389255" w="511175">
                  <a:moveTo>
                    <a:pt x="0" y="0"/>
                  </a:moveTo>
                  <a:lnTo>
                    <a:pt x="511013" y="3887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3697880" y="322440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28" y="38691"/>
                  </a:moveTo>
                  <a:lnTo>
                    <a:pt x="0" y="25043"/>
                  </a:lnTo>
                  <a:lnTo>
                    <a:pt x="19049" y="0"/>
                  </a:lnTo>
                  <a:lnTo>
                    <a:pt x="43928" y="38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3697880" y="322440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3"/>
                  </a:moveTo>
                  <a:lnTo>
                    <a:pt x="43928" y="38691"/>
                  </a:lnTo>
                  <a:lnTo>
                    <a:pt x="19049" y="0"/>
                  </a:lnTo>
                  <a:lnTo>
                    <a:pt x="0" y="25043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54" name="Google Shape;554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21725" y="3977825"/>
              <a:ext cx="227095" cy="47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5" name="Google Shape;555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743600" y="3981150"/>
              <a:ext cx="960077" cy="477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6" name="Google Shape;55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73025" y="1743220"/>
            <a:ext cx="252924" cy="48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07737" y="1751504"/>
            <a:ext cx="981417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21575" y="3039875"/>
            <a:ext cx="848681" cy="48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7125" y="1247266"/>
            <a:ext cx="848674" cy="22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99425" y="1918924"/>
            <a:ext cx="814850" cy="1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21575" y="4148575"/>
            <a:ext cx="706749" cy="13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5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Multiplication</a:t>
            </a:r>
            <a:endParaRPr/>
          </a:p>
        </p:txBody>
      </p:sp>
      <p:sp>
        <p:nvSpPr>
          <p:cNvPr id="567" name="Google Shape;567;p25"/>
          <p:cNvSpPr txBox="1"/>
          <p:nvPr>
            <p:ph idx="1" type="body"/>
          </p:nvPr>
        </p:nvSpPr>
        <p:spPr>
          <a:xfrm>
            <a:off x="360574" y="996429"/>
            <a:ext cx="5116195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004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lang="en-US"/>
              <a:t>Addition primitive function:</a:t>
            </a:r>
            <a:endParaRPr/>
          </a:p>
          <a:p>
            <a:pPr indent="-320040" lvl="1" marL="789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Create a new </a:t>
            </a:r>
            <a:r>
              <a:rPr b="1" lang="en-US" sz="1200">
                <a:latin typeface="Tahoma"/>
                <a:ea typeface="Tahoma"/>
                <a:cs typeface="Tahoma"/>
                <a:sym typeface="Tahoma"/>
              </a:rPr>
              <a:t>out node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i="1" lang="en-US" sz="1200">
                <a:latin typeface="Verdana"/>
                <a:ea typeface="Verdana"/>
                <a:cs typeface="Verdana"/>
                <a:sym typeface="Verdana"/>
              </a:rPr>
              <a:t>Multiply 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the data from the input nodes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39" lvl="2" marL="1247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Keep track of parents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Deﬁne a backward function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675" lvl="2" marL="12471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■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Manipulate the input nodes’ gradients from within the function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1" marL="78994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SzPts val="1200"/>
              <a:buFont typeface="Tahoma"/>
              <a:buChar char="○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Set the node’s backward function to track it.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68" name="Google Shape;5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9206" y="2098366"/>
            <a:ext cx="190337" cy="219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3225" y="1017350"/>
            <a:ext cx="180153" cy="34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4825" y="1940935"/>
            <a:ext cx="604498" cy="34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7223" y="1142501"/>
            <a:ext cx="580402" cy="1178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25"/>
          <p:cNvGrpSpPr/>
          <p:nvPr/>
        </p:nvGrpSpPr>
        <p:grpSpPr>
          <a:xfrm>
            <a:off x="5799848" y="1579174"/>
            <a:ext cx="1316382" cy="1369606"/>
            <a:chOff x="5799848" y="1579174"/>
            <a:chExt cx="1316382" cy="1369606"/>
          </a:xfrm>
        </p:grpSpPr>
        <p:sp>
          <p:nvSpPr>
            <p:cNvPr id="573" name="Google Shape;573;p25"/>
            <p:cNvSpPr/>
            <p:nvPr/>
          </p:nvSpPr>
          <p:spPr>
            <a:xfrm>
              <a:off x="5991985" y="1579174"/>
              <a:ext cx="264160" cy="264160"/>
            </a:xfrm>
            <a:custGeom>
              <a:rect b="b" l="l" r="r" t="t"/>
              <a:pathLst>
                <a:path extrusionOk="0" h="264160" w="264160">
                  <a:moveTo>
                    <a:pt x="131999" y="264000"/>
                  </a:moveTo>
                  <a:lnTo>
                    <a:pt x="90277" y="257270"/>
                  </a:lnTo>
                  <a:lnTo>
                    <a:pt x="54042" y="238531"/>
                  </a:lnTo>
                  <a:lnTo>
                    <a:pt x="25468" y="209957"/>
                  </a:lnTo>
                  <a:lnTo>
                    <a:pt x="6729" y="173722"/>
                  </a:lnTo>
                  <a:lnTo>
                    <a:pt x="0" y="132000"/>
                  </a:lnTo>
                  <a:lnTo>
                    <a:pt x="6729" y="90277"/>
                  </a:lnTo>
                  <a:lnTo>
                    <a:pt x="25468" y="54042"/>
                  </a:lnTo>
                  <a:lnTo>
                    <a:pt x="54042" y="25468"/>
                  </a:lnTo>
                  <a:lnTo>
                    <a:pt x="90277" y="6729"/>
                  </a:lnTo>
                  <a:lnTo>
                    <a:pt x="131999" y="0"/>
                  </a:lnTo>
                  <a:lnTo>
                    <a:pt x="157872" y="2559"/>
                  </a:lnTo>
                  <a:lnTo>
                    <a:pt x="205233" y="22177"/>
                  </a:lnTo>
                  <a:lnTo>
                    <a:pt x="241822" y="58766"/>
                  </a:lnTo>
                  <a:lnTo>
                    <a:pt x="261440" y="106127"/>
                  </a:lnTo>
                  <a:lnTo>
                    <a:pt x="263999" y="132000"/>
                  </a:lnTo>
                  <a:lnTo>
                    <a:pt x="257270" y="173722"/>
                  </a:lnTo>
                  <a:lnTo>
                    <a:pt x="238531" y="209957"/>
                  </a:lnTo>
                  <a:lnTo>
                    <a:pt x="209957" y="238531"/>
                  </a:lnTo>
                  <a:lnTo>
                    <a:pt x="173722" y="257270"/>
                  </a:lnTo>
                  <a:lnTo>
                    <a:pt x="131999" y="26400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25"/>
            <p:cNvSpPr/>
            <p:nvPr/>
          </p:nvSpPr>
          <p:spPr>
            <a:xfrm>
              <a:off x="5991985" y="1579174"/>
              <a:ext cx="264160" cy="264160"/>
            </a:xfrm>
            <a:custGeom>
              <a:rect b="b" l="l" r="r" t="t"/>
              <a:pathLst>
                <a:path extrusionOk="0" h="264160" w="264160">
                  <a:moveTo>
                    <a:pt x="0" y="132000"/>
                  </a:moveTo>
                  <a:lnTo>
                    <a:pt x="6729" y="90277"/>
                  </a:lnTo>
                  <a:lnTo>
                    <a:pt x="25468" y="54042"/>
                  </a:lnTo>
                  <a:lnTo>
                    <a:pt x="54042" y="25468"/>
                  </a:lnTo>
                  <a:lnTo>
                    <a:pt x="90277" y="6729"/>
                  </a:lnTo>
                  <a:lnTo>
                    <a:pt x="131999" y="0"/>
                  </a:lnTo>
                  <a:lnTo>
                    <a:pt x="182514" y="10047"/>
                  </a:lnTo>
                  <a:lnTo>
                    <a:pt x="225337" y="38661"/>
                  </a:lnTo>
                  <a:lnTo>
                    <a:pt x="253952" y="81485"/>
                  </a:lnTo>
                  <a:lnTo>
                    <a:pt x="263999" y="132000"/>
                  </a:lnTo>
                  <a:lnTo>
                    <a:pt x="257270" y="173722"/>
                  </a:lnTo>
                  <a:lnTo>
                    <a:pt x="238531" y="209957"/>
                  </a:lnTo>
                  <a:lnTo>
                    <a:pt x="209957" y="238531"/>
                  </a:lnTo>
                  <a:lnTo>
                    <a:pt x="173722" y="257270"/>
                  </a:lnTo>
                  <a:lnTo>
                    <a:pt x="131999" y="264000"/>
                  </a:lnTo>
                  <a:lnTo>
                    <a:pt x="90277" y="257270"/>
                  </a:lnTo>
                  <a:lnTo>
                    <a:pt x="54042" y="238531"/>
                  </a:lnTo>
                  <a:lnTo>
                    <a:pt x="25468" y="209957"/>
                  </a:lnTo>
                  <a:lnTo>
                    <a:pt x="6729" y="173722"/>
                  </a:lnTo>
                  <a:lnTo>
                    <a:pt x="0" y="13200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5991985" y="2524293"/>
              <a:ext cx="264160" cy="264160"/>
            </a:xfrm>
            <a:custGeom>
              <a:rect b="b" l="l" r="r" t="t"/>
              <a:pathLst>
                <a:path extrusionOk="0" h="264160" w="264160">
                  <a:moveTo>
                    <a:pt x="131999" y="263999"/>
                  </a:moveTo>
                  <a:lnTo>
                    <a:pt x="90277" y="257270"/>
                  </a:lnTo>
                  <a:lnTo>
                    <a:pt x="54042" y="238531"/>
                  </a:lnTo>
                  <a:lnTo>
                    <a:pt x="25468" y="209957"/>
                  </a:lnTo>
                  <a:lnTo>
                    <a:pt x="6729" y="173722"/>
                  </a:lnTo>
                  <a:lnTo>
                    <a:pt x="0" y="131999"/>
                  </a:lnTo>
                  <a:lnTo>
                    <a:pt x="6729" y="90277"/>
                  </a:lnTo>
                  <a:lnTo>
                    <a:pt x="25468" y="54042"/>
                  </a:lnTo>
                  <a:lnTo>
                    <a:pt x="54042" y="25468"/>
                  </a:lnTo>
                  <a:lnTo>
                    <a:pt x="90277" y="6729"/>
                  </a:lnTo>
                  <a:lnTo>
                    <a:pt x="131999" y="0"/>
                  </a:lnTo>
                  <a:lnTo>
                    <a:pt x="157872" y="2559"/>
                  </a:lnTo>
                  <a:lnTo>
                    <a:pt x="205233" y="22177"/>
                  </a:lnTo>
                  <a:lnTo>
                    <a:pt x="241822" y="58766"/>
                  </a:lnTo>
                  <a:lnTo>
                    <a:pt x="261440" y="106127"/>
                  </a:lnTo>
                  <a:lnTo>
                    <a:pt x="263999" y="131999"/>
                  </a:lnTo>
                  <a:lnTo>
                    <a:pt x="257270" y="173722"/>
                  </a:lnTo>
                  <a:lnTo>
                    <a:pt x="238531" y="209957"/>
                  </a:lnTo>
                  <a:lnTo>
                    <a:pt x="209957" y="238531"/>
                  </a:lnTo>
                  <a:lnTo>
                    <a:pt x="173722" y="257270"/>
                  </a:lnTo>
                  <a:lnTo>
                    <a:pt x="131999" y="2639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25"/>
            <p:cNvSpPr/>
            <p:nvPr/>
          </p:nvSpPr>
          <p:spPr>
            <a:xfrm>
              <a:off x="5991985" y="2524293"/>
              <a:ext cx="264160" cy="264160"/>
            </a:xfrm>
            <a:custGeom>
              <a:rect b="b" l="l" r="r" t="t"/>
              <a:pathLst>
                <a:path extrusionOk="0" h="264160" w="264160">
                  <a:moveTo>
                    <a:pt x="0" y="131999"/>
                  </a:moveTo>
                  <a:lnTo>
                    <a:pt x="6729" y="90277"/>
                  </a:lnTo>
                  <a:lnTo>
                    <a:pt x="25468" y="54042"/>
                  </a:lnTo>
                  <a:lnTo>
                    <a:pt x="54042" y="25468"/>
                  </a:lnTo>
                  <a:lnTo>
                    <a:pt x="90277" y="6729"/>
                  </a:lnTo>
                  <a:lnTo>
                    <a:pt x="131999" y="0"/>
                  </a:lnTo>
                  <a:lnTo>
                    <a:pt x="182514" y="10047"/>
                  </a:lnTo>
                  <a:lnTo>
                    <a:pt x="225337" y="38661"/>
                  </a:lnTo>
                  <a:lnTo>
                    <a:pt x="253952" y="81485"/>
                  </a:lnTo>
                  <a:lnTo>
                    <a:pt x="263999" y="131999"/>
                  </a:lnTo>
                  <a:lnTo>
                    <a:pt x="257270" y="173722"/>
                  </a:lnTo>
                  <a:lnTo>
                    <a:pt x="238531" y="209957"/>
                  </a:lnTo>
                  <a:lnTo>
                    <a:pt x="209957" y="238531"/>
                  </a:lnTo>
                  <a:lnTo>
                    <a:pt x="173722" y="257270"/>
                  </a:lnTo>
                  <a:lnTo>
                    <a:pt x="131999" y="263999"/>
                  </a:lnTo>
                  <a:lnTo>
                    <a:pt x="90277" y="257270"/>
                  </a:lnTo>
                  <a:lnTo>
                    <a:pt x="54042" y="238531"/>
                  </a:lnTo>
                  <a:lnTo>
                    <a:pt x="25468" y="209957"/>
                  </a:lnTo>
                  <a:lnTo>
                    <a:pt x="6729" y="173722"/>
                  </a:lnTo>
                  <a:lnTo>
                    <a:pt x="0" y="13199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77" name="Google Shape;577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99848" y="1638059"/>
              <a:ext cx="148226" cy="146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8" name="Google Shape;578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815579" y="2544763"/>
              <a:ext cx="116763" cy="222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9" name="Google Shape;579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610555" y="2047415"/>
              <a:ext cx="321899" cy="321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25"/>
            <p:cNvSpPr/>
            <p:nvPr/>
          </p:nvSpPr>
          <p:spPr>
            <a:xfrm>
              <a:off x="6217323" y="2324429"/>
              <a:ext cx="356870" cy="238760"/>
            </a:xfrm>
            <a:custGeom>
              <a:rect b="b" l="l" r="r" t="t"/>
              <a:pathLst>
                <a:path extrusionOk="0" h="238760" w="356870">
                  <a:moveTo>
                    <a:pt x="0" y="238525"/>
                  </a:moveTo>
                  <a:lnTo>
                    <a:pt x="35659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6565173" y="2300396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0" y="10955"/>
                  </a:lnTo>
                  <a:lnTo>
                    <a:pt x="44675" y="0"/>
                  </a:lnTo>
                  <a:lnTo>
                    <a:pt x="17494" y="37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25"/>
            <p:cNvSpPr/>
            <p:nvPr/>
          </p:nvSpPr>
          <p:spPr>
            <a:xfrm>
              <a:off x="6565173" y="2300396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44675" y="0"/>
                  </a:lnTo>
                  <a:lnTo>
                    <a:pt x="0" y="10955"/>
                  </a:lnTo>
                  <a:lnTo>
                    <a:pt x="17494" y="37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25"/>
            <p:cNvSpPr/>
            <p:nvPr/>
          </p:nvSpPr>
          <p:spPr>
            <a:xfrm>
              <a:off x="6217323" y="1804512"/>
              <a:ext cx="351155" cy="267335"/>
            </a:xfrm>
            <a:custGeom>
              <a:rect b="b" l="l" r="r" t="t"/>
              <a:pathLst>
                <a:path extrusionOk="0" h="267335" w="351154">
                  <a:moveTo>
                    <a:pt x="0" y="0"/>
                  </a:moveTo>
                  <a:lnTo>
                    <a:pt x="351104" y="2669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6558906" y="2058901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4"/>
                  </a:moveTo>
                  <a:lnTo>
                    <a:pt x="0" y="25048"/>
                  </a:lnTo>
                  <a:lnTo>
                    <a:pt x="19042" y="0"/>
                  </a:lnTo>
                  <a:lnTo>
                    <a:pt x="43931" y="386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25"/>
            <p:cNvSpPr/>
            <p:nvPr/>
          </p:nvSpPr>
          <p:spPr>
            <a:xfrm>
              <a:off x="6558906" y="2058901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8"/>
                  </a:moveTo>
                  <a:lnTo>
                    <a:pt x="43931" y="38684"/>
                  </a:lnTo>
                  <a:lnTo>
                    <a:pt x="19042" y="0"/>
                  </a:lnTo>
                  <a:lnTo>
                    <a:pt x="0" y="2504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86" name="Google Shape;586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77738" y="2609021"/>
              <a:ext cx="161756" cy="339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7" name="Google Shape;587;p2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612826" y="2730644"/>
              <a:ext cx="503404" cy="981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"/>
          <p:cNvSpPr txBox="1"/>
          <p:nvPr>
            <p:ph type="title"/>
          </p:nvPr>
        </p:nvSpPr>
        <p:spPr>
          <a:xfrm>
            <a:off x="301625" y="243286"/>
            <a:ext cx="3098165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Multiplication</a:t>
            </a:r>
            <a:endParaRPr/>
          </a:p>
        </p:txBody>
      </p:sp>
      <p:sp>
        <p:nvSpPr>
          <p:cNvPr id="593" name="Google Shape;593;p26"/>
          <p:cNvSpPr txBox="1"/>
          <p:nvPr/>
        </p:nvSpPr>
        <p:spPr>
          <a:xfrm>
            <a:off x="604550" y="2304550"/>
            <a:ext cx="6856095" cy="1778635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mul_node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32740" marR="211328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 = </a:t>
            </a:r>
            <a:r>
              <a:rPr lang="en-U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a_node.data * b_node.data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mul_backward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52780" marR="155321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.grad +=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.data * out.grad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dL/dA = B * dL/dC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.grad +=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.data * out.grad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dL/dB = A * dL/dC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32740" marR="3953509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out.backward_fn = mul_backward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94" name="Google Shape;5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6684" y="1404855"/>
            <a:ext cx="150140" cy="270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5" name="Google Shape;595;p26"/>
          <p:cNvGrpSpPr/>
          <p:nvPr/>
        </p:nvGrpSpPr>
        <p:grpSpPr>
          <a:xfrm>
            <a:off x="5348950" y="651979"/>
            <a:ext cx="2676604" cy="1548394"/>
            <a:chOff x="5348950" y="651979"/>
            <a:chExt cx="2676604" cy="1548394"/>
          </a:xfrm>
        </p:grpSpPr>
        <p:sp>
          <p:nvSpPr>
            <p:cNvPr id="596" name="Google Shape;596;p26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26"/>
            <p:cNvSpPr/>
            <p:nvPr/>
          </p:nvSpPr>
          <p:spPr>
            <a:xfrm>
              <a:off x="5543568" y="902700"/>
              <a:ext cx="267335" cy="267335"/>
            </a:xfrm>
            <a:custGeom>
              <a:rect b="b" l="l" r="r" t="t"/>
              <a:pathLst>
                <a:path extrusionOk="0" h="267334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8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5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26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133649" y="267299"/>
                  </a:move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59845" y="2591"/>
                  </a:lnTo>
                  <a:lnTo>
                    <a:pt x="207799" y="22454"/>
                  </a:lnTo>
                  <a:lnTo>
                    <a:pt x="244845" y="59500"/>
                  </a:lnTo>
                  <a:lnTo>
                    <a:pt x="264708" y="10745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26"/>
            <p:cNvSpPr/>
            <p:nvPr/>
          </p:nvSpPr>
          <p:spPr>
            <a:xfrm>
              <a:off x="5543568" y="1860016"/>
              <a:ext cx="267335" cy="267335"/>
            </a:xfrm>
            <a:custGeom>
              <a:rect b="b" l="l" r="r" t="t"/>
              <a:pathLst>
                <a:path extrusionOk="0" h="267335" w="267335">
                  <a:moveTo>
                    <a:pt x="0" y="133649"/>
                  </a:moveTo>
                  <a:lnTo>
                    <a:pt x="6813" y="91406"/>
                  </a:lnTo>
                  <a:lnTo>
                    <a:pt x="25786" y="54717"/>
                  </a:lnTo>
                  <a:lnTo>
                    <a:pt x="54718" y="25786"/>
                  </a:lnTo>
                  <a:lnTo>
                    <a:pt x="91406" y="6813"/>
                  </a:lnTo>
                  <a:lnTo>
                    <a:pt x="133649" y="0"/>
                  </a:lnTo>
                  <a:lnTo>
                    <a:pt x="184795" y="10173"/>
                  </a:lnTo>
                  <a:lnTo>
                    <a:pt x="228155" y="39144"/>
                  </a:lnTo>
                  <a:lnTo>
                    <a:pt x="257126" y="82504"/>
                  </a:lnTo>
                  <a:lnTo>
                    <a:pt x="267299" y="133649"/>
                  </a:lnTo>
                  <a:lnTo>
                    <a:pt x="260486" y="175893"/>
                  </a:lnTo>
                  <a:lnTo>
                    <a:pt x="241513" y="212581"/>
                  </a:lnTo>
                  <a:lnTo>
                    <a:pt x="212582" y="241513"/>
                  </a:lnTo>
                  <a:lnTo>
                    <a:pt x="175893" y="260486"/>
                  </a:lnTo>
                  <a:lnTo>
                    <a:pt x="133649" y="267299"/>
                  </a:lnTo>
                  <a:lnTo>
                    <a:pt x="91406" y="260486"/>
                  </a:lnTo>
                  <a:lnTo>
                    <a:pt x="54718" y="241513"/>
                  </a:lnTo>
                  <a:lnTo>
                    <a:pt x="25786" y="212581"/>
                  </a:lnTo>
                  <a:lnTo>
                    <a:pt x="6813" y="175893"/>
                  </a:lnTo>
                  <a:lnTo>
                    <a:pt x="0" y="1336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00" name="Google Shape;60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48950" y="962345"/>
              <a:ext cx="150140" cy="147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64884" y="1880750"/>
              <a:ext cx="118271" cy="225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26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287399" y="287399"/>
                  </a:moveTo>
                  <a:lnTo>
                    <a:pt x="0" y="287399"/>
                  </a:lnTo>
                  <a:lnTo>
                    <a:pt x="0" y="0"/>
                  </a:lnTo>
                  <a:lnTo>
                    <a:pt x="287399" y="0"/>
                  </a:lnTo>
                  <a:lnTo>
                    <a:pt x="287399" y="2873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6189424" y="1396280"/>
              <a:ext cx="287655" cy="287655"/>
            </a:xfrm>
            <a:custGeom>
              <a:rect b="b" l="l" r="r" t="t"/>
              <a:pathLst>
                <a:path extrusionOk="0" h="287655" w="287654">
                  <a:moveTo>
                    <a:pt x="0" y="0"/>
                  </a:moveTo>
                  <a:lnTo>
                    <a:pt x="287399" y="0"/>
                  </a:lnTo>
                  <a:lnTo>
                    <a:pt x="287399" y="287399"/>
                  </a:lnTo>
                  <a:lnTo>
                    <a:pt x="0" y="287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04" name="Google Shape;60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36707" y="1443562"/>
              <a:ext cx="192796" cy="1927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5" name="Google Shape;605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63799" y="1428592"/>
              <a:ext cx="192796" cy="222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00055" y="1377235"/>
              <a:ext cx="325499" cy="325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26"/>
            <p:cNvSpPr/>
            <p:nvPr/>
          </p:nvSpPr>
          <p:spPr>
            <a:xfrm>
              <a:off x="5771723" y="1657050"/>
              <a:ext cx="361950" cy="242570"/>
            </a:xfrm>
            <a:custGeom>
              <a:rect b="b" l="l" r="r" t="t"/>
              <a:pathLst>
                <a:path extrusionOk="0" h="242569" w="361950">
                  <a:moveTo>
                    <a:pt x="0" y="242110"/>
                  </a:moveTo>
                  <a:lnTo>
                    <a:pt x="361707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0" y="10969"/>
                  </a:lnTo>
                  <a:lnTo>
                    <a:pt x="44672" y="0"/>
                  </a:lnTo>
                  <a:lnTo>
                    <a:pt x="17502" y="37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6124679" y="163300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502" y="37118"/>
                  </a:moveTo>
                  <a:lnTo>
                    <a:pt x="44672" y="0"/>
                  </a:lnTo>
                  <a:lnTo>
                    <a:pt x="0" y="10969"/>
                  </a:lnTo>
                  <a:lnTo>
                    <a:pt x="17502" y="3711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5771723" y="1130855"/>
              <a:ext cx="356235" cy="271145"/>
            </a:xfrm>
            <a:custGeom>
              <a:rect b="b" l="l" r="r" t="t"/>
              <a:pathLst>
                <a:path extrusionOk="0" h="271144" w="356235">
                  <a:moveTo>
                    <a:pt x="0" y="0"/>
                  </a:moveTo>
                  <a:lnTo>
                    <a:pt x="356204" y="2708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43931" y="38685"/>
                  </a:moveTo>
                  <a:lnTo>
                    <a:pt x="0" y="25048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6118407" y="1389142"/>
              <a:ext cx="44450" cy="38735"/>
            </a:xfrm>
            <a:custGeom>
              <a:rect b="b" l="l" r="r" t="t"/>
              <a:pathLst>
                <a:path extrusionOk="0" h="38734" w="44450">
                  <a:moveTo>
                    <a:pt x="0" y="25048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6756596" y="1539954"/>
              <a:ext cx="889635" cy="6350"/>
            </a:xfrm>
            <a:custGeom>
              <a:rect b="b" l="l" r="r" t="t"/>
              <a:pathLst>
                <a:path extrusionOk="0" h="6350" w="889634">
                  <a:moveTo>
                    <a:pt x="0" y="0"/>
                  </a:moveTo>
                  <a:lnTo>
                    <a:pt x="889051" y="620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219" y="0"/>
                  </a:lnTo>
                  <a:lnTo>
                    <a:pt x="43334" y="16033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7645537" y="1530423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43334" y="16033"/>
                  </a:lnTo>
                  <a:lnTo>
                    <a:pt x="219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5810794" y="1651639"/>
              <a:ext cx="1828164" cy="342265"/>
            </a:xfrm>
            <a:custGeom>
              <a:rect b="b" l="l" r="r" t="t"/>
              <a:pathLst>
                <a:path extrusionOk="0" h="342264" w="1828165">
                  <a:moveTo>
                    <a:pt x="0" y="341989"/>
                  </a:moveTo>
                  <a:lnTo>
                    <a:pt x="18278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0" y="0"/>
                  </a:lnTo>
                  <a:lnTo>
                    <a:pt x="45381" y="7514"/>
                  </a:lnTo>
                  <a:lnTo>
                    <a:pt x="5786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7635725" y="1636174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6" y="30928"/>
                  </a:moveTo>
                  <a:lnTo>
                    <a:pt x="45381" y="7514"/>
                  </a:lnTo>
                  <a:lnTo>
                    <a:pt x="0" y="0"/>
                  </a:lnTo>
                  <a:lnTo>
                    <a:pt x="5786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19" name="Google Shape;619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96309" y="1008111"/>
              <a:ext cx="328973" cy="250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2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06629" y="1047770"/>
              <a:ext cx="920358" cy="222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1" name="Google Shape;621;p2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67137" y="651979"/>
              <a:ext cx="839536" cy="2031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2" name="Google Shape;622;p2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934280" y="1974619"/>
              <a:ext cx="1703140" cy="2257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7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Mat Mul (Challenge)</a:t>
            </a:r>
            <a:endParaRPr/>
          </a:p>
        </p:txBody>
      </p:sp>
      <p:pic>
        <p:nvPicPr>
          <p:cNvPr id="628" name="Google Shape;6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900" y="1748400"/>
            <a:ext cx="1259586" cy="2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7"/>
          <p:cNvSpPr txBox="1"/>
          <p:nvPr/>
        </p:nvSpPr>
        <p:spPr>
          <a:xfrm>
            <a:off x="4404625" y="1372763"/>
            <a:ext cx="271716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Notes: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Use @ for matmul in np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Use np.dot for dot product multiplication in np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30" name="Google Shape;6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5900" y="3824649"/>
            <a:ext cx="1531949" cy="63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5900" y="2571750"/>
            <a:ext cx="1740933" cy="63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8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Primitives: Mat Mul (Challenge)</a:t>
            </a:r>
            <a:endParaRPr/>
          </a:p>
        </p:txBody>
      </p:sp>
      <p:sp>
        <p:nvSpPr>
          <p:cNvPr id="637" name="Google Shape;637;p28"/>
          <p:cNvSpPr txBox="1"/>
          <p:nvPr/>
        </p:nvSpPr>
        <p:spPr>
          <a:xfrm>
            <a:off x="604550" y="2304550"/>
            <a:ext cx="6856095" cy="1778635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matmul_node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32740" marR="211328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 = 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a_node.data @ b_node.data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matmul_backward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52780" marR="107315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a_node.grad += np.dot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out.grad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b_node.data.T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Gradient wrt a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b_node.grad += np.dot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a_node.data.T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out.grad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	</a:t>
            </a:r>
            <a:r>
              <a:rPr lang="en-US" sz="1050">
                <a:solidFill>
                  <a:srgbClr val="6AA94F"/>
                </a:solidFill>
                <a:latin typeface="Courier New"/>
                <a:ea typeface="Courier New"/>
                <a:cs typeface="Courier New"/>
                <a:sym typeface="Courier New"/>
              </a:rPr>
              <a:t># Gradient wrt b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32740" marR="3874134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out.backward_fn = matmul_backward </a:t>
            </a: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9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Backward Method</a:t>
            </a:r>
            <a:endParaRPr/>
          </a:p>
        </p:txBody>
      </p:sp>
      <p:pic>
        <p:nvPicPr>
          <p:cNvPr id="643" name="Google Shape;6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5" y="2133306"/>
            <a:ext cx="215257" cy="21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70" y="3450033"/>
            <a:ext cx="169566" cy="32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5" name="Google Shape;645;p29"/>
          <p:cNvGrpSpPr/>
          <p:nvPr/>
        </p:nvGrpSpPr>
        <p:grpSpPr>
          <a:xfrm>
            <a:off x="667650" y="2047792"/>
            <a:ext cx="3550030" cy="1756053"/>
            <a:chOff x="667650" y="2047792"/>
            <a:chExt cx="3550030" cy="1756053"/>
          </a:xfrm>
        </p:grpSpPr>
        <p:sp>
          <p:nvSpPr>
            <p:cNvPr id="646" name="Google Shape;646;p29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411899" y="411899"/>
                  </a:moveTo>
                  <a:lnTo>
                    <a:pt x="0" y="4118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4118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0" y="0"/>
                  </a:moveTo>
                  <a:lnTo>
                    <a:pt x="411899" y="0"/>
                  </a:lnTo>
                  <a:lnTo>
                    <a:pt x="411899" y="411899"/>
                  </a:lnTo>
                  <a:lnTo>
                    <a:pt x="0" y="411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52" name="Google Shape;65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61407" y="2823231"/>
              <a:ext cx="276413" cy="2764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30362" y="2801769"/>
              <a:ext cx="276413" cy="319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767681" y="2736401"/>
              <a:ext cx="449999" cy="44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29"/>
            <p:cNvSpPr/>
            <p:nvPr/>
          </p:nvSpPr>
          <p:spPr>
            <a:xfrm>
              <a:off x="994646" y="3115483"/>
              <a:ext cx="539750" cy="361315"/>
            </a:xfrm>
            <a:custGeom>
              <a:rect b="b" l="l" r="r" t="t"/>
              <a:pathLst>
                <a:path extrusionOk="0" h="361314" w="539750">
                  <a:moveTo>
                    <a:pt x="0" y="360926"/>
                  </a:moveTo>
                  <a:lnTo>
                    <a:pt x="53959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0" y="10955"/>
                  </a:lnTo>
                  <a:lnTo>
                    <a:pt x="44675" y="0"/>
                  </a:lnTo>
                  <a:lnTo>
                    <a:pt x="17494" y="37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44675" y="0"/>
                  </a:lnTo>
                  <a:lnTo>
                    <a:pt x="0" y="10955"/>
                  </a:lnTo>
                  <a:lnTo>
                    <a:pt x="17494" y="37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994646" y="2374789"/>
              <a:ext cx="530225" cy="403225"/>
            </a:xfrm>
            <a:custGeom>
              <a:rect b="b" l="l" r="r" t="t"/>
              <a:pathLst>
                <a:path extrusionOk="0" h="403225" w="530225">
                  <a:moveTo>
                    <a:pt x="0" y="0"/>
                  </a:moveTo>
                  <a:lnTo>
                    <a:pt x="530205" y="4031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5"/>
                  </a:moveTo>
                  <a:lnTo>
                    <a:pt x="0" y="25047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7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2406775" y="2961430"/>
              <a:ext cx="1299845" cy="9525"/>
            </a:xfrm>
            <a:custGeom>
              <a:rect b="b" l="l" r="r" t="t"/>
              <a:pathLst>
                <a:path extrusionOk="0" h="9525" w="1299845">
                  <a:moveTo>
                    <a:pt x="0" y="0"/>
                  </a:moveTo>
                  <a:lnTo>
                    <a:pt x="1299451" y="89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2" y="16028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2" y="16028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1050773" y="3116879"/>
              <a:ext cx="2645410" cy="495300"/>
            </a:xfrm>
            <a:custGeom>
              <a:rect b="b" l="l" r="r" t="t"/>
              <a:pathLst>
                <a:path extrusionOk="0" h="495300" w="2645410">
                  <a:moveTo>
                    <a:pt x="0" y="494987"/>
                  </a:moveTo>
                  <a:lnTo>
                    <a:pt x="264502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0" y="0"/>
                  </a:lnTo>
                  <a:lnTo>
                    <a:pt x="45381" y="7512"/>
                  </a:lnTo>
                  <a:lnTo>
                    <a:pt x="5787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45381" y="7512"/>
                  </a:lnTo>
                  <a:lnTo>
                    <a:pt x="0" y="0"/>
                  </a:lnTo>
                  <a:lnTo>
                    <a:pt x="5787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667" name="Google Shape;667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6742" y="2767737"/>
            <a:ext cx="215257" cy="387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4850" y="1166737"/>
            <a:ext cx="2412998" cy="402166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9"/>
          <p:cNvSpPr txBox="1"/>
          <p:nvPr/>
        </p:nvSpPr>
        <p:spPr>
          <a:xfrm>
            <a:off x="5393050" y="2364204"/>
            <a:ext cx="1078230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backward_list:</a:t>
            </a:r>
            <a:endParaRPr/>
          </a:p>
          <a:p>
            <a:pPr indent="-456565" lvl="0" marL="469265" marR="2139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[]</a:t>
            </a:r>
            <a:endParaRPr/>
          </a:p>
          <a:p>
            <a:pPr indent="0" lvl="0" marL="12700" marR="21399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parents: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2139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None Current: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2139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None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Google Shape;674;p30"/>
          <p:cNvGrpSpPr/>
          <p:nvPr/>
        </p:nvGrpSpPr>
        <p:grpSpPr>
          <a:xfrm>
            <a:off x="667650" y="2047792"/>
            <a:ext cx="383540" cy="383540"/>
            <a:chOff x="667650" y="2047792"/>
            <a:chExt cx="383540" cy="383540"/>
          </a:xfrm>
        </p:grpSpPr>
        <p:sp>
          <p:nvSpPr>
            <p:cNvPr id="675" name="Google Shape;675;p30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77" name="Google Shape;677;p30"/>
          <p:cNvGrpSpPr/>
          <p:nvPr/>
        </p:nvGrpSpPr>
        <p:grpSpPr>
          <a:xfrm>
            <a:off x="667650" y="3420305"/>
            <a:ext cx="383540" cy="383540"/>
            <a:chOff x="667650" y="3420305"/>
            <a:chExt cx="383540" cy="383540"/>
          </a:xfrm>
        </p:grpSpPr>
        <p:sp>
          <p:nvSpPr>
            <p:cNvPr id="678" name="Google Shape;678;p30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680" name="Google Shape;6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5" y="2133306"/>
            <a:ext cx="215257" cy="21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70" y="3450033"/>
            <a:ext cx="169566" cy="32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2" name="Google Shape;682;p30"/>
          <p:cNvGrpSpPr/>
          <p:nvPr/>
        </p:nvGrpSpPr>
        <p:grpSpPr>
          <a:xfrm>
            <a:off x="1593618" y="2755442"/>
            <a:ext cx="412115" cy="412115"/>
            <a:chOff x="1593618" y="2755442"/>
            <a:chExt cx="412115" cy="412115"/>
          </a:xfrm>
        </p:grpSpPr>
        <p:sp>
          <p:nvSpPr>
            <p:cNvPr id="683" name="Google Shape;683;p30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411899" y="411899"/>
                  </a:moveTo>
                  <a:lnTo>
                    <a:pt x="0" y="4118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4118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0" y="0"/>
                  </a:moveTo>
                  <a:lnTo>
                    <a:pt x="411899" y="0"/>
                  </a:lnTo>
                  <a:lnTo>
                    <a:pt x="411899" y="411899"/>
                  </a:lnTo>
                  <a:lnTo>
                    <a:pt x="0" y="411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85" name="Google Shape;685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61407" y="2823231"/>
              <a:ext cx="276413" cy="2764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6" name="Google Shape;68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0362" y="2801769"/>
            <a:ext cx="276413" cy="31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67681" y="2736401"/>
            <a:ext cx="449999" cy="44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8" name="Google Shape;688;p30"/>
          <p:cNvGrpSpPr/>
          <p:nvPr/>
        </p:nvGrpSpPr>
        <p:grpSpPr>
          <a:xfrm>
            <a:off x="994647" y="3091451"/>
            <a:ext cx="575934" cy="385347"/>
            <a:chOff x="994647" y="3091451"/>
            <a:chExt cx="575934" cy="385347"/>
          </a:xfrm>
        </p:grpSpPr>
        <p:sp>
          <p:nvSpPr>
            <p:cNvPr id="689" name="Google Shape;689;p30"/>
            <p:cNvSpPr/>
            <p:nvPr/>
          </p:nvSpPr>
          <p:spPr>
            <a:xfrm>
              <a:off x="994647" y="3115483"/>
              <a:ext cx="539750" cy="361315"/>
            </a:xfrm>
            <a:custGeom>
              <a:rect b="b" l="l" r="r" t="t"/>
              <a:pathLst>
                <a:path extrusionOk="0" h="361314" w="539750">
                  <a:moveTo>
                    <a:pt x="0" y="360926"/>
                  </a:moveTo>
                  <a:lnTo>
                    <a:pt x="53959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0" y="10955"/>
                  </a:lnTo>
                  <a:lnTo>
                    <a:pt x="44675" y="0"/>
                  </a:lnTo>
                  <a:lnTo>
                    <a:pt x="17494" y="37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44675" y="0"/>
                  </a:lnTo>
                  <a:lnTo>
                    <a:pt x="0" y="10955"/>
                  </a:lnTo>
                  <a:lnTo>
                    <a:pt x="17494" y="37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92" name="Google Shape;692;p30"/>
          <p:cNvGrpSpPr/>
          <p:nvPr/>
        </p:nvGrpSpPr>
        <p:grpSpPr>
          <a:xfrm>
            <a:off x="994647" y="2374788"/>
            <a:ext cx="565133" cy="429323"/>
            <a:chOff x="994647" y="2374788"/>
            <a:chExt cx="565133" cy="429323"/>
          </a:xfrm>
        </p:grpSpPr>
        <p:sp>
          <p:nvSpPr>
            <p:cNvPr id="693" name="Google Shape;693;p30"/>
            <p:cNvSpPr/>
            <p:nvPr/>
          </p:nvSpPr>
          <p:spPr>
            <a:xfrm>
              <a:off x="994647" y="2374788"/>
              <a:ext cx="530225" cy="403225"/>
            </a:xfrm>
            <a:custGeom>
              <a:rect b="b" l="l" r="r" t="t"/>
              <a:pathLst>
                <a:path extrusionOk="0" h="403225" w="530225">
                  <a:moveTo>
                    <a:pt x="0" y="0"/>
                  </a:moveTo>
                  <a:lnTo>
                    <a:pt x="530205" y="4031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5"/>
                  </a:moveTo>
                  <a:lnTo>
                    <a:pt x="0" y="25047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7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96" name="Google Shape;696;p30"/>
          <p:cNvGrpSpPr/>
          <p:nvPr/>
        </p:nvGrpSpPr>
        <p:grpSpPr>
          <a:xfrm>
            <a:off x="2406775" y="2954606"/>
            <a:ext cx="1343159" cy="31750"/>
            <a:chOff x="2406775" y="2954606"/>
            <a:chExt cx="1343159" cy="31750"/>
          </a:xfrm>
        </p:grpSpPr>
        <p:sp>
          <p:nvSpPr>
            <p:cNvPr id="697" name="Google Shape;697;p30"/>
            <p:cNvSpPr/>
            <p:nvPr/>
          </p:nvSpPr>
          <p:spPr>
            <a:xfrm>
              <a:off x="2406775" y="2961430"/>
              <a:ext cx="1299845" cy="9525"/>
            </a:xfrm>
            <a:custGeom>
              <a:rect b="b" l="l" r="r" t="t"/>
              <a:pathLst>
                <a:path extrusionOk="0" h="9525" w="1299845">
                  <a:moveTo>
                    <a:pt x="0" y="0"/>
                  </a:moveTo>
                  <a:lnTo>
                    <a:pt x="1299451" y="89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2" y="16028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2" y="16028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00" name="Google Shape;700;p30"/>
          <p:cNvGrpSpPr/>
          <p:nvPr/>
        </p:nvGrpSpPr>
        <p:grpSpPr>
          <a:xfrm>
            <a:off x="1050774" y="3101415"/>
            <a:ext cx="2687851" cy="510764"/>
            <a:chOff x="1050774" y="3101415"/>
            <a:chExt cx="2687851" cy="510764"/>
          </a:xfrm>
        </p:grpSpPr>
        <p:sp>
          <p:nvSpPr>
            <p:cNvPr id="701" name="Google Shape;701;p30"/>
            <p:cNvSpPr/>
            <p:nvPr/>
          </p:nvSpPr>
          <p:spPr>
            <a:xfrm>
              <a:off x="1050774" y="3116879"/>
              <a:ext cx="2645410" cy="495300"/>
            </a:xfrm>
            <a:custGeom>
              <a:rect b="b" l="l" r="r" t="t"/>
              <a:pathLst>
                <a:path extrusionOk="0" h="495300" w="2645410">
                  <a:moveTo>
                    <a:pt x="0" y="494987"/>
                  </a:moveTo>
                  <a:lnTo>
                    <a:pt x="264502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0" y="0"/>
                  </a:lnTo>
                  <a:lnTo>
                    <a:pt x="45381" y="7512"/>
                  </a:lnTo>
                  <a:lnTo>
                    <a:pt x="5787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45381" y="7512"/>
                  </a:lnTo>
                  <a:lnTo>
                    <a:pt x="0" y="0"/>
                  </a:lnTo>
                  <a:lnTo>
                    <a:pt x="5787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704" name="Google Shape;70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6742" y="2767737"/>
            <a:ext cx="215257" cy="387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4850" y="1166737"/>
            <a:ext cx="2412998" cy="402166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0"/>
          <p:cNvSpPr txBox="1"/>
          <p:nvPr/>
        </p:nvSpPr>
        <p:spPr>
          <a:xfrm>
            <a:off x="5393050" y="2364204"/>
            <a:ext cx="1078230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backward_list: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42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[f] parents: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344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c, b Current: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344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f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3354025" y="2456875"/>
            <a:ext cx="1378585" cy="1095375"/>
          </a:xfrm>
          <a:custGeom>
            <a:rect b="b" l="l" r="r" t="t"/>
            <a:pathLst>
              <a:path extrusionOk="0" h="1095375" w="1378585">
                <a:moveTo>
                  <a:pt x="0" y="0"/>
                </a:moveTo>
                <a:lnTo>
                  <a:pt x="1378499" y="0"/>
                </a:lnTo>
                <a:lnTo>
                  <a:pt x="1378499" y="1095299"/>
                </a:lnTo>
                <a:lnTo>
                  <a:pt x="0" y="10952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8" name="Google Shape;708;p30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Backward Method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31"/>
          <p:cNvGrpSpPr/>
          <p:nvPr/>
        </p:nvGrpSpPr>
        <p:grpSpPr>
          <a:xfrm>
            <a:off x="667650" y="2047792"/>
            <a:ext cx="383540" cy="383540"/>
            <a:chOff x="667650" y="2047792"/>
            <a:chExt cx="383540" cy="383540"/>
          </a:xfrm>
        </p:grpSpPr>
        <p:sp>
          <p:nvSpPr>
            <p:cNvPr id="714" name="Google Shape;714;p31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16" name="Google Shape;716;p31"/>
          <p:cNvGrpSpPr/>
          <p:nvPr/>
        </p:nvGrpSpPr>
        <p:grpSpPr>
          <a:xfrm>
            <a:off x="667650" y="3420305"/>
            <a:ext cx="383540" cy="383540"/>
            <a:chOff x="667650" y="3420305"/>
            <a:chExt cx="383540" cy="383540"/>
          </a:xfrm>
        </p:grpSpPr>
        <p:sp>
          <p:nvSpPr>
            <p:cNvPr id="717" name="Google Shape;717;p31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719" name="Google Shape;7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5" y="2133306"/>
            <a:ext cx="215257" cy="21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70" y="3450033"/>
            <a:ext cx="169566" cy="32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1" name="Google Shape;721;p31"/>
          <p:cNvGrpSpPr/>
          <p:nvPr/>
        </p:nvGrpSpPr>
        <p:grpSpPr>
          <a:xfrm>
            <a:off x="1593618" y="2755442"/>
            <a:ext cx="412115" cy="412115"/>
            <a:chOff x="1593618" y="2755442"/>
            <a:chExt cx="412115" cy="412115"/>
          </a:xfrm>
        </p:grpSpPr>
        <p:sp>
          <p:nvSpPr>
            <p:cNvPr id="722" name="Google Shape;722;p31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411899" y="411899"/>
                  </a:moveTo>
                  <a:lnTo>
                    <a:pt x="0" y="4118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4118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0" y="0"/>
                  </a:moveTo>
                  <a:lnTo>
                    <a:pt x="411899" y="0"/>
                  </a:lnTo>
                  <a:lnTo>
                    <a:pt x="411899" y="411899"/>
                  </a:lnTo>
                  <a:lnTo>
                    <a:pt x="0" y="411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24" name="Google Shape;724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61407" y="2823231"/>
              <a:ext cx="276413" cy="2764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5" name="Google Shape;72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0362" y="2801769"/>
            <a:ext cx="276413" cy="31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67681" y="2736401"/>
            <a:ext cx="449999" cy="44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7" name="Google Shape;727;p31"/>
          <p:cNvGrpSpPr/>
          <p:nvPr/>
        </p:nvGrpSpPr>
        <p:grpSpPr>
          <a:xfrm>
            <a:off x="994647" y="3091451"/>
            <a:ext cx="575934" cy="385347"/>
            <a:chOff x="994647" y="3091451"/>
            <a:chExt cx="575934" cy="385347"/>
          </a:xfrm>
        </p:grpSpPr>
        <p:sp>
          <p:nvSpPr>
            <p:cNvPr id="728" name="Google Shape;728;p31"/>
            <p:cNvSpPr/>
            <p:nvPr/>
          </p:nvSpPr>
          <p:spPr>
            <a:xfrm>
              <a:off x="994647" y="3115483"/>
              <a:ext cx="539750" cy="361315"/>
            </a:xfrm>
            <a:custGeom>
              <a:rect b="b" l="l" r="r" t="t"/>
              <a:pathLst>
                <a:path extrusionOk="0" h="361314" w="539750">
                  <a:moveTo>
                    <a:pt x="0" y="360926"/>
                  </a:moveTo>
                  <a:lnTo>
                    <a:pt x="53959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0" y="10955"/>
                  </a:lnTo>
                  <a:lnTo>
                    <a:pt x="44675" y="0"/>
                  </a:lnTo>
                  <a:lnTo>
                    <a:pt x="17494" y="37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44675" y="0"/>
                  </a:lnTo>
                  <a:lnTo>
                    <a:pt x="0" y="10955"/>
                  </a:lnTo>
                  <a:lnTo>
                    <a:pt x="17494" y="37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31" name="Google Shape;731;p31"/>
          <p:cNvGrpSpPr/>
          <p:nvPr/>
        </p:nvGrpSpPr>
        <p:grpSpPr>
          <a:xfrm>
            <a:off x="994647" y="2374788"/>
            <a:ext cx="565133" cy="429323"/>
            <a:chOff x="994647" y="2374788"/>
            <a:chExt cx="565133" cy="429323"/>
          </a:xfrm>
        </p:grpSpPr>
        <p:sp>
          <p:nvSpPr>
            <p:cNvPr id="732" name="Google Shape;732;p31"/>
            <p:cNvSpPr/>
            <p:nvPr/>
          </p:nvSpPr>
          <p:spPr>
            <a:xfrm>
              <a:off x="994647" y="2374788"/>
              <a:ext cx="530225" cy="403225"/>
            </a:xfrm>
            <a:custGeom>
              <a:rect b="b" l="l" r="r" t="t"/>
              <a:pathLst>
                <a:path extrusionOk="0" h="403225" w="530225">
                  <a:moveTo>
                    <a:pt x="0" y="0"/>
                  </a:moveTo>
                  <a:lnTo>
                    <a:pt x="530205" y="4031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5"/>
                  </a:moveTo>
                  <a:lnTo>
                    <a:pt x="0" y="25047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7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35" name="Google Shape;735;p31"/>
          <p:cNvGrpSpPr/>
          <p:nvPr/>
        </p:nvGrpSpPr>
        <p:grpSpPr>
          <a:xfrm>
            <a:off x="2406775" y="2954606"/>
            <a:ext cx="1343159" cy="31750"/>
            <a:chOff x="2406775" y="2954606"/>
            <a:chExt cx="1343159" cy="31750"/>
          </a:xfrm>
        </p:grpSpPr>
        <p:sp>
          <p:nvSpPr>
            <p:cNvPr id="736" name="Google Shape;736;p31"/>
            <p:cNvSpPr/>
            <p:nvPr/>
          </p:nvSpPr>
          <p:spPr>
            <a:xfrm>
              <a:off x="2406775" y="2961430"/>
              <a:ext cx="1299845" cy="9525"/>
            </a:xfrm>
            <a:custGeom>
              <a:rect b="b" l="l" r="r" t="t"/>
              <a:pathLst>
                <a:path extrusionOk="0" h="9525" w="1299845">
                  <a:moveTo>
                    <a:pt x="0" y="0"/>
                  </a:moveTo>
                  <a:lnTo>
                    <a:pt x="1299451" y="89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2" y="16028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2" y="16028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39" name="Google Shape;739;p31"/>
          <p:cNvGrpSpPr/>
          <p:nvPr/>
        </p:nvGrpSpPr>
        <p:grpSpPr>
          <a:xfrm>
            <a:off x="1050774" y="3101415"/>
            <a:ext cx="2687851" cy="510764"/>
            <a:chOff x="1050774" y="3101415"/>
            <a:chExt cx="2687851" cy="510764"/>
          </a:xfrm>
        </p:grpSpPr>
        <p:sp>
          <p:nvSpPr>
            <p:cNvPr id="740" name="Google Shape;740;p31"/>
            <p:cNvSpPr/>
            <p:nvPr/>
          </p:nvSpPr>
          <p:spPr>
            <a:xfrm>
              <a:off x="1050774" y="3116879"/>
              <a:ext cx="2645410" cy="495300"/>
            </a:xfrm>
            <a:custGeom>
              <a:rect b="b" l="l" r="r" t="t"/>
              <a:pathLst>
                <a:path extrusionOk="0" h="495300" w="2645410">
                  <a:moveTo>
                    <a:pt x="0" y="494987"/>
                  </a:moveTo>
                  <a:lnTo>
                    <a:pt x="264502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0" y="0"/>
                  </a:lnTo>
                  <a:lnTo>
                    <a:pt x="45381" y="7512"/>
                  </a:lnTo>
                  <a:lnTo>
                    <a:pt x="5787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45381" y="7512"/>
                  </a:lnTo>
                  <a:lnTo>
                    <a:pt x="0" y="0"/>
                  </a:lnTo>
                  <a:lnTo>
                    <a:pt x="5787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743" name="Google Shape;743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6742" y="2767737"/>
            <a:ext cx="215257" cy="387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4850" y="1166737"/>
            <a:ext cx="2412998" cy="402166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1"/>
          <p:cNvSpPr txBox="1"/>
          <p:nvPr/>
        </p:nvSpPr>
        <p:spPr>
          <a:xfrm>
            <a:off x="5393050" y="2364204"/>
            <a:ext cx="2412998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backward_list: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654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[f, c] 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654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parents: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717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a, b 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717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Current: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717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b="1" lang="en-US" sz="1200"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, b (for later)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1372825" y="2456875"/>
            <a:ext cx="1169035" cy="963294"/>
          </a:xfrm>
          <a:custGeom>
            <a:rect b="b" l="l" r="r" t="t"/>
            <a:pathLst>
              <a:path extrusionOk="0" h="963295" w="1169035">
                <a:moveTo>
                  <a:pt x="0" y="0"/>
                </a:moveTo>
                <a:lnTo>
                  <a:pt x="1168799" y="0"/>
                </a:lnTo>
                <a:lnTo>
                  <a:pt x="1168799" y="963299"/>
                </a:lnTo>
                <a:lnTo>
                  <a:pt x="0" y="9632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7" name="Google Shape;747;p31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Backward Method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" name="Google Shape;752;p32"/>
          <p:cNvGrpSpPr/>
          <p:nvPr/>
        </p:nvGrpSpPr>
        <p:grpSpPr>
          <a:xfrm>
            <a:off x="667650" y="2047792"/>
            <a:ext cx="383540" cy="383540"/>
            <a:chOff x="667650" y="2047792"/>
            <a:chExt cx="383540" cy="383540"/>
          </a:xfrm>
        </p:grpSpPr>
        <p:sp>
          <p:nvSpPr>
            <p:cNvPr id="753" name="Google Shape;753;p32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55" name="Google Shape;755;p32"/>
          <p:cNvGrpSpPr/>
          <p:nvPr/>
        </p:nvGrpSpPr>
        <p:grpSpPr>
          <a:xfrm>
            <a:off x="667650" y="3420305"/>
            <a:ext cx="383540" cy="383540"/>
            <a:chOff x="667650" y="3420305"/>
            <a:chExt cx="383540" cy="383540"/>
          </a:xfrm>
        </p:grpSpPr>
        <p:sp>
          <p:nvSpPr>
            <p:cNvPr id="756" name="Google Shape;756;p32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758" name="Google Shape;7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5" y="2133306"/>
            <a:ext cx="215257" cy="21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70" y="3450033"/>
            <a:ext cx="169566" cy="32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0" name="Google Shape;760;p32"/>
          <p:cNvGrpSpPr/>
          <p:nvPr/>
        </p:nvGrpSpPr>
        <p:grpSpPr>
          <a:xfrm>
            <a:off x="1593618" y="2755442"/>
            <a:ext cx="412115" cy="412115"/>
            <a:chOff x="1593618" y="2755442"/>
            <a:chExt cx="412115" cy="412115"/>
          </a:xfrm>
        </p:grpSpPr>
        <p:sp>
          <p:nvSpPr>
            <p:cNvPr id="761" name="Google Shape;761;p32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411899" y="411899"/>
                  </a:moveTo>
                  <a:lnTo>
                    <a:pt x="0" y="4118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4118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32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0" y="0"/>
                  </a:moveTo>
                  <a:lnTo>
                    <a:pt x="411899" y="0"/>
                  </a:lnTo>
                  <a:lnTo>
                    <a:pt x="411899" y="411899"/>
                  </a:lnTo>
                  <a:lnTo>
                    <a:pt x="0" y="411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63" name="Google Shape;763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61407" y="2823231"/>
              <a:ext cx="276413" cy="2764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4" name="Google Shape;76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0362" y="2801769"/>
            <a:ext cx="276413" cy="31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67681" y="2736401"/>
            <a:ext cx="449999" cy="44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6" name="Google Shape;766;p32"/>
          <p:cNvGrpSpPr/>
          <p:nvPr/>
        </p:nvGrpSpPr>
        <p:grpSpPr>
          <a:xfrm>
            <a:off x="994647" y="3091451"/>
            <a:ext cx="575934" cy="385347"/>
            <a:chOff x="994647" y="3091451"/>
            <a:chExt cx="575934" cy="385347"/>
          </a:xfrm>
        </p:grpSpPr>
        <p:sp>
          <p:nvSpPr>
            <p:cNvPr id="767" name="Google Shape;767;p32"/>
            <p:cNvSpPr/>
            <p:nvPr/>
          </p:nvSpPr>
          <p:spPr>
            <a:xfrm>
              <a:off x="994647" y="3115483"/>
              <a:ext cx="539750" cy="361315"/>
            </a:xfrm>
            <a:custGeom>
              <a:rect b="b" l="l" r="r" t="t"/>
              <a:pathLst>
                <a:path extrusionOk="0" h="361314" w="539750">
                  <a:moveTo>
                    <a:pt x="0" y="360926"/>
                  </a:moveTo>
                  <a:lnTo>
                    <a:pt x="53959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0" y="10955"/>
                  </a:lnTo>
                  <a:lnTo>
                    <a:pt x="44675" y="0"/>
                  </a:lnTo>
                  <a:lnTo>
                    <a:pt x="17494" y="37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44675" y="0"/>
                  </a:lnTo>
                  <a:lnTo>
                    <a:pt x="0" y="10955"/>
                  </a:lnTo>
                  <a:lnTo>
                    <a:pt x="17494" y="37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70" name="Google Shape;770;p32"/>
          <p:cNvGrpSpPr/>
          <p:nvPr/>
        </p:nvGrpSpPr>
        <p:grpSpPr>
          <a:xfrm>
            <a:off x="994647" y="2374788"/>
            <a:ext cx="565133" cy="429323"/>
            <a:chOff x="994647" y="2374788"/>
            <a:chExt cx="565133" cy="429323"/>
          </a:xfrm>
        </p:grpSpPr>
        <p:sp>
          <p:nvSpPr>
            <p:cNvPr id="771" name="Google Shape;771;p32"/>
            <p:cNvSpPr/>
            <p:nvPr/>
          </p:nvSpPr>
          <p:spPr>
            <a:xfrm>
              <a:off x="994647" y="2374788"/>
              <a:ext cx="530225" cy="403225"/>
            </a:xfrm>
            <a:custGeom>
              <a:rect b="b" l="l" r="r" t="t"/>
              <a:pathLst>
                <a:path extrusionOk="0" h="403225" w="530225">
                  <a:moveTo>
                    <a:pt x="0" y="0"/>
                  </a:moveTo>
                  <a:lnTo>
                    <a:pt x="530205" y="4031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5"/>
                  </a:moveTo>
                  <a:lnTo>
                    <a:pt x="0" y="25047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7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74" name="Google Shape;774;p32"/>
          <p:cNvGrpSpPr/>
          <p:nvPr/>
        </p:nvGrpSpPr>
        <p:grpSpPr>
          <a:xfrm>
            <a:off x="2406775" y="2954606"/>
            <a:ext cx="1343159" cy="31750"/>
            <a:chOff x="2406775" y="2954606"/>
            <a:chExt cx="1343159" cy="31750"/>
          </a:xfrm>
        </p:grpSpPr>
        <p:sp>
          <p:nvSpPr>
            <p:cNvPr id="775" name="Google Shape;775;p32"/>
            <p:cNvSpPr/>
            <p:nvPr/>
          </p:nvSpPr>
          <p:spPr>
            <a:xfrm>
              <a:off x="2406775" y="2961430"/>
              <a:ext cx="1299845" cy="9525"/>
            </a:xfrm>
            <a:custGeom>
              <a:rect b="b" l="l" r="r" t="t"/>
              <a:pathLst>
                <a:path extrusionOk="0" h="9525" w="1299845">
                  <a:moveTo>
                    <a:pt x="0" y="0"/>
                  </a:moveTo>
                  <a:lnTo>
                    <a:pt x="1299451" y="89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2" y="16028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2" y="16028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78" name="Google Shape;778;p32"/>
          <p:cNvGrpSpPr/>
          <p:nvPr/>
        </p:nvGrpSpPr>
        <p:grpSpPr>
          <a:xfrm>
            <a:off x="1050774" y="3101415"/>
            <a:ext cx="2687851" cy="510764"/>
            <a:chOff x="1050774" y="3101415"/>
            <a:chExt cx="2687851" cy="510764"/>
          </a:xfrm>
        </p:grpSpPr>
        <p:sp>
          <p:nvSpPr>
            <p:cNvPr id="779" name="Google Shape;779;p32"/>
            <p:cNvSpPr/>
            <p:nvPr/>
          </p:nvSpPr>
          <p:spPr>
            <a:xfrm>
              <a:off x="1050774" y="3116879"/>
              <a:ext cx="2645410" cy="495300"/>
            </a:xfrm>
            <a:custGeom>
              <a:rect b="b" l="l" r="r" t="t"/>
              <a:pathLst>
                <a:path extrusionOk="0" h="495300" w="2645410">
                  <a:moveTo>
                    <a:pt x="0" y="494987"/>
                  </a:moveTo>
                  <a:lnTo>
                    <a:pt x="264502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0" y="0"/>
                  </a:lnTo>
                  <a:lnTo>
                    <a:pt x="45381" y="7512"/>
                  </a:lnTo>
                  <a:lnTo>
                    <a:pt x="5787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45381" y="7512"/>
                  </a:lnTo>
                  <a:lnTo>
                    <a:pt x="0" y="0"/>
                  </a:lnTo>
                  <a:lnTo>
                    <a:pt x="5787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782" name="Google Shape;782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6742" y="2767737"/>
            <a:ext cx="215257" cy="387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4850" y="1166737"/>
            <a:ext cx="2412998" cy="402166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32"/>
          <p:cNvSpPr txBox="1"/>
          <p:nvPr/>
        </p:nvSpPr>
        <p:spPr>
          <a:xfrm>
            <a:off x="5393050" y="2364204"/>
            <a:ext cx="2157332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backward_list: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4965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[f, c, b] 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4965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parents: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6184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None Current: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6184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b="1" lang="en-US" sz="1200"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, a (for later)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228600" y="3218625"/>
            <a:ext cx="1169035" cy="963294"/>
          </a:xfrm>
          <a:custGeom>
            <a:rect b="b" l="l" r="r" t="t"/>
            <a:pathLst>
              <a:path extrusionOk="0" h="963295" w="1169035">
                <a:moveTo>
                  <a:pt x="0" y="0"/>
                </a:moveTo>
                <a:lnTo>
                  <a:pt x="1168799" y="0"/>
                </a:lnTo>
                <a:lnTo>
                  <a:pt x="1168799" y="963299"/>
                </a:lnTo>
                <a:lnTo>
                  <a:pt x="0" y="9632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6" name="Google Shape;786;p32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Backward Method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1" name="Google Shape;791;p33"/>
          <p:cNvGrpSpPr/>
          <p:nvPr/>
        </p:nvGrpSpPr>
        <p:grpSpPr>
          <a:xfrm>
            <a:off x="667650" y="2047792"/>
            <a:ext cx="383540" cy="383540"/>
            <a:chOff x="667650" y="2047792"/>
            <a:chExt cx="383540" cy="383540"/>
          </a:xfrm>
        </p:grpSpPr>
        <p:sp>
          <p:nvSpPr>
            <p:cNvPr id="792" name="Google Shape;792;p33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667650" y="2047792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94" name="Google Shape;794;p33"/>
          <p:cNvGrpSpPr/>
          <p:nvPr/>
        </p:nvGrpSpPr>
        <p:grpSpPr>
          <a:xfrm>
            <a:off x="667650" y="3420305"/>
            <a:ext cx="383540" cy="383540"/>
            <a:chOff x="667650" y="3420305"/>
            <a:chExt cx="383540" cy="383540"/>
          </a:xfrm>
        </p:grpSpPr>
        <p:sp>
          <p:nvSpPr>
            <p:cNvPr id="795" name="Google Shape;795;p33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33"/>
            <p:cNvSpPr/>
            <p:nvPr/>
          </p:nvSpPr>
          <p:spPr>
            <a:xfrm>
              <a:off x="667650" y="3420305"/>
              <a:ext cx="383540" cy="383540"/>
            </a:xfrm>
            <a:custGeom>
              <a:rect b="b" l="l" r="r" t="t"/>
              <a:pathLst>
                <a:path extrusionOk="0" h="383539" w="383540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797" name="Google Shape;79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5" y="2133306"/>
            <a:ext cx="215257" cy="21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70" y="3450033"/>
            <a:ext cx="169566" cy="32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9" name="Google Shape;799;p33"/>
          <p:cNvGrpSpPr/>
          <p:nvPr/>
        </p:nvGrpSpPr>
        <p:grpSpPr>
          <a:xfrm>
            <a:off x="1593618" y="2755442"/>
            <a:ext cx="412115" cy="412115"/>
            <a:chOff x="1593618" y="2755442"/>
            <a:chExt cx="412115" cy="412115"/>
          </a:xfrm>
        </p:grpSpPr>
        <p:sp>
          <p:nvSpPr>
            <p:cNvPr id="800" name="Google Shape;800;p33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411899" y="411899"/>
                  </a:moveTo>
                  <a:lnTo>
                    <a:pt x="0" y="4118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4118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33"/>
            <p:cNvSpPr/>
            <p:nvPr/>
          </p:nvSpPr>
          <p:spPr>
            <a:xfrm>
              <a:off x="1593618" y="2755442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0" y="0"/>
                  </a:moveTo>
                  <a:lnTo>
                    <a:pt x="411899" y="0"/>
                  </a:lnTo>
                  <a:lnTo>
                    <a:pt x="411899" y="411899"/>
                  </a:lnTo>
                  <a:lnTo>
                    <a:pt x="0" y="411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02" name="Google Shape;802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61407" y="2823231"/>
              <a:ext cx="276413" cy="2764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3" name="Google Shape;80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0362" y="2801769"/>
            <a:ext cx="276413" cy="31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67681" y="2736401"/>
            <a:ext cx="449999" cy="44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5" name="Google Shape;805;p33"/>
          <p:cNvGrpSpPr/>
          <p:nvPr/>
        </p:nvGrpSpPr>
        <p:grpSpPr>
          <a:xfrm>
            <a:off x="994647" y="3091451"/>
            <a:ext cx="575934" cy="385347"/>
            <a:chOff x="994647" y="3091451"/>
            <a:chExt cx="575934" cy="385347"/>
          </a:xfrm>
        </p:grpSpPr>
        <p:sp>
          <p:nvSpPr>
            <p:cNvPr id="806" name="Google Shape;806;p33"/>
            <p:cNvSpPr/>
            <p:nvPr/>
          </p:nvSpPr>
          <p:spPr>
            <a:xfrm>
              <a:off x="994647" y="3115483"/>
              <a:ext cx="539750" cy="361315"/>
            </a:xfrm>
            <a:custGeom>
              <a:rect b="b" l="l" r="r" t="t"/>
              <a:pathLst>
                <a:path extrusionOk="0" h="361314" w="539750">
                  <a:moveTo>
                    <a:pt x="0" y="360926"/>
                  </a:moveTo>
                  <a:lnTo>
                    <a:pt x="53959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33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0" y="10955"/>
                  </a:lnTo>
                  <a:lnTo>
                    <a:pt x="44675" y="0"/>
                  </a:lnTo>
                  <a:lnTo>
                    <a:pt x="17494" y="37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33"/>
            <p:cNvSpPr/>
            <p:nvPr/>
          </p:nvSpPr>
          <p:spPr>
            <a:xfrm>
              <a:off x="1525496" y="3091451"/>
              <a:ext cx="45085" cy="37465"/>
            </a:xfrm>
            <a:custGeom>
              <a:rect b="b" l="l" r="r" t="t"/>
              <a:pathLst>
                <a:path extrusionOk="0" h="37464" w="45084">
                  <a:moveTo>
                    <a:pt x="17494" y="37109"/>
                  </a:moveTo>
                  <a:lnTo>
                    <a:pt x="44675" y="0"/>
                  </a:lnTo>
                  <a:lnTo>
                    <a:pt x="0" y="10955"/>
                  </a:lnTo>
                  <a:lnTo>
                    <a:pt x="17494" y="37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09" name="Google Shape;809;p33"/>
          <p:cNvGrpSpPr/>
          <p:nvPr/>
        </p:nvGrpSpPr>
        <p:grpSpPr>
          <a:xfrm>
            <a:off x="994647" y="2374788"/>
            <a:ext cx="565133" cy="429323"/>
            <a:chOff x="994647" y="2374788"/>
            <a:chExt cx="565133" cy="429323"/>
          </a:xfrm>
        </p:grpSpPr>
        <p:sp>
          <p:nvSpPr>
            <p:cNvPr id="810" name="Google Shape;810;p33"/>
            <p:cNvSpPr/>
            <p:nvPr/>
          </p:nvSpPr>
          <p:spPr>
            <a:xfrm>
              <a:off x="994647" y="2374788"/>
              <a:ext cx="530225" cy="403225"/>
            </a:xfrm>
            <a:custGeom>
              <a:rect b="b" l="l" r="r" t="t"/>
              <a:pathLst>
                <a:path extrusionOk="0" h="403225" w="530225">
                  <a:moveTo>
                    <a:pt x="0" y="0"/>
                  </a:moveTo>
                  <a:lnTo>
                    <a:pt x="530205" y="4031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33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5"/>
                  </a:moveTo>
                  <a:lnTo>
                    <a:pt x="0" y="25047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33"/>
            <p:cNvSpPr/>
            <p:nvPr/>
          </p:nvSpPr>
          <p:spPr>
            <a:xfrm>
              <a:off x="1515330" y="276537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7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13" name="Google Shape;813;p33"/>
          <p:cNvGrpSpPr/>
          <p:nvPr/>
        </p:nvGrpSpPr>
        <p:grpSpPr>
          <a:xfrm>
            <a:off x="2406775" y="2954606"/>
            <a:ext cx="1343159" cy="31750"/>
            <a:chOff x="2406775" y="2954606"/>
            <a:chExt cx="1343159" cy="31750"/>
          </a:xfrm>
        </p:grpSpPr>
        <p:sp>
          <p:nvSpPr>
            <p:cNvPr id="814" name="Google Shape;814;p33"/>
            <p:cNvSpPr/>
            <p:nvPr/>
          </p:nvSpPr>
          <p:spPr>
            <a:xfrm>
              <a:off x="2406775" y="2961430"/>
              <a:ext cx="1299845" cy="9525"/>
            </a:xfrm>
            <a:custGeom>
              <a:rect b="b" l="l" r="r" t="t"/>
              <a:pathLst>
                <a:path extrusionOk="0" h="9525" w="1299845">
                  <a:moveTo>
                    <a:pt x="0" y="0"/>
                  </a:moveTo>
                  <a:lnTo>
                    <a:pt x="1299451" y="89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2" y="16028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6" name="Google Shape;816;p33"/>
            <p:cNvSpPr/>
            <p:nvPr/>
          </p:nvSpPr>
          <p:spPr>
            <a:xfrm>
              <a:off x="3706119" y="2954606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2" y="16028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17" name="Google Shape;817;p33"/>
          <p:cNvGrpSpPr/>
          <p:nvPr/>
        </p:nvGrpSpPr>
        <p:grpSpPr>
          <a:xfrm>
            <a:off x="1050774" y="3101415"/>
            <a:ext cx="2687851" cy="510764"/>
            <a:chOff x="1050774" y="3101415"/>
            <a:chExt cx="2687851" cy="510764"/>
          </a:xfrm>
        </p:grpSpPr>
        <p:sp>
          <p:nvSpPr>
            <p:cNvPr id="818" name="Google Shape;818;p33"/>
            <p:cNvSpPr/>
            <p:nvPr/>
          </p:nvSpPr>
          <p:spPr>
            <a:xfrm>
              <a:off x="1050774" y="3116879"/>
              <a:ext cx="2645410" cy="495300"/>
            </a:xfrm>
            <a:custGeom>
              <a:rect b="b" l="l" r="r" t="t"/>
              <a:pathLst>
                <a:path extrusionOk="0" h="495300" w="2645410">
                  <a:moveTo>
                    <a:pt x="0" y="494987"/>
                  </a:moveTo>
                  <a:lnTo>
                    <a:pt x="264502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0" y="0"/>
                  </a:lnTo>
                  <a:lnTo>
                    <a:pt x="45381" y="7512"/>
                  </a:lnTo>
                  <a:lnTo>
                    <a:pt x="5787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0" name="Google Shape;820;p33"/>
            <p:cNvSpPr/>
            <p:nvPr/>
          </p:nvSpPr>
          <p:spPr>
            <a:xfrm>
              <a:off x="3692905" y="3101415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45381" y="7512"/>
                  </a:lnTo>
                  <a:lnTo>
                    <a:pt x="0" y="0"/>
                  </a:lnTo>
                  <a:lnTo>
                    <a:pt x="5787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821" name="Google Shape;821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6742" y="2767737"/>
            <a:ext cx="215257" cy="387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74850" y="1166737"/>
            <a:ext cx="2412998" cy="402166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33"/>
          <p:cNvSpPr txBox="1"/>
          <p:nvPr/>
        </p:nvSpPr>
        <p:spPr>
          <a:xfrm>
            <a:off x="5393050" y="2364204"/>
            <a:ext cx="1165225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backward_list: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[f, c, b, a] parents: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301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None Current: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456565" lvl="0" marL="469265" marR="301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a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4" name="Google Shape;824;p33"/>
          <p:cNvSpPr/>
          <p:nvPr/>
        </p:nvSpPr>
        <p:spPr>
          <a:xfrm>
            <a:off x="228600" y="1770825"/>
            <a:ext cx="1169035" cy="963294"/>
          </a:xfrm>
          <a:custGeom>
            <a:rect b="b" l="l" r="r" t="t"/>
            <a:pathLst>
              <a:path extrusionOk="0" h="963294" w="1169035">
                <a:moveTo>
                  <a:pt x="0" y="0"/>
                </a:moveTo>
                <a:lnTo>
                  <a:pt x="1168799" y="0"/>
                </a:lnTo>
                <a:lnTo>
                  <a:pt x="1168799" y="963299"/>
                </a:lnTo>
                <a:lnTo>
                  <a:pt x="0" y="9632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5" name="Google Shape;825;p33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Backward Method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850" y="1166737"/>
            <a:ext cx="2412998" cy="402166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4"/>
          <p:cNvSpPr txBox="1"/>
          <p:nvPr/>
        </p:nvSpPr>
        <p:spPr>
          <a:xfrm>
            <a:off x="503474" y="2051179"/>
            <a:ext cx="2222500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backward_list: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320040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ahoma"/>
              <a:buChar char="●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[f, c, b, a]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7493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Iterate through the backward list.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Note how we’re properly going backward now!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32" name="Google Shape;83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0300" y="2213131"/>
            <a:ext cx="215257" cy="21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3145" y="3529858"/>
            <a:ext cx="169566" cy="32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34"/>
          <p:cNvGrpSpPr/>
          <p:nvPr/>
        </p:nvGrpSpPr>
        <p:grpSpPr>
          <a:xfrm>
            <a:off x="2909325" y="2127617"/>
            <a:ext cx="3550030" cy="1756053"/>
            <a:chOff x="2909325" y="2127617"/>
            <a:chExt cx="3550030" cy="1756053"/>
          </a:xfrm>
        </p:grpSpPr>
        <p:sp>
          <p:nvSpPr>
            <p:cNvPr id="835" name="Google Shape;835;p34"/>
            <p:cNvSpPr/>
            <p:nvPr/>
          </p:nvSpPr>
          <p:spPr>
            <a:xfrm>
              <a:off x="2909325" y="2127617"/>
              <a:ext cx="383540" cy="383540"/>
            </a:xfrm>
            <a:custGeom>
              <a:rect b="b" l="l" r="r" t="t"/>
              <a:pathLst>
                <a:path extrusionOk="0" h="383539" w="383539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2909325" y="2127617"/>
              <a:ext cx="383540" cy="383540"/>
            </a:xfrm>
            <a:custGeom>
              <a:rect b="b" l="l" r="r" t="t"/>
              <a:pathLst>
                <a:path extrusionOk="0" h="383539" w="383539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2909325" y="3500130"/>
              <a:ext cx="383540" cy="383540"/>
            </a:xfrm>
            <a:custGeom>
              <a:rect b="b" l="l" r="r" t="t"/>
              <a:pathLst>
                <a:path extrusionOk="0" h="383539" w="383539">
                  <a:moveTo>
                    <a:pt x="191549" y="383099"/>
                  </a:move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29094" y="3714"/>
                  </a:lnTo>
                  <a:lnTo>
                    <a:pt x="297822" y="32182"/>
                  </a:lnTo>
                  <a:lnTo>
                    <a:pt x="350917" y="85277"/>
                  </a:lnTo>
                  <a:lnTo>
                    <a:pt x="379385" y="154005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34"/>
            <p:cNvSpPr/>
            <p:nvPr/>
          </p:nvSpPr>
          <p:spPr>
            <a:xfrm>
              <a:off x="2909325" y="3500130"/>
              <a:ext cx="383540" cy="383540"/>
            </a:xfrm>
            <a:custGeom>
              <a:rect b="b" l="l" r="r" t="t"/>
              <a:pathLst>
                <a:path extrusionOk="0" h="383539" w="383539">
                  <a:moveTo>
                    <a:pt x="0" y="191549"/>
                  </a:moveTo>
                  <a:lnTo>
                    <a:pt x="5058" y="147629"/>
                  </a:lnTo>
                  <a:lnTo>
                    <a:pt x="19469" y="107311"/>
                  </a:lnTo>
                  <a:lnTo>
                    <a:pt x="42081" y="71745"/>
                  </a:lnTo>
                  <a:lnTo>
                    <a:pt x="71745" y="42081"/>
                  </a:lnTo>
                  <a:lnTo>
                    <a:pt x="107311" y="19469"/>
                  </a:lnTo>
                  <a:lnTo>
                    <a:pt x="147629" y="5058"/>
                  </a:lnTo>
                  <a:lnTo>
                    <a:pt x="191549" y="0"/>
                  </a:lnTo>
                  <a:lnTo>
                    <a:pt x="264853" y="14580"/>
                  </a:lnTo>
                  <a:lnTo>
                    <a:pt x="326996" y="56103"/>
                  </a:lnTo>
                  <a:lnTo>
                    <a:pt x="368519" y="118246"/>
                  </a:lnTo>
                  <a:lnTo>
                    <a:pt x="383099" y="191549"/>
                  </a:lnTo>
                  <a:lnTo>
                    <a:pt x="378041" y="235470"/>
                  </a:lnTo>
                  <a:lnTo>
                    <a:pt x="363630" y="275788"/>
                  </a:lnTo>
                  <a:lnTo>
                    <a:pt x="341018" y="311354"/>
                  </a:lnTo>
                  <a:lnTo>
                    <a:pt x="311354" y="341018"/>
                  </a:lnTo>
                  <a:lnTo>
                    <a:pt x="275788" y="363630"/>
                  </a:lnTo>
                  <a:lnTo>
                    <a:pt x="235470" y="378041"/>
                  </a:lnTo>
                  <a:lnTo>
                    <a:pt x="191549" y="383099"/>
                  </a:lnTo>
                  <a:lnTo>
                    <a:pt x="147629" y="378041"/>
                  </a:lnTo>
                  <a:lnTo>
                    <a:pt x="107311" y="363630"/>
                  </a:lnTo>
                  <a:lnTo>
                    <a:pt x="71745" y="341018"/>
                  </a:lnTo>
                  <a:lnTo>
                    <a:pt x="42081" y="311354"/>
                  </a:lnTo>
                  <a:lnTo>
                    <a:pt x="19469" y="275788"/>
                  </a:lnTo>
                  <a:lnTo>
                    <a:pt x="5058" y="235470"/>
                  </a:lnTo>
                  <a:lnTo>
                    <a:pt x="0" y="1915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34"/>
            <p:cNvSpPr/>
            <p:nvPr/>
          </p:nvSpPr>
          <p:spPr>
            <a:xfrm>
              <a:off x="3835292" y="2835267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411899" y="411899"/>
                  </a:moveTo>
                  <a:lnTo>
                    <a:pt x="0" y="4118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4118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3835292" y="2835267"/>
              <a:ext cx="412115" cy="412115"/>
            </a:xfrm>
            <a:custGeom>
              <a:rect b="b" l="l" r="r" t="t"/>
              <a:pathLst>
                <a:path extrusionOk="0" h="412114" w="412114">
                  <a:moveTo>
                    <a:pt x="0" y="0"/>
                  </a:moveTo>
                  <a:lnTo>
                    <a:pt x="411899" y="0"/>
                  </a:lnTo>
                  <a:lnTo>
                    <a:pt x="411899" y="411899"/>
                  </a:lnTo>
                  <a:lnTo>
                    <a:pt x="0" y="411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41" name="Google Shape;841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03082" y="2903056"/>
              <a:ext cx="276413" cy="2764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2" name="Google Shape;842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72037" y="2881594"/>
              <a:ext cx="276413" cy="319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3" name="Google Shape;843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09356" y="2816226"/>
              <a:ext cx="449999" cy="449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p34"/>
            <p:cNvSpPr/>
            <p:nvPr/>
          </p:nvSpPr>
          <p:spPr>
            <a:xfrm>
              <a:off x="3236321" y="3195308"/>
              <a:ext cx="539750" cy="361315"/>
            </a:xfrm>
            <a:custGeom>
              <a:rect b="b" l="l" r="r" t="t"/>
              <a:pathLst>
                <a:path extrusionOk="0" h="361314" w="539750">
                  <a:moveTo>
                    <a:pt x="0" y="360926"/>
                  </a:moveTo>
                  <a:lnTo>
                    <a:pt x="539596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3767171" y="317127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3" y="37109"/>
                  </a:moveTo>
                  <a:lnTo>
                    <a:pt x="0" y="10955"/>
                  </a:lnTo>
                  <a:lnTo>
                    <a:pt x="44675" y="0"/>
                  </a:lnTo>
                  <a:lnTo>
                    <a:pt x="17493" y="37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3767171" y="3171276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3" y="37109"/>
                  </a:moveTo>
                  <a:lnTo>
                    <a:pt x="44675" y="0"/>
                  </a:lnTo>
                  <a:lnTo>
                    <a:pt x="0" y="10955"/>
                  </a:lnTo>
                  <a:lnTo>
                    <a:pt x="17493" y="37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3236321" y="2454614"/>
              <a:ext cx="530225" cy="403225"/>
            </a:xfrm>
            <a:custGeom>
              <a:rect b="b" l="l" r="r" t="t"/>
              <a:pathLst>
                <a:path extrusionOk="0" h="403225" w="530225">
                  <a:moveTo>
                    <a:pt x="0" y="0"/>
                  </a:moveTo>
                  <a:lnTo>
                    <a:pt x="530205" y="4031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34"/>
            <p:cNvSpPr/>
            <p:nvPr/>
          </p:nvSpPr>
          <p:spPr>
            <a:xfrm>
              <a:off x="3757005" y="2845201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5"/>
                  </a:moveTo>
                  <a:lnTo>
                    <a:pt x="0" y="25048"/>
                  </a:lnTo>
                  <a:lnTo>
                    <a:pt x="19043" y="0"/>
                  </a:lnTo>
                  <a:lnTo>
                    <a:pt x="43931" y="38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34"/>
            <p:cNvSpPr/>
            <p:nvPr/>
          </p:nvSpPr>
          <p:spPr>
            <a:xfrm>
              <a:off x="3757005" y="2845201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8"/>
                  </a:moveTo>
                  <a:lnTo>
                    <a:pt x="43931" y="38685"/>
                  </a:lnTo>
                  <a:lnTo>
                    <a:pt x="19043" y="0"/>
                  </a:lnTo>
                  <a:lnTo>
                    <a:pt x="0" y="2504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34"/>
            <p:cNvSpPr/>
            <p:nvPr/>
          </p:nvSpPr>
          <p:spPr>
            <a:xfrm>
              <a:off x="4648450" y="3041255"/>
              <a:ext cx="1299845" cy="9525"/>
            </a:xfrm>
            <a:custGeom>
              <a:rect b="b" l="l" r="r" t="t"/>
              <a:pathLst>
                <a:path extrusionOk="0" h="9525" w="1299845">
                  <a:moveTo>
                    <a:pt x="0" y="0"/>
                  </a:moveTo>
                  <a:lnTo>
                    <a:pt x="1299451" y="89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34"/>
            <p:cNvSpPr/>
            <p:nvPr/>
          </p:nvSpPr>
          <p:spPr>
            <a:xfrm>
              <a:off x="5947794" y="303443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5" y="0"/>
                  </a:lnTo>
                  <a:lnTo>
                    <a:pt x="43332" y="16028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5947794" y="303443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2" y="16028"/>
                  </a:lnTo>
                  <a:lnTo>
                    <a:pt x="215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3292449" y="3196704"/>
              <a:ext cx="2645410" cy="495300"/>
            </a:xfrm>
            <a:custGeom>
              <a:rect b="b" l="l" r="r" t="t"/>
              <a:pathLst>
                <a:path extrusionOk="0" h="495300" w="2645410">
                  <a:moveTo>
                    <a:pt x="0" y="494987"/>
                  </a:moveTo>
                  <a:lnTo>
                    <a:pt x="26450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5934580" y="3181240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0" y="0"/>
                  </a:lnTo>
                  <a:lnTo>
                    <a:pt x="45381" y="7512"/>
                  </a:lnTo>
                  <a:lnTo>
                    <a:pt x="5787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5934580" y="3181240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7" y="30928"/>
                  </a:moveTo>
                  <a:lnTo>
                    <a:pt x="45381" y="7512"/>
                  </a:lnTo>
                  <a:lnTo>
                    <a:pt x="0" y="0"/>
                  </a:lnTo>
                  <a:lnTo>
                    <a:pt x="5787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856" name="Google Shape;856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8417" y="2847562"/>
            <a:ext cx="215257" cy="38739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4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Backward Method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5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Backward Method Pseudocode</a:t>
            </a:r>
            <a:endParaRPr/>
          </a:p>
        </p:txBody>
      </p:sp>
      <p:pic>
        <p:nvPicPr>
          <p:cNvPr id="863" name="Google Shape;86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49" y="1443970"/>
            <a:ext cx="79375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49" y="1748770"/>
            <a:ext cx="79375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49" y="2053570"/>
            <a:ext cx="79375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49" y="2205970"/>
            <a:ext cx="79375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49" y="2358370"/>
            <a:ext cx="79375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750" y="2510770"/>
            <a:ext cx="79375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49" y="2967970"/>
            <a:ext cx="79375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49" y="3120370"/>
            <a:ext cx="79375" cy="8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35"/>
          <p:cNvSpPr txBox="1"/>
          <p:nvPr/>
        </p:nvSpPr>
        <p:spPr>
          <a:xfrm>
            <a:off x="625473" y="1393170"/>
            <a:ext cx="420751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Initialize the current node’s grad to an array of all 1’s as a placeholder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initialize backward_list as an empty list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Tahoma"/>
                <a:ea typeface="Tahoma"/>
                <a:cs typeface="Tahoma"/>
                <a:sym typeface="Tahoma"/>
              </a:rPr>
              <a:t>Recursively </a:t>
            </a: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take in a node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marR="8883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If the node is already in the backward_list, skip Iterate through the node’s parents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recursively build the list from the parent nodes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Iterate through all the nodes in backward_list: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if the node has parents, call node.backward_fn()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72" name="Google Shape;87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8638" y="4490034"/>
            <a:ext cx="144096" cy="275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3" name="Google Shape;873;p35"/>
          <p:cNvGrpSpPr/>
          <p:nvPr/>
        </p:nvGrpSpPr>
        <p:grpSpPr>
          <a:xfrm>
            <a:off x="4879225" y="3298425"/>
            <a:ext cx="3256833" cy="1492102"/>
            <a:chOff x="4879225" y="3298425"/>
            <a:chExt cx="3256833" cy="1492102"/>
          </a:xfrm>
        </p:grpSpPr>
        <p:sp>
          <p:nvSpPr>
            <p:cNvPr id="874" name="Google Shape;874;p35"/>
            <p:cNvSpPr/>
            <p:nvPr/>
          </p:nvSpPr>
          <p:spPr>
            <a:xfrm>
              <a:off x="5116338" y="3298425"/>
              <a:ext cx="325755" cy="325755"/>
            </a:xfrm>
            <a:custGeom>
              <a:rect b="b" l="l" r="r" t="t"/>
              <a:pathLst>
                <a:path extrusionOk="0" h="325754" w="325754">
                  <a:moveTo>
                    <a:pt x="162749" y="325499"/>
                  </a:moveTo>
                  <a:lnTo>
                    <a:pt x="119484" y="319686"/>
                  </a:lnTo>
                  <a:lnTo>
                    <a:pt x="80606" y="303279"/>
                  </a:lnTo>
                  <a:lnTo>
                    <a:pt x="47668" y="277831"/>
                  </a:lnTo>
                  <a:lnTo>
                    <a:pt x="22220" y="244892"/>
                  </a:lnTo>
                  <a:lnTo>
                    <a:pt x="5813" y="206015"/>
                  </a:lnTo>
                  <a:lnTo>
                    <a:pt x="0" y="162749"/>
                  </a:lnTo>
                  <a:lnTo>
                    <a:pt x="5813" y="119484"/>
                  </a:lnTo>
                  <a:lnTo>
                    <a:pt x="22220" y="80606"/>
                  </a:lnTo>
                  <a:lnTo>
                    <a:pt x="47668" y="47668"/>
                  </a:lnTo>
                  <a:lnTo>
                    <a:pt x="80606" y="22220"/>
                  </a:lnTo>
                  <a:lnTo>
                    <a:pt x="119484" y="5813"/>
                  </a:lnTo>
                  <a:lnTo>
                    <a:pt x="162749" y="0"/>
                  </a:lnTo>
                  <a:lnTo>
                    <a:pt x="194649" y="3156"/>
                  </a:lnTo>
                  <a:lnTo>
                    <a:pt x="253043" y="27343"/>
                  </a:lnTo>
                  <a:lnTo>
                    <a:pt x="298156" y="72456"/>
                  </a:lnTo>
                  <a:lnTo>
                    <a:pt x="322343" y="130850"/>
                  </a:lnTo>
                  <a:lnTo>
                    <a:pt x="325499" y="162749"/>
                  </a:lnTo>
                  <a:lnTo>
                    <a:pt x="319686" y="206015"/>
                  </a:lnTo>
                  <a:lnTo>
                    <a:pt x="303279" y="244892"/>
                  </a:lnTo>
                  <a:lnTo>
                    <a:pt x="277831" y="277831"/>
                  </a:lnTo>
                  <a:lnTo>
                    <a:pt x="244893" y="303279"/>
                  </a:lnTo>
                  <a:lnTo>
                    <a:pt x="206015" y="319686"/>
                  </a:lnTo>
                  <a:lnTo>
                    <a:pt x="162749" y="3254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35"/>
            <p:cNvSpPr/>
            <p:nvPr/>
          </p:nvSpPr>
          <p:spPr>
            <a:xfrm>
              <a:off x="5116338" y="3298425"/>
              <a:ext cx="325755" cy="325755"/>
            </a:xfrm>
            <a:custGeom>
              <a:rect b="b" l="l" r="r" t="t"/>
              <a:pathLst>
                <a:path extrusionOk="0" h="325754" w="325754">
                  <a:moveTo>
                    <a:pt x="0" y="162749"/>
                  </a:moveTo>
                  <a:lnTo>
                    <a:pt x="5813" y="119484"/>
                  </a:lnTo>
                  <a:lnTo>
                    <a:pt x="22220" y="80606"/>
                  </a:lnTo>
                  <a:lnTo>
                    <a:pt x="47668" y="47668"/>
                  </a:lnTo>
                  <a:lnTo>
                    <a:pt x="80606" y="22220"/>
                  </a:lnTo>
                  <a:lnTo>
                    <a:pt x="119484" y="5813"/>
                  </a:lnTo>
                  <a:lnTo>
                    <a:pt x="162749" y="0"/>
                  </a:lnTo>
                  <a:lnTo>
                    <a:pt x="225031" y="12388"/>
                  </a:lnTo>
                  <a:lnTo>
                    <a:pt x="277831" y="47668"/>
                  </a:lnTo>
                  <a:lnTo>
                    <a:pt x="313111" y="100468"/>
                  </a:lnTo>
                  <a:lnTo>
                    <a:pt x="325499" y="162749"/>
                  </a:lnTo>
                  <a:lnTo>
                    <a:pt x="319686" y="206015"/>
                  </a:lnTo>
                  <a:lnTo>
                    <a:pt x="303279" y="244892"/>
                  </a:lnTo>
                  <a:lnTo>
                    <a:pt x="277831" y="277831"/>
                  </a:lnTo>
                  <a:lnTo>
                    <a:pt x="244893" y="303279"/>
                  </a:lnTo>
                  <a:lnTo>
                    <a:pt x="206015" y="319686"/>
                  </a:lnTo>
                  <a:lnTo>
                    <a:pt x="162749" y="325499"/>
                  </a:lnTo>
                  <a:lnTo>
                    <a:pt x="119484" y="319686"/>
                  </a:lnTo>
                  <a:lnTo>
                    <a:pt x="80606" y="303279"/>
                  </a:lnTo>
                  <a:lnTo>
                    <a:pt x="47668" y="277831"/>
                  </a:lnTo>
                  <a:lnTo>
                    <a:pt x="22220" y="244892"/>
                  </a:lnTo>
                  <a:lnTo>
                    <a:pt x="5813" y="206015"/>
                  </a:lnTo>
                  <a:lnTo>
                    <a:pt x="0" y="1627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35"/>
            <p:cNvSpPr/>
            <p:nvPr/>
          </p:nvSpPr>
          <p:spPr>
            <a:xfrm>
              <a:off x="5116338" y="4464772"/>
              <a:ext cx="325755" cy="325755"/>
            </a:xfrm>
            <a:custGeom>
              <a:rect b="b" l="l" r="r" t="t"/>
              <a:pathLst>
                <a:path extrusionOk="0" h="325754" w="325754">
                  <a:moveTo>
                    <a:pt x="162749" y="325499"/>
                  </a:moveTo>
                  <a:lnTo>
                    <a:pt x="119484" y="319686"/>
                  </a:lnTo>
                  <a:lnTo>
                    <a:pt x="80606" y="303279"/>
                  </a:lnTo>
                  <a:lnTo>
                    <a:pt x="47668" y="277831"/>
                  </a:lnTo>
                  <a:lnTo>
                    <a:pt x="22220" y="244892"/>
                  </a:lnTo>
                  <a:lnTo>
                    <a:pt x="5813" y="206015"/>
                  </a:lnTo>
                  <a:lnTo>
                    <a:pt x="0" y="162749"/>
                  </a:lnTo>
                  <a:lnTo>
                    <a:pt x="5813" y="119484"/>
                  </a:lnTo>
                  <a:lnTo>
                    <a:pt x="22220" y="80606"/>
                  </a:lnTo>
                  <a:lnTo>
                    <a:pt x="47668" y="47668"/>
                  </a:lnTo>
                  <a:lnTo>
                    <a:pt x="80606" y="22220"/>
                  </a:lnTo>
                  <a:lnTo>
                    <a:pt x="119484" y="5813"/>
                  </a:lnTo>
                  <a:lnTo>
                    <a:pt x="162749" y="0"/>
                  </a:lnTo>
                  <a:lnTo>
                    <a:pt x="194649" y="3156"/>
                  </a:lnTo>
                  <a:lnTo>
                    <a:pt x="253043" y="27343"/>
                  </a:lnTo>
                  <a:lnTo>
                    <a:pt x="298156" y="72456"/>
                  </a:lnTo>
                  <a:lnTo>
                    <a:pt x="322343" y="130850"/>
                  </a:lnTo>
                  <a:lnTo>
                    <a:pt x="325499" y="162749"/>
                  </a:lnTo>
                  <a:lnTo>
                    <a:pt x="319686" y="206015"/>
                  </a:lnTo>
                  <a:lnTo>
                    <a:pt x="303279" y="244892"/>
                  </a:lnTo>
                  <a:lnTo>
                    <a:pt x="277831" y="277831"/>
                  </a:lnTo>
                  <a:lnTo>
                    <a:pt x="244893" y="303279"/>
                  </a:lnTo>
                  <a:lnTo>
                    <a:pt x="206015" y="319686"/>
                  </a:lnTo>
                  <a:lnTo>
                    <a:pt x="162749" y="3254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35"/>
            <p:cNvSpPr/>
            <p:nvPr/>
          </p:nvSpPr>
          <p:spPr>
            <a:xfrm>
              <a:off x="5116338" y="4464772"/>
              <a:ext cx="325755" cy="325755"/>
            </a:xfrm>
            <a:custGeom>
              <a:rect b="b" l="l" r="r" t="t"/>
              <a:pathLst>
                <a:path extrusionOk="0" h="325754" w="325754">
                  <a:moveTo>
                    <a:pt x="0" y="162749"/>
                  </a:moveTo>
                  <a:lnTo>
                    <a:pt x="5813" y="119484"/>
                  </a:lnTo>
                  <a:lnTo>
                    <a:pt x="22220" y="80606"/>
                  </a:lnTo>
                  <a:lnTo>
                    <a:pt x="47668" y="47668"/>
                  </a:lnTo>
                  <a:lnTo>
                    <a:pt x="80606" y="22220"/>
                  </a:lnTo>
                  <a:lnTo>
                    <a:pt x="119484" y="5813"/>
                  </a:lnTo>
                  <a:lnTo>
                    <a:pt x="162749" y="0"/>
                  </a:lnTo>
                  <a:lnTo>
                    <a:pt x="225031" y="12388"/>
                  </a:lnTo>
                  <a:lnTo>
                    <a:pt x="277831" y="47668"/>
                  </a:lnTo>
                  <a:lnTo>
                    <a:pt x="313111" y="100468"/>
                  </a:lnTo>
                  <a:lnTo>
                    <a:pt x="325499" y="162749"/>
                  </a:lnTo>
                  <a:lnTo>
                    <a:pt x="319686" y="206015"/>
                  </a:lnTo>
                  <a:lnTo>
                    <a:pt x="303279" y="244892"/>
                  </a:lnTo>
                  <a:lnTo>
                    <a:pt x="277831" y="277831"/>
                  </a:lnTo>
                  <a:lnTo>
                    <a:pt x="244893" y="303279"/>
                  </a:lnTo>
                  <a:lnTo>
                    <a:pt x="206015" y="319686"/>
                  </a:lnTo>
                  <a:lnTo>
                    <a:pt x="162749" y="325499"/>
                  </a:lnTo>
                  <a:lnTo>
                    <a:pt x="119484" y="319686"/>
                  </a:lnTo>
                  <a:lnTo>
                    <a:pt x="80606" y="303279"/>
                  </a:lnTo>
                  <a:lnTo>
                    <a:pt x="47668" y="277831"/>
                  </a:lnTo>
                  <a:lnTo>
                    <a:pt x="22220" y="244892"/>
                  </a:lnTo>
                  <a:lnTo>
                    <a:pt x="5813" y="206015"/>
                  </a:lnTo>
                  <a:lnTo>
                    <a:pt x="0" y="1627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78" name="Google Shape;878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79225" y="3371094"/>
              <a:ext cx="182924" cy="180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35"/>
            <p:cNvSpPr/>
            <p:nvPr/>
          </p:nvSpPr>
          <p:spPr>
            <a:xfrm>
              <a:off x="5903218" y="3899779"/>
              <a:ext cx="350520" cy="350520"/>
            </a:xfrm>
            <a:custGeom>
              <a:rect b="b" l="l" r="r" t="t"/>
              <a:pathLst>
                <a:path extrusionOk="0" h="350520" w="350520">
                  <a:moveTo>
                    <a:pt x="350099" y="350099"/>
                  </a:moveTo>
                  <a:lnTo>
                    <a:pt x="0" y="350099"/>
                  </a:lnTo>
                  <a:lnTo>
                    <a:pt x="0" y="0"/>
                  </a:lnTo>
                  <a:lnTo>
                    <a:pt x="350099" y="0"/>
                  </a:lnTo>
                  <a:lnTo>
                    <a:pt x="350099" y="3500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35"/>
            <p:cNvSpPr/>
            <p:nvPr/>
          </p:nvSpPr>
          <p:spPr>
            <a:xfrm>
              <a:off x="5903218" y="3899779"/>
              <a:ext cx="350520" cy="350520"/>
            </a:xfrm>
            <a:custGeom>
              <a:rect b="b" l="l" r="r" t="t"/>
              <a:pathLst>
                <a:path extrusionOk="0" h="350520" w="350520">
                  <a:moveTo>
                    <a:pt x="0" y="0"/>
                  </a:moveTo>
                  <a:lnTo>
                    <a:pt x="350099" y="0"/>
                  </a:lnTo>
                  <a:lnTo>
                    <a:pt x="350099" y="350099"/>
                  </a:lnTo>
                  <a:lnTo>
                    <a:pt x="0" y="3500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81" name="Google Shape;881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60825" y="3957385"/>
              <a:ext cx="234894" cy="234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2" name="Google Shape;882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59340" y="3939146"/>
              <a:ext cx="234894" cy="271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3" name="Google Shape;883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47859" y="3880736"/>
              <a:ext cx="388199" cy="388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Google Shape;884;p35"/>
            <p:cNvSpPr/>
            <p:nvPr/>
          </p:nvSpPr>
          <p:spPr>
            <a:xfrm>
              <a:off x="5394170" y="4210607"/>
              <a:ext cx="451484" cy="302260"/>
            </a:xfrm>
            <a:custGeom>
              <a:rect b="b" l="l" r="r" t="t"/>
              <a:pathLst>
                <a:path extrusionOk="0" h="302260" w="451485">
                  <a:moveTo>
                    <a:pt x="0" y="301832"/>
                  </a:moveTo>
                  <a:lnTo>
                    <a:pt x="45139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5836817" y="4186580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0" y="37104"/>
                  </a:moveTo>
                  <a:lnTo>
                    <a:pt x="0" y="10948"/>
                  </a:lnTo>
                  <a:lnTo>
                    <a:pt x="44677" y="0"/>
                  </a:lnTo>
                  <a:lnTo>
                    <a:pt x="17490" y="371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5836817" y="4186580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90" y="37104"/>
                  </a:moveTo>
                  <a:lnTo>
                    <a:pt x="44677" y="0"/>
                  </a:lnTo>
                  <a:lnTo>
                    <a:pt x="0" y="10948"/>
                  </a:lnTo>
                  <a:lnTo>
                    <a:pt x="17490" y="3710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5394170" y="3576257"/>
              <a:ext cx="443865" cy="337820"/>
            </a:xfrm>
            <a:custGeom>
              <a:rect b="b" l="l" r="r" t="t"/>
              <a:pathLst>
                <a:path extrusionOk="0" h="337820" w="443864">
                  <a:moveTo>
                    <a:pt x="0" y="0"/>
                  </a:moveTo>
                  <a:lnTo>
                    <a:pt x="443804" y="3374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8" name="Google Shape;888;p35"/>
            <p:cNvSpPr/>
            <p:nvPr/>
          </p:nvSpPr>
          <p:spPr>
            <a:xfrm>
              <a:off x="5828454" y="390114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1" y="38684"/>
                  </a:moveTo>
                  <a:lnTo>
                    <a:pt x="0" y="25048"/>
                  </a:lnTo>
                  <a:lnTo>
                    <a:pt x="19043" y="0"/>
                  </a:lnTo>
                  <a:lnTo>
                    <a:pt x="43931" y="386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9" name="Google Shape;889;p35"/>
            <p:cNvSpPr/>
            <p:nvPr/>
          </p:nvSpPr>
          <p:spPr>
            <a:xfrm>
              <a:off x="5828454" y="3901145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8"/>
                  </a:moveTo>
                  <a:lnTo>
                    <a:pt x="43931" y="38684"/>
                  </a:lnTo>
                  <a:lnTo>
                    <a:pt x="19043" y="0"/>
                  </a:lnTo>
                  <a:lnTo>
                    <a:pt x="0" y="2504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6594234" y="4074824"/>
              <a:ext cx="1096010" cy="7620"/>
            </a:xfrm>
            <a:custGeom>
              <a:rect b="b" l="l" r="r" t="t"/>
              <a:pathLst>
                <a:path extrusionOk="0" h="7620" w="1096009">
                  <a:moveTo>
                    <a:pt x="0" y="0"/>
                  </a:moveTo>
                  <a:lnTo>
                    <a:pt x="1095751" y="74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7689878" y="4066505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213" y="0"/>
                  </a:lnTo>
                  <a:lnTo>
                    <a:pt x="43330" y="1602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7689878" y="4066505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4"/>
                  </a:moveTo>
                  <a:lnTo>
                    <a:pt x="43330" y="16024"/>
                  </a:lnTo>
                  <a:lnTo>
                    <a:pt x="213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5441913" y="4208471"/>
              <a:ext cx="2239645" cy="419100"/>
            </a:xfrm>
            <a:custGeom>
              <a:rect b="b" l="l" r="r" t="t"/>
              <a:pathLst>
                <a:path extrusionOk="0" h="419100" w="2239645">
                  <a:moveTo>
                    <a:pt x="0" y="419087"/>
                  </a:moveTo>
                  <a:lnTo>
                    <a:pt x="223942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7678444" y="4193007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8" y="30928"/>
                  </a:moveTo>
                  <a:lnTo>
                    <a:pt x="0" y="0"/>
                  </a:lnTo>
                  <a:lnTo>
                    <a:pt x="45382" y="7512"/>
                  </a:lnTo>
                  <a:lnTo>
                    <a:pt x="5788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7678444" y="4193007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8" y="30928"/>
                  </a:moveTo>
                  <a:lnTo>
                    <a:pt x="45382" y="7512"/>
                  </a:lnTo>
                  <a:lnTo>
                    <a:pt x="0" y="0"/>
                  </a:lnTo>
                  <a:lnTo>
                    <a:pt x="5788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896" name="Google Shape;896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51301" y="3910226"/>
            <a:ext cx="182923" cy="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6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Backward Method Code</a:t>
            </a:r>
            <a:endParaRPr/>
          </a:p>
        </p:txBody>
      </p:sp>
      <p:sp>
        <p:nvSpPr>
          <p:cNvPr id="902" name="Google Shape;902;p36"/>
          <p:cNvSpPr txBox="1"/>
          <p:nvPr/>
        </p:nvSpPr>
        <p:spPr>
          <a:xfrm>
            <a:off x="604550" y="1313950"/>
            <a:ext cx="6856095" cy="313817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US" sz="8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-266700" lvl="0" marL="530860" marR="5196205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8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backward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backward_list = 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15619" marR="4128770" rtl="0" algn="l">
              <a:lnSpc>
                <a:spcPct val="1357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.grad = np.ones_like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.data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8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8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build_backward_list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-252094" lvl="0" marL="1019175" marR="425450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 </a:t>
            </a:r>
            <a:r>
              <a:rPr lang="en-US" sz="850">
                <a:solidFill>
                  <a:srgbClr val="82C6FF"/>
                </a:solidFill>
                <a:latin typeface="Courier New"/>
                <a:ea typeface="Courier New"/>
                <a:cs typeface="Courier New"/>
                <a:sym typeface="Courier New"/>
              </a:rPr>
              <a:t>not in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backward_list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backward_list.appen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dn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8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parent </a:t>
            </a:r>
            <a:r>
              <a:rPr lang="en-US" sz="850">
                <a:solidFill>
                  <a:srgbClr val="82C6FF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n._parents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777240" lvl="0" marL="530860" marR="3877309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build_backward_lis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tparent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build_backward_list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8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-252095" lvl="0" marL="767080" marR="4694555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node </a:t>
            </a:r>
            <a:r>
              <a:rPr lang="en-US" sz="850">
                <a:solidFill>
                  <a:srgbClr val="82C6FF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backward_list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8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node._parents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902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node.backward_fn</a:t>
            </a:r>
            <a:r>
              <a:rPr lang="en-US" sz="8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7"/>
          <p:cNvSpPr txBox="1"/>
          <p:nvPr>
            <p:ph type="ctrTitle"/>
          </p:nvPr>
        </p:nvSpPr>
        <p:spPr>
          <a:xfrm>
            <a:off x="301625" y="243286"/>
            <a:ext cx="6689090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make this computational graph now!</a:t>
            </a:r>
            <a:endParaRPr/>
          </a:p>
        </p:txBody>
      </p:sp>
      <p:pic>
        <p:nvPicPr>
          <p:cNvPr id="908" name="Google Shape;90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2925" y="2954714"/>
            <a:ext cx="217268" cy="2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5983" y="4283738"/>
            <a:ext cx="171150" cy="326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0" name="Google Shape;910;p37"/>
          <p:cNvGrpSpPr/>
          <p:nvPr/>
        </p:nvGrpSpPr>
        <p:grpSpPr>
          <a:xfrm>
            <a:off x="2294557" y="2868401"/>
            <a:ext cx="3583063" cy="1772047"/>
            <a:chOff x="2294557" y="2868401"/>
            <a:chExt cx="3583063" cy="1772047"/>
          </a:xfrm>
        </p:grpSpPr>
        <p:sp>
          <p:nvSpPr>
            <p:cNvPr id="911" name="Google Shape;911;p37"/>
            <p:cNvSpPr/>
            <p:nvPr/>
          </p:nvSpPr>
          <p:spPr>
            <a:xfrm>
              <a:off x="2294557" y="2868401"/>
              <a:ext cx="386715" cy="386715"/>
            </a:xfrm>
            <a:custGeom>
              <a:rect b="b" l="l" r="r" t="t"/>
              <a:pathLst>
                <a:path extrusionOk="0" h="386714" w="386714">
                  <a:moveTo>
                    <a:pt x="193349" y="386699"/>
                  </a:moveTo>
                  <a:lnTo>
                    <a:pt x="149016" y="381593"/>
                  </a:lnTo>
                  <a:lnTo>
                    <a:pt x="108319" y="367047"/>
                  </a:lnTo>
                  <a:lnTo>
                    <a:pt x="72419" y="344223"/>
                  </a:lnTo>
                  <a:lnTo>
                    <a:pt x="42476" y="314280"/>
                  </a:lnTo>
                  <a:lnTo>
                    <a:pt x="19652" y="278380"/>
                  </a:lnTo>
                  <a:lnTo>
                    <a:pt x="5106" y="237683"/>
                  </a:lnTo>
                  <a:lnTo>
                    <a:pt x="0" y="193349"/>
                  </a:lnTo>
                  <a:lnTo>
                    <a:pt x="5106" y="149016"/>
                  </a:lnTo>
                  <a:lnTo>
                    <a:pt x="19652" y="108319"/>
                  </a:lnTo>
                  <a:lnTo>
                    <a:pt x="42476" y="72419"/>
                  </a:lnTo>
                  <a:lnTo>
                    <a:pt x="72419" y="42476"/>
                  </a:lnTo>
                  <a:lnTo>
                    <a:pt x="108319" y="19652"/>
                  </a:lnTo>
                  <a:lnTo>
                    <a:pt x="149016" y="5106"/>
                  </a:lnTo>
                  <a:lnTo>
                    <a:pt x="193349" y="0"/>
                  </a:lnTo>
                  <a:lnTo>
                    <a:pt x="231246" y="3749"/>
                  </a:lnTo>
                  <a:lnTo>
                    <a:pt x="300620" y="32485"/>
                  </a:lnTo>
                  <a:lnTo>
                    <a:pt x="354214" y="86079"/>
                  </a:lnTo>
                  <a:lnTo>
                    <a:pt x="382950" y="155453"/>
                  </a:lnTo>
                  <a:lnTo>
                    <a:pt x="386699" y="193349"/>
                  </a:lnTo>
                  <a:lnTo>
                    <a:pt x="381593" y="237683"/>
                  </a:lnTo>
                  <a:lnTo>
                    <a:pt x="367047" y="278380"/>
                  </a:lnTo>
                  <a:lnTo>
                    <a:pt x="344223" y="314280"/>
                  </a:lnTo>
                  <a:lnTo>
                    <a:pt x="314280" y="344223"/>
                  </a:lnTo>
                  <a:lnTo>
                    <a:pt x="278380" y="367047"/>
                  </a:lnTo>
                  <a:lnTo>
                    <a:pt x="237683" y="381593"/>
                  </a:lnTo>
                  <a:lnTo>
                    <a:pt x="193349" y="3866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37"/>
            <p:cNvSpPr/>
            <p:nvPr/>
          </p:nvSpPr>
          <p:spPr>
            <a:xfrm>
              <a:off x="2294557" y="2868401"/>
              <a:ext cx="386715" cy="386715"/>
            </a:xfrm>
            <a:custGeom>
              <a:rect b="b" l="l" r="r" t="t"/>
              <a:pathLst>
                <a:path extrusionOk="0" h="386714" w="386714">
                  <a:moveTo>
                    <a:pt x="0" y="193349"/>
                  </a:moveTo>
                  <a:lnTo>
                    <a:pt x="5106" y="149016"/>
                  </a:lnTo>
                  <a:lnTo>
                    <a:pt x="19652" y="108319"/>
                  </a:lnTo>
                  <a:lnTo>
                    <a:pt x="42476" y="72419"/>
                  </a:lnTo>
                  <a:lnTo>
                    <a:pt x="72419" y="42476"/>
                  </a:lnTo>
                  <a:lnTo>
                    <a:pt x="108319" y="19652"/>
                  </a:lnTo>
                  <a:lnTo>
                    <a:pt x="149016" y="5106"/>
                  </a:lnTo>
                  <a:lnTo>
                    <a:pt x="193349" y="0"/>
                  </a:lnTo>
                  <a:lnTo>
                    <a:pt x="267341" y="14718"/>
                  </a:lnTo>
                  <a:lnTo>
                    <a:pt x="330068" y="56631"/>
                  </a:lnTo>
                  <a:lnTo>
                    <a:pt x="371982" y="119358"/>
                  </a:lnTo>
                  <a:lnTo>
                    <a:pt x="386699" y="193349"/>
                  </a:lnTo>
                  <a:lnTo>
                    <a:pt x="381593" y="237683"/>
                  </a:lnTo>
                  <a:lnTo>
                    <a:pt x="367047" y="278380"/>
                  </a:lnTo>
                  <a:lnTo>
                    <a:pt x="344223" y="314280"/>
                  </a:lnTo>
                  <a:lnTo>
                    <a:pt x="314280" y="344223"/>
                  </a:lnTo>
                  <a:lnTo>
                    <a:pt x="278380" y="367047"/>
                  </a:lnTo>
                  <a:lnTo>
                    <a:pt x="237683" y="381593"/>
                  </a:lnTo>
                  <a:lnTo>
                    <a:pt x="193349" y="386699"/>
                  </a:lnTo>
                  <a:lnTo>
                    <a:pt x="149016" y="381593"/>
                  </a:lnTo>
                  <a:lnTo>
                    <a:pt x="108319" y="367047"/>
                  </a:lnTo>
                  <a:lnTo>
                    <a:pt x="72419" y="344223"/>
                  </a:lnTo>
                  <a:lnTo>
                    <a:pt x="42476" y="314280"/>
                  </a:lnTo>
                  <a:lnTo>
                    <a:pt x="19652" y="278380"/>
                  </a:lnTo>
                  <a:lnTo>
                    <a:pt x="5106" y="237683"/>
                  </a:lnTo>
                  <a:lnTo>
                    <a:pt x="0" y="1933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37"/>
            <p:cNvSpPr/>
            <p:nvPr/>
          </p:nvSpPr>
          <p:spPr>
            <a:xfrm>
              <a:off x="2294557" y="4253733"/>
              <a:ext cx="386715" cy="386715"/>
            </a:xfrm>
            <a:custGeom>
              <a:rect b="b" l="l" r="r" t="t"/>
              <a:pathLst>
                <a:path extrusionOk="0" h="386714" w="386714">
                  <a:moveTo>
                    <a:pt x="193349" y="386699"/>
                  </a:moveTo>
                  <a:lnTo>
                    <a:pt x="149016" y="381593"/>
                  </a:lnTo>
                  <a:lnTo>
                    <a:pt x="108319" y="367047"/>
                  </a:lnTo>
                  <a:lnTo>
                    <a:pt x="72419" y="344223"/>
                  </a:lnTo>
                  <a:lnTo>
                    <a:pt x="42476" y="314280"/>
                  </a:lnTo>
                  <a:lnTo>
                    <a:pt x="19652" y="278380"/>
                  </a:lnTo>
                  <a:lnTo>
                    <a:pt x="5106" y="237683"/>
                  </a:lnTo>
                  <a:lnTo>
                    <a:pt x="0" y="193349"/>
                  </a:lnTo>
                  <a:lnTo>
                    <a:pt x="5106" y="149016"/>
                  </a:lnTo>
                  <a:lnTo>
                    <a:pt x="19652" y="108319"/>
                  </a:lnTo>
                  <a:lnTo>
                    <a:pt x="42476" y="72419"/>
                  </a:lnTo>
                  <a:lnTo>
                    <a:pt x="72419" y="42476"/>
                  </a:lnTo>
                  <a:lnTo>
                    <a:pt x="108319" y="19652"/>
                  </a:lnTo>
                  <a:lnTo>
                    <a:pt x="149016" y="5106"/>
                  </a:lnTo>
                  <a:lnTo>
                    <a:pt x="193349" y="0"/>
                  </a:lnTo>
                  <a:lnTo>
                    <a:pt x="231246" y="3749"/>
                  </a:lnTo>
                  <a:lnTo>
                    <a:pt x="300620" y="32485"/>
                  </a:lnTo>
                  <a:lnTo>
                    <a:pt x="354214" y="86079"/>
                  </a:lnTo>
                  <a:lnTo>
                    <a:pt x="382950" y="155453"/>
                  </a:lnTo>
                  <a:lnTo>
                    <a:pt x="386699" y="193349"/>
                  </a:lnTo>
                  <a:lnTo>
                    <a:pt x="381593" y="237683"/>
                  </a:lnTo>
                  <a:lnTo>
                    <a:pt x="367047" y="278380"/>
                  </a:lnTo>
                  <a:lnTo>
                    <a:pt x="344223" y="314280"/>
                  </a:lnTo>
                  <a:lnTo>
                    <a:pt x="314280" y="344223"/>
                  </a:lnTo>
                  <a:lnTo>
                    <a:pt x="278380" y="367047"/>
                  </a:lnTo>
                  <a:lnTo>
                    <a:pt x="237683" y="381593"/>
                  </a:lnTo>
                  <a:lnTo>
                    <a:pt x="193349" y="386699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37"/>
            <p:cNvSpPr/>
            <p:nvPr/>
          </p:nvSpPr>
          <p:spPr>
            <a:xfrm>
              <a:off x="2294557" y="4253733"/>
              <a:ext cx="386715" cy="386715"/>
            </a:xfrm>
            <a:custGeom>
              <a:rect b="b" l="l" r="r" t="t"/>
              <a:pathLst>
                <a:path extrusionOk="0" h="386714" w="386714">
                  <a:moveTo>
                    <a:pt x="0" y="193349"/>
                  </a:moveTo>
                  <a:lnTo>
                    <a:pt x="5106" y="149016"/>
                  </a:lnTo>
                  <a:lnTo>
                    <a:pt x="19652" y="108319"/>
                  </a:lnTo>
                  <a:lnTo>
                    <a:pt x="42476" y="72419"/>
                  </a:lnTo>
                  <a:lnTo>
                    <a:pt x="72419" y="42476"/>
                  </a:lnTo>
                  <a:lnTo>
                    <a:pt x="108319" y="19652"/>
                  </a:lnTo>
                  <a:lnTo>
                    <a:pt x="149016" y="5106"/>
                  </a:lnTo>
                  <a:lnTo>
                    <a:pt x="193349" y="0"/>
                  </a:lnTo>
                  <a:lnTo>
                    <a:pt x="267341" y="14717"/>
                  </a:lnTo>
                  <a:lnTo>
                    <a:pt x="330068" y="56630"/>
                  </a:lnTo>
                  <a:lnTo>
                    <a:pt x="371982" y="119358"/>
                  </a:lnTo>
                  <a:lnTo>
                    <a:pt x="386699" y="193349"/>
                  </a:lnTo>
                  <a:lnTo>
                    <a:pt x="381593" y="237683"/>
                  </a:lnTo>
                  <a:lnTo>
                    <a:pt x="367047" y="278380"/>
                  </a:lnTo>
                  <a:lnTo>
                    <a:pt x="344223" y="314280"/>
                  </a:lnTo>
                  <a:lnTo>
                    <a:pt x="314280" y="344223"/>
                  </a:lnTo>
                  <a:lnTo>
                    <a:pt x="278380" y="367047"/>
                  </a:lnTo>
                  <a:lnTo>
                    <a:pt x="237683" y="381593"/>
                  </a:lnTo>
                  <a:lnTo>
                    <a:pt x="193349" y="386699"/>
                  </a:lnTo>
                  <a:lnTo>
                    <a:pt x="149016" y="381593"/>
                  </a:lnTo>
                  <a:lnTo>
                    <a:pt x="108319" y="367047"/>
                  </a:lnTo>
                  <a:lnTo>
                    <a:pt x="72419" y="344223"/>
                  </a:lnTo>
                  <a:lnTo>
                    <a:pt x="42476" y="314280"/>
                  </a:lnTo>
                  <a:lnTo>
                    <a:pt x="19652" y="278380"/>
                  </a:lnTo>
                  <a:lnTo>
                    <a:pt x="5106" y="237683"/>
                  </a:lnTo>
                  <a:lnTo>
                    <a:pt x="0" y="193349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37"/>
            <p:cNvSpPr/>
            <p:nvPr/>
          </p:nvSpPr>
          <p:spPr>
            <a:xfrm>
              <a:off x="3229173" y="3582660"/>
              <a:ext cx="415925" cy="415925"/>
            </a:xfrm>
            <a:custGeom>
              <a:rect b="b" l="l" r="r" t="t"/>
              <a:pathLst>
                <a:path extrusionOk="0" h="415925" w="415925">
                  <a:moveTo>
                    <a:pt x="415799" y="415799"/>
                  </a:moveTo>
                  <a:lnTo>
                    <a:pt x="0" y="415799"/>
                  </a:lnTo>
                  <a:lnTo>
                    <a:pt x="0" y="0"/>
                  </a:lnTo>
                  <a:lnTo>
                    <a:pt x="415799" y="0"/>
                  </a:lnTo>
                  <a:lnTo>
                    <a:pt x="415799" y="4157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3229173" y="3582660"/>
              <a:ext cx="415925" cy="415925"/>
            </a:xfrm>
            <a:custGeom>
              <a:rect b="b" l="l" r="r" t="t"/>
              <a:pathLst>
                <a:path extrusionOk="0" h="415925" w="415925">
                  <a:moveTo>
                    <a:pt x="0" y="0"/>
                  </a:moveTo>
                  <a:lnTo>
                    <a:pt x="415799" y="0"/>
                  </a:lnTo>
                  <a:lnTo>
                    <a:pt x="415799" y="415799"/>
                  </a:lnTo>
                  <a:lnTo>
                    <a:pt x="0" y="4157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17" name="Google Shape;917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97595" y="3651082"/>
              <a:ext cx="278995" cy="278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8" name="Google Shape;918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70930" y="3629419"/>
              <a:ext cx="278995" cy="32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9" name="Google Shape;919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23721" y="3563619"/>
              <a:ext cx="453899" cy="453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" name="Google Shape;920;p37"/>
            <p:cNvSpPr/>
            <p:nvPr/>
          </p:nvSpPr>
          <p:spPr>
            <a:xfrm>
              <a:off x="2624626" y="3946120"/>
              <a:ext cx="545465" cy="364490"/>
            </a:xfrm>
            <a:custGeom>
              <a:rect b="b" l="l" r="r" t="t"/>
              <a:pathLst>
                <a:path extrusionOk="0" h="364489" w="545464">
                  <a:moveTo>
                    <a:pt x="0" y="364243"/>
                  </a:moveTo>
                  <a:lnTo>
                    <a:pt x="54498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37"/>
            <p:cNvSpPr/>
            <p:nvPr/>
          </p:nvSpPr>
          <p:spPr>
            <a:xfrm>
              <a:off x="3160869" y="392210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84" y="37099"/>
                  </a:moveTo>
                  <a:lnTo>
                    <a:pt x="0" y="10938"/>
                  </a:lnTo>
                  <a:lnTo>
                    <a:pt x="44679" y="0"/>
                  </a:lnTo>
                  <a:lnTo>
                    <a:pt x="17484" y="370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37"/>
            <p:cNvSpPr/>
            <p:nvPr/>
          </p:nvSpPr>
          <p:spPr>
            <a:xfrm>
              <a:off x="3160869" y="3922101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84" y="37099"/>
                  </a:moveTo>
                  <a:lnTo>
                    <a:pt x="44679" y="0"/>
                  </a:lnTo>
                  <a:lnTo>
                    <a:pt x="0" y="10938"/>
                  </a:lnTo>
                  <a:lnTo>
                    <a:pt x="17484" y="3709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37"/>
            <p:cNvSpPr/>
            <p:nvPr/>
          </p:nvSpPr>
          <p:spPr>
            <a:xfrm>
              <a:off x="2624626" y="3198470"/>
              <a:ext cx="535940" cy="407670"/>
            </a:xfrm>
            <a:custGeom>
              <a:rect b="b" l="l" r="r" t="t"/>
              <a:pathLst>
                <a:path extrusionOk="0" h="407670" w="535939">
                  <a:moveTo>
                    <a:pt x="0" y="0"/>
                  </a:moveTo>
                  <a:lnTo>
                    <a:pt x="535609" y="40730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37"/>
            <p:cNvSpPr/>
            <p:nvPr/>
          </p:nvSpPr>
          <p:spPr>
            <a:xfrm>
              <a:off x="3150712" y="3593253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3930" y="38687"/>
                  </a:moveTo>
                  <a:lnTo>
                    <a:pt x="0" y="25045"/>
                  </a:lnTo>
                  <a:lnTo>
                    <a:pt x="19046" y="0"/>
                  </a:lnTo>
                  <a:lnTo>
                    <a:pt x="43930" y="386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37"/>
            <p:cNvSpPr/>
            <p:nvPr/>
          </p:nvSpPr>
          <p:spPr>
            <a:xfrm>
              <a:off x="3150712" y="3593253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045"/>
                  </a:moveTo>
                  <a:lnTo>
                    <a:pt x="43930" y="38687"/>
                  </a:lnTo>
                  <a:lnTo>
                    <a:pt x="19046" y="0"/>
                  </a:lnTo>
                  <a:lnTo>
                    <a:pt x="0" y="2504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37"/>
            <p:cNvSpPr/>
            <p:nvPr/>
          </p:nvSpPr>
          <p:spPr>
            <a:xfrm>
              <a:off x="4049926" y="3790572"/>
              <a:ext cx="1312545" cy="9525"/>
            </a:xfrm>
            <a:custGeom>
              <a:rect b="b" l="l" r="r" t="t"/>
              <a:pathLst>
                <a:path extrusionOk="0" h="9525" w="1312545">
                  <a:moveTo>
                    <a:pt x="0" y="0"/>
                  </a:moveTo>
                  <a:lnTo>
                    <a:pt x="1312051" y="891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37"/>
            <p:cNvSpPr/>
            <p:nvPr/>
          </p:nvSpPr>
          <p:spPr>
            <a:xfrm>
              <a:off x="5361870" y="37837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213" y="0"/>
                  </a:lnTo>
                  <a:lnTo>
                    <a:pt x="43331" y="16026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37"/>
            <p:cNvSpPr/>
            <p:nvPr/>
          </p:nvSpPr>
          <p:spPr>
            <a:xfrm>
              <a:off x="5361870" y="37837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4"/>
                  </a:moveTo>
                  <a:lnTo>
                    <a:pt x="43331" y="16026"/>
                  </a:lnTo>
                  <a:lnTo>
                    <a:pt x="213" y="0"/>
                  </a:lnTo>
                  <a:lnTo>
                    <a:pt x="0" y="3146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37"/>
            <p:cNvSpPr/>
            <p:nvPr/>
          </p:nvSpPr>
          <p:spPr>
            <a:xfrm>
              <a:off x="2681259" y="3947296"/>
              <a:ext cx="2670810" cy="500380"/>
            </a:xfrm>
            <a:custGeom>
              <a:rect b="b" l="l" r="r" t="t"/>
              <a:pathLst>
                <a:path extrusionOk="0" h="500379" w="2670810">
                  <a:moveTo>
                    <a:pt x="0" y="499786"/>
                  </a:moveTo>
                  <a:lnTo>
                    <a:pt x="2670525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37"/>
            <p:cNvSpPr/>
            <p:nvPr/>
          </p:nvSpPr>
          <p:spPr>
            <a:xfrm>
              <a:off x="5348890" y="3931832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8" y="30928"/>
                  </a:moveTo>
                  <a:lnTo>
                    <a:pt x="0" y="0"/>
                  </a:lnTo>
                  <a:lnTo>
                    <a:pt x="45381" y="7512"/>
                  </a:lnTo>
                  <a:lnTo>
                    <a:pt x="5788" y="30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37"/>
            <p:cNvSpPr/>
            <p:nvPr/>
          </p:nvSpPr>
          <p:spPr>
            <a:xfrm>
              <a:off x="5348890" y="3931832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5788" y="30928"/>
                  </a:moveTo>
                  <a:lnTo>
                    <a:pt x="45381" y="7512"/>
                  </a:lnTo>
                  <a:lnTo>
                    <a:pt x="0" y="0"/>
                  </a:lnTo>
                  <a:lnTo>
                    <a:pt x="5788" y="30928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932" name="Google Shape;932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8107" y="3595070"/>
            <a:ext cx="217268" cy="391008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37"/>
          <p:cNvSpPr txBox="1"/>
          <p:nvPr/>
        </p:nvSpPr>
        <p:spPr>
          <a:xfrm>
            <a:off x="1369475" y="1568670"/>
            <a:ext cx="1850389" cy="61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391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Verdana"/>
                <a:ea typeface="Verdana"/>
                <a:cs typeface="Verdana"/>
                <a:sym typeface="Verdana"/>
              </a:rPr>
              <a:t>Set a to 7.0 Set b to 8.0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Verdana"/>
                <a:ea typeface="Verdana"/>
                <a:cs typeface="Verdana"/>
                <a:sym typeface="Verdana"/>
              </a:rPr>
              <a:t>And call backward on it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8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How to use our basic autodiff engine</a:t>
            </a:r>
            <a:endParaRPr sz="3600"/>
          </a:p>
        </p:txBody>
      </p:sp>
      <p:sp>
        <p:nvSpPr>
          <p:cNvPr id="939" name="Google Shape;939;p38"/>
          <p:cNvSpPr txBox="1"/>
          <p:nvPr/>
        </p:nvSpPr>
        <p:spPr>
          <a:xfrm>
            <a:off x="604550" y="1313950"/>
            <a:ext cx="6856095" cy="2846805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A= 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 = 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5394325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 = add_node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 = mul_node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5874385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F.grad = 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1.0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F.backward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"a_grad: 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"b_grad: 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"c_grad: 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"f_grad: 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9"/>
          <p:cNvSpPr txBox="1"/>
          <p:nvPr>
            <p:ph type="title"/>
          </p:nvPr>
        </p:nvSpPr>
        <p:spPr>
          <a:xfrm>
            <a:off x="301625" y="249179"/>
            <a:ext cx="7766050" cy="597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Notes!</a:t>
            </a:r>
            <a:endParaRPr/>
          </a:p>
        </p:txBody>
      </p:sp>
      <p:sp>
        <p:nvSpPr>
          <p:cNvPr id="945" name="Google Shape;945;p39"/>
          <p:cNvSpPr txBox="1"/>
          <p:nvPr/>
        </p:nvSpPr>
        <p:spPr>
          <a:xfrm>
            <a:off x="632383" y="1239246"/>
            <a:ext cx="6631305" cy="2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7660" lvl="0" marL="340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ahoma"/>
              <a:buChar char="●"/>
            </a:pPr>
            <a:r>
              <a:rPr lang="en-US" sz="1300">
                <a:latin typeface="Verdana"/>
                <a:ea typeface="Verdana"/>
                <a:cs typeface="Verdana"/>
                <a:sym typeface="Verdana"/>
              </a:rPr>
              <a:t>For larger operations, you will want to use your primitives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28294" lvl="0" marL="340360" marR="342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ahoma"/>
              <a:buChar char="●"/>
            </a:pPr>
            <a:r>
              <a:rPr lang="en-US" sz="1300">
                <a:latin typeface="Verdana"/>
                <a:ea typeface="Verdana"/>
                <a:cs typeface="Verdana"/>
                <a:sym typeface="Verdana"/>
              </a:rPr>
              <a:t>All you simply have to do is call out.backward() and all the derivatives will be computed for you!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28294" lvl="0" marL="340360" marR="508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SzPts val="1300"/>
              <a:buFont typeface="Tahoma"/>
              <a:buChar char="●"/>
            </a:pPr>
            <a:r>
              <a:rPr lang="en-US" sz="1300">
                <a:latin typeface="Verdana"/>
                <a:ea typeface="Verdana"/>
                <a:cs typeface="Verdana"/>
                <a:sym typeface="Verdana"/>
              </a:rPr>
              <a:t>If you manually create new nodes, they must NOT rely directly on the data of the input.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28294" lvl="1" marL="797560" marR="5124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ahoma"/>
              <a:buChar char="○"/>
            </a:pPr>
            <a:r>
              <a:rPr lang="en-US" sz="1300">
                <a:latin typeface="Verdana"/>
                <a:ea typeface="Verdana"/>
                <a:cs typeface="Verdana"/>
                <a:sym typeface="Verdana"/>
              </a:rPr>
              <a:t>If you want to use the data directly from the input, you must use the primitives so the input gets chained in with the rest of the graph.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  <a:p>
            <a:pPr indent="-327660" lvl="1" marL="797560" rtl="0" algn="l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SzPts val="1300"/>
              <a:buFont typeface="Tahoma"/>
              <a:buChar char="○"/>
            </a:pPr>
            <a:r>
              <a:rPr lang="en-US" sz="1300">
                <a:latin typeface="Verdana"/>
                <a:ea typeface="Verdana"/>
                <a:cs typeface="Verdana"/>
                <a:sym typeface="Verdana"/>
              </a:rPr>
              <a:t>You MAY create other matrices of a similar shape as the input. That’s ﬁne!</a:t>
            </a:r>
            <a:endParaRPr sz="13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6" name="Google Shape;946;p39"/>
          <p:cNvSpPr txBox="1"/>
          <p:nvPr/>
        </p:nvSpPr>
        <p:spPr>
          <a:xfrm>
            <a:off x="381000" y="3671610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Transition 2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0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SoftPlus</a:t>
            </a:r>
            <a:endParaRPr/>
          </a:p>
        </p:txBody>
      </p:sp>
      <p:pic>
        <p:nvPicPr>
          <p:cNvPr id="952" name="Google Shape;95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50" y="1407150"/>
            <a:ext cx="3122451" cy="432074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40"/>
          <p:cNvSpPr txBox="1"/>
          <p:nvPr/>
        </p:nvSpPr>
        <p:spPr>
          <a:xfrm>
            <a:off x="676050" y="2406737"/>
            <a:ext cx="5209540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Tips: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From our current framework, you must create a numpy array of 1’s with np.ones_like() to be a similar shape to x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We have provided you the ln and exp primitives :)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Softplus Function in Neural Network - GeeksforGeeks" id="954" name="Google Shape;95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485857"/>
            <a:ext cx="3066521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1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SoftPlus Node</a:t>
            </a:r>
            <a:endParaRPr/>
          </a:p>
        </p:txBody>
      </p:sp>
      <p:sp>
        <p:nvSpPr>
          <p:cNvPr id="960" name="Google Shape;960;p41"/>
          <p:cNvSpPr txBox="1"/>
          <p:nvPr/>
        </p:nvSpPr>
        <p:spPr>
          <a:xfrm>
            <a:off x="604550" y="917325"/>
            <a:ext cx="6856095" cy="222885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-320040" lvl="0" marL="332740" marR="4994275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softplus_node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exp_x = exp_node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marR="2113280" rtl="0" algn="l">
              <a:lnSpc>
                <a:spcPct val="27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one_exp_x = add_node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np.ones_like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x.data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exp_x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 = log_node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one_exp_x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2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Leaky ReLU</a:t>
            </a:r>
            <a:endParaRPr/>
          </a:p>
        </p:txBody>
      </p:sp>
      <p:sp>
        <p:nvSpPr>
          <p:cNvPr id="966" name="Google Shape;966;p42"/>
          <p:cNvSpPr txBox="1"/>
          <p:nvPr/>
        </p:nvSpPr>
        <p:spPr>
          <a:xfrm>
            <a:off x="676050" y="2406737"/>
            <a:ext cx="5295265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Tips: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Create an node with a matrix of alpha values which has a similar shape to the input data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Create a mask of all the 0/positive values with np.where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591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Create a mask of all the negative values with np.where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67" name="Google Shape;96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200" y="1184625"/>
            <a:ext cx="3700076" cy="79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loring Activation Functions in Deep Learning: Properties, Derivatives,  and Impact on Model Training | by Patwariraghottam | DevOps.dev" id="968" name="Google Shape;96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722557"/>
            <a:ext cx="3315331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3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Leaky ReLU Node</a:t>
            </a:r>
            <a:endParaRPr/>
          </a:p>
        </p:txBody>
      </p:sp>
      <p:sp>
        <p:nvSpPr>
          <p:cNvPr id="974" name="Google Shape;974;p43"/>
          <p:cNvSpPr txBox="1"/>
          <p:nvPr/>
        </p:nvSpPr>
        <p:spPr>
          <a:xfrm>
            <a:off x="604550" y="1313950"/>
            <a:ext cx="6856095" cy="313817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leaky_relu_node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alpha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0.01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alpha_node = 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np.ones_like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input.data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* alpha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positives_mask_node = 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np.where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input.data &gt;= 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negatives_mask_node = 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np.where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input.data &lt; 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alpha_mask_node = mul_node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alpha_node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negatives_mask_node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marR="235331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positive_part = mul_node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positives_mask_node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negative_part = mul_node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alpha_mask_node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635" lvl="0" marL="332740" marR="299339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 = add_node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positive_part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negative_part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4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Tanh</a:t>
            </a:r>
            <a:endParaRPr/>
          </a:p>
        </p:txBody>
      </p:sp>
      <p:pic>
        <p:nvPicPr>
          <p:cNvPr id="980" name="Google Shape;98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46" y="1214725"/>
            <a:ext cx="2670124" cy="8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44"/>
          <p:cNvSpPr txBox="1"/>
          <p:nvPr/>
        </p:nvSpPr>
        <p:spPr>
          <a:xfrm>
            <a:off x="688750" y="2406737"/>
            <a:ext cx="7305040" cy="23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Tips: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5915" lvl="0" marL="456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Incrementally build the graph for the numerator and denominator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5915" lvl="0" marL="456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Note how the numerator and denominator both have e^x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4800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We recommend building </a:t>
            </a:r>
            <a:r>
              <a:rPr b="1" lang="en-US" sz="1400">
                <a:latin typeface="Tahoma"/>
                <a:ea typeface="Tahoma"/>
                <a:cs typeface="Tahoma"/>
                <a:sym typeface="Tahoma"/>
              </a:rPr>
              <a:t>separate graphs/separate instances </a:t>
            </a: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of the intermediate variables needed for the numerator and denominator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This is because in our backward method, the gradient for intermediate values (such as e^(-x) and e^x) might only be updated by the numerator, or only be updated by the denominator. Thus, if you do them separately, they will update properly.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36550" lvl="1" marL="914400" marR="138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You can just do neg_x1 and negx_2, or exp_x1 and exp_x2, and just make the same node twice.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Mastering Tanh: A Deep Dive into Balanced Activation for Machine Learning |  by Deepankar Singh | AI-Enthusiast | Medium" id="982" name="Google Shape;98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624058"/>
            <a:ext cx="2199718" cy="1553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7" name="Google Shape;987;p45"/>
          <p:cNvGrpSpPr/>
          <p:nvPr/>
        </p:nvGrpSpPr>
        <p:grpSpPr>
          <a:xfrm>
            <a:off x="604550" y="917325"/>
            <a:ext cx="6856095" cy="4000500"/>
            <a:chOff x="604550" y="917325"/>
            <a:chExt cx="6856095" cy="4000500"/>
          </a:xfrm>
        </p:grpSpPr>
        <p:sp>
          <p:nvSpPr>
            <p:cNvPr id="988" name="Google Shape;988;p45"/>
            <p:cNvSpPr/>
            <p:nvPr/>
          </p:nvSpPr>
          <p:spPr>
            <a:xfrm>
              <a:off x="604550" y="917325"/>
              <a:ext cx="6856095" cy="4000500"/>
            </a:xfrm>
            <a:custGeom>
              <a:rect b="b" l="l" r="r" t="t"/>
              <a:pathLst>
                <a:path extrusionOk="0" h="4000500" w="6856095">
                  <a:moveTo>
                    <a:pt x="6855599" y="3999899"/>
                  </a:moveTo>
                  <a:lnTo>
                    <a:pt x="0" y="3999899"/>
                  </a:lnTo>
                  <a:lnTo>
                    <a:pt x="0" y="0"/>
                  </a:lnTo>
                  <a:lnTo>
                    <a:pt x="6855599" y="0"/>
                  </a:lnTo>
                  <a:lnTo>
                    <a:pt x="6855599" y="3999899"/>
                  </a:ln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45"/>
            <p:cNvSpPr/>
            <p:nvPr/>
          </p:nvSpPr>
          <p:spPr>
            <a:xfrm>
              <a:off x="604550" y="917325"/>
              <a:ext cx="6856095" cy="4000500"/>
            </a:xfrm>
            <a:custGeom>
              <a:rect b="b" l="l" r="r" t="t"/>
              <a:pathLst>
                <a:path extrusionOk="0" h="4000500" w="6856095">
                  <a:moveTo>
                    <a:pt x="0" y="0"/>
                  </a:moveTo>
                  <a:lnTo>
                    <a:pt x="6855599" y="0"/>
                  </a:lnTo>
                  <a:lnTo>
                    <a:pt x="6855599" y="3999899"/>
                  </a:lnTo>
                  <a:lnTo>
                    <a:pt x="0" y="39998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90" name="Google Shape;990;p45"/>
          <p:cNvSpPr txBox="1"/>
          <p:nvPr>
            <p:ph type="title"/>
          </p:nvPr>
        </p:nvSpPr>
        <p:spPr>
          <a:xfrm>
            <a:off x="301625" y="249179"/>
            <a:ext cx="776605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Tanh Node</a:t>
            </a:r>
            <a:endParaRPr/>
          </a:p>
        </p:txBody>
      </p:sp>
      <p:sp>
        <p:nvSpPr>
          <p:cNvPr id="991" name="Google Shape;991;p45"/>
          <p:cNvSpPr txBox="1"/>
          <p:nvPr/>
        </p:nvSpPr>
        <p:spPr>
          <a:xfrm>
            <a:off x="605025" y="927865"/>
            <a:ext cx="4027170" cy="393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9BD6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lang="en-U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tanh_node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BDCF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neg_one = 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-1.0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* np.ones_like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x.data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marR="136525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neg_x1 = mul_node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neg_one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exp_x1 = exp_node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exp_neg_x1 = exp_node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neg_x1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neg_exp_neg_x1 = mul_node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exp_neg_x1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neg_one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num = add_node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exp_x1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neg_exp_neg_x1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marR="1045210" rtl="0" algn="l">
              <a:lnSpc>
                <a:spcPct val="135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neg_input2 = mul_node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neg_one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exp_x2 = exp_node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exp_neg_x2 = exp_node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neg_input2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marR="965200" rtl="0" algn="l">
              <a:lnSpc>
                <a:spcPct val="27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den = add_node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exp_x2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exp_neg_x2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 = div_node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den</a:t>
            </a:r>
            <a:r>
              <a:rPr lang="en-US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3274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6"/>
          <p:cNvSpPr txBox="1"/>
          <p:nvPr>
            <p:ph type="title"/>
          </p:nvPr>
        </p:nvSpPr>
        <p:spPr>
          <a:xfrm>
            <a:off x="1224400" y="2215261"/>
            <a:ext cx="4286885" cy="1994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marR="5080" rtl="0" algn="l">
              <a:lnSpc>
                <a:spcPct val="96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Moving to Gradient Buffers (more like the homework bonuses ;)</a:t>
            </a:r>
            <a:endParaRPr/>
          </a:p>
        </p:txBody>
      </p:sp>
      <p:sp>
        <p:nvSpPr>
          <p:cNvPr id="997" name="Google Shape;997;p46"/>
          <p:cNvSpPr txBox="1"/>
          <p:nvPr/>
        </p:nvSpPr>
        <p:spPr>
          <a:xfrm>
            <a:off x="5638800" y="3790950"/>
            <a:ext cx="198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Transition 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2025-09-19T01:09:43Z</dcterms:created>
  <dc:creator>Judy Sun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2025-09-19T00:00:00Z</vt:filetime>
  </property>
</Properties>
</file>