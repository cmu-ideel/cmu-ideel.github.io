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Helvetica Neue Light"/>
      <p:regular r:id="rId17"/>
      <p:bold r:id="rId18"/>
      <p:italic r:id="rId19"/>
      <p:boldItalic r:id="rId20"/>
    </p:embeddedFont>
    <p:embeddedFont>
      <p:font typeface="Open Sans Light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Italic.fntdata"/><Relationship Id="rId22" Type="http://schemas.openxmlformats.org/officeDocument/2006/relationships/font" Target="fonts/OpenSansLight-bold.fntdata"/><Relationship Id="rId21" Type="http://schemas.openxmlformats.org/officeDocument/2006/relationships/font" Target="fonts/OpenSansLight-regular.fntdata"/><Relationship Id="rId24" Type="http://schemas.openxmlformats.org/officeDocument/2006/relationships/font" Target="fonts/OpenSansLight-boldItalic.fntdata"/><Relationship Id="rId23" Type="http://schemas.openxmlformats.org/officeDocument/2006/relationships/font" Target="fonts/OpenSans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Light-regular.fntdata"/><Relationship Id="rId16" Type="http://schemas.openxmlformats.org/officeDocument/2006/relationships/slide" Target="slides/slide11.xml"/><Relationship Id="rId19" Type="http://schemas.openxmlformats.org/officeDocument/2006/relationships/font" Target="fonts/HelveticaNeueLight-italic.fntdata"/><Relationship Id="rId18" Type="http://schemas.openxmlformats.org/officeDocument/2006/relationships/font" Target="fonts/HelveticaNeue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Hello everyone , I’m  pengyu chang, today we are going to talk about workflow of HW part-2s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Presenter Name: 16 pt. Arial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Presenters Title: 16 pt. Arial Italic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aea35d89e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aea35d89e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HW Part2, you will gain hands-on experience building deep learning models in PyTorch. You will optimize both the model and the training pipeline with the goal of improving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aaea35d89e_0_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aea35d89e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aea35d89e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aaea35d89e_0_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aea35d89e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aea35d89e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Checkpoint ( 1-2W after release)</a:t>
            </a: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: You are required to make at least one submission to Kaggle by this deadline. People who miss this deadline will automatically lose 10% of subsequent marks they may get on the homework. This is intended to encourage students to begin working on their assignments early.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On-time deadline: People who submit by this deadline are eligible for up to five bonus points. These points will be computed by interpolation between the A cutoff and the highest performance obtained for the HW.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Late deadline: People who submit after the on-time deadline can still submit until the late deadline. There is a 10% penalty applied to your final score, for submitting late.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Slack days: Everyone gets up to 10 slack days, which they can distribute across all their homework P2s only. Once you use up your slack days you will fall into the late-submission category by default. Slack days are accumulated over </a:t>
            </a:r>
            <a:r>
              <a:rPr i="1" lang="en-US" sz="1150">
                <a:solidFill>
                  <a:srgbClr val="333333"/>
                </a:solidFill>
                <a:highlight>
                  <a:srgbClr val="FFFFFF"/>
                </a:highlight>
              </a:rPr>
              <a:t>all</a:t>
            </a: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 parts of </a:t>
            </a:r>
            <a:r>
              <a:rPr i="1" lang="en-US" sz="1150">
                <a:solidFill>
                  <a:srgbClr val="333333"/>
                </a:solidFill>
                <a:highlight>
                  <a:srgbClr val="FFFFFF"/>
                </a:highlight>
              </a:rPr>
              <a:t>all</a:t>
            </a: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 homeworks.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Kaggle scoring: We will use </a:t>
            </a:r>
            <a:r>
              <a:rPr i="1" lang="en-US" sz="1150">
                <a:solidFill>
                  <a:srgbClr val="333333"/>
                </a:solidFill>
                <a:highlight>
                  <a:srgbClr val="FFFFFF"/>
                </a:highlight>
              </a:rPr>
              <a:t>max(max(on-time score), max(slack-day score), .0.9*max(late-submission score))</a:t>
            </a:r>
            <a:r>
              <a:rPr lang="en-US" sz="1150">
                <a:solidFill>
                  <a:srgbClr val="333333"/>
                </a:solidFill>
                <a:highlight>
                  <a:srgbClr val="FFFFFF"/>
                </a:highlight>
              </a:rPr>
              <a:t> as your final score for the HW. If this happens to be a slack-days submission, slack days corresponding to the selected submission will be counted.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aea35d89e_0_1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aea35d89e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aea35d89e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aea35d89e_0_4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aea35d89e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aea35d89e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aea35d89e_0_5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ea35d89e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ea35d89e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aea35d89e_0_6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ea35d89e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ea35d89e_0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aea35d89e_0_8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ea35d89e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ea35d89e_0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aea35d89e_0_5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ea35d89e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aea35d89e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aea35d89e_0_3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aea35d89e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aea35d89e_0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aaea35d89e_0_7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3" name="Google Shape;23;p2"/>
          <p:cNvPicPr preferRelativeResize="0"/>
          <p:nvPr/>
        </p:nvPicPr>
        <p:blipFill rotWithShape="1">
          <a:blip r:embed="rId3">
            <a:alphaModFix/>
          </a:blip>
          <a:srcRect b="1989" l="84737" r="4770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6" name="Google Shape;26;p2"/>
          <p:cNvPicPr preferRelativeResize="0"/>
          <p:nvPr/>
        </p:nvPicPr>
        <p:blipFill rotWithShape="1">
          <a:blip r:embed="rId3">
            <a:alphaModFix/>
          </a:blip>
          <a:srcRect b="1989" l="84737" r="4770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>
  <p:cSld name="2 Colum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">
  <p:cSld name="4 Colum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Plaid-Digital_FINAL-NEW.png" id="10" name="Google Shape;10;p1"/>
          <p:cNvPicPr preferRelativeResize="0"/>
          <p:nvPr/>
        </p:nvPicPr>
        <p:blipFill rotWithShape="1">
          <a:blip r:embed="rId1">
            <a:alphaModFix/>
          </a:blip>
          <a:srcRect b="2893" l="59550" r="39888" t="20875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11" name="Google Shape;11;p1"/>
          <p:cNvPicPr preferRelativeResize="0"/>
          <p:nvPr/>
        </p:nvPicPr>
        <p:blipFill rotWithShape="1">
          <a:blip r:embed="rId1">
            <a:alphaModFix/>
          </a:blip>
          <a:srcRect b="2893" l="59550" r="39888" t="20875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2639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638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2638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2638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518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Click to Edit Presentation Title</a:t>
            </a:r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Click to edit Presenter Name</a:t>
            </a:r>
            <a:endParaRPr/>
          </a:p>
          <a:p>
            <a:pPr indent="-3175" lvl="0" marL="3175" marR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Presenter Title</a:t>
            </a:r>
            <a:endParaRPr/>
          </a:p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0.27 Workflow of HW part-2s</a:t>
            </a:r>
            <a:endParaRPr/>
          </a:p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457200" y="3711150"/>
            <a:ext cx="6085500" cy="91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11485/11685/11785 Introduction of Deep Learning Recitation 0.27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/>
              <a:t>Pengyu Chang pengyuch@andrew.cmu.edu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57200" y="1200150"/>
            <a:ext cx="79296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In HW Part2s.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You will…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Hands-on deep learning with PyTorch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Optimize the model and full training pipeline (Data loading, Data processing &amp; augmentation, model design, training procedure design, loss selection ……)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Target higher performance under a parameter count limit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 of HW Part2s</a:t>
            </a:r>
            <a:endParaRPr/>
          </a:p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Write-up.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Checkpoint Notebook.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Starter Notebook.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Cutoff Write-up.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Kaggle Competition.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Deadlines for HW-P2s</a:t>
            </a:r>
            <a:endParaRPr/>
          </a:p>
        </p:txBody>
      </p:sp>
      <p:sp>
        <p:nvSpPr>
          <p:cNvPr id="78" name="Google Shape;78;p12"/>
          <p:cNvSpPr/>
          <p:nvPr/>
        </p:nvSpPr>
        <p:spPr>
          <a:xfrm>
            <a:off x="486350" y="2885650"/>
            <a:ext cx="8374200" cy="27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494300" y="2068075"/>
            <a:ext cx="47700" cy="8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3067650" y="2068075"/>
            <a:ext cx="47700" cy="8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2"/>
          <p:cNvSpPr/>
          <p:nvPr/>
        </p:nvSpPr>
        <p:spPr>
          <a:xfrm>
            <a:off x="5069450" y="2068075"/>
            <a:ext cx="47700" cy="8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2"/>
          <p:cNvSpPr/>
          <p:nvPr/>
        </p:nvSpPr>
        <p:spPr>
          <a:xfrm>
            <a:off x="7333375" y="2068075"/>
            <a:ext cx="47700" cy="89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208525" y="1599775"/>
            <a:ext cx="9207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Release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2073850" y="1599775"/>
            <a:ext cx="23178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Checkpoint Deadline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2"/>
          <p:cNvSpPr txBox="1"/>
          <p:nvPr/>
        </p:nvSpPr>
        <p:spPr>
          <a:xfrm>
            <a:off x="4391650" y="1599775"/>
            <a:ext cx="17382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On-time deadline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6337225" y="1567975"/>
            <a:ext cx="2040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slack/late submission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018175" y="2464950"/>
            <a:ext cx="100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1-2W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3647075" y="2464950"/>
            <a:ext cx="100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1-2W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6014050" y="2464950"/>
            <a:ext cx="100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Typical workflow of doing HW-P2s</a:t>
            </a:r>
            <a:endParaRPr/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457200" y="1200150"/>
            <a:ext cx="75300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Read the write-ups and participating our Bootcamps for the HWs to understand what we are doing in this homework and get some advice in doing the homework.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Join the kaggle competition.(The invitation link </a:t>
            </a:r>
            <a:r>
              <a:rPr lang="en-US"/>
              <a:t>will</a:t>
            </a:r>
            <a:r>
              <a:rPr lang="en-US"/>
              <a:t> be in Piazza!)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Aiming for very-low cutoff and complete the MCQs in checkpoint notebook.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Run the checkpoint notebook in Colab and generate a submission JSON file.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Submit your JSON file to autolab checkpoint submission.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Keep improving your model and achieve higher performance.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Submit your code to autolab! (deadline is 2 days after the kaggle deadline.)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achieve very low cutoff?</a:t>
            </a:r>
            <a:endParaRPr/>
          </a:p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39150" y="1192325"/>
            <a:ext cx="82296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You will need to:</a:t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Find compute resource for the HW(Colab, PSC, kaggle, AWS……)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Fill up all the to-dos in the Starter Notebook.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Implement a simple model for the task.(with skeleton we provided in the notebook).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Successfully runs the training process without error.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Submit your prediction to kaggle.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keep improving your model?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457200" y="1200150"/>
            <a:ext cx="81333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Write-ups always help. In the write-up we provide some </a:t>
            </a:r>
            <a:r>
              <a:rPr lang="en-US" sz="1600"/>
              <a:t>useful</a:t>
            </a:r>
            <a:r>
              <a:rPr lang="en-US" sz="1600"/>
              <a:t> tips and techniques on model architectures , loss functions and data augmentation methods. Which is very helpful for achieving higher performance.</a:t>
            </a:r>
            <a:endParaRPr sz="16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Work with your study group! You can discuss with your study group on model architectures, hyperparameters and training techniques.  You can have ablation testing on these subjects with your team.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Cutoffs and grades explained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377925" y="1663975"/>
            <a:ext cx="8455200" cy="15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76150" y="203975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355525" y="2231300"/>
            <a:ext cx="5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01850" y="2990500"/>
            <a:ext cx="7002000" cy="16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actual points you get for the homework will be interpolated between the cutoff scores. For example: Low cutoff for accuracy is 80% and medium cutoff is 85%, and you get 82.5% accuracy, and your grade should be 60%.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on-time submission, your bonus point will also be 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interpolated.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942275" y="1095025"/>
            <a:ext cx="58500" cy="6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925050" y="1095025"/>
            <a:ext cx="58500" cy="6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328100" y="1095025"/>
            <a:ext cx="58500" cy="6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043450" y="1095025"/>
            <a:ext cx="58500" cy="6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608125" y="1095025"/>
            <a:ext cx="58500" cy="6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57250" y="777750"/>
            <a:ext cx="123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very low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731300" y="777750"/>
            <a:ext cx="123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037475" y="777750"/>
            <a:ext cx="123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medium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805000" y="777750"/>
            <a:ext cx="123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213300" y="815650"/>
            <a:ext cx="123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“super”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06975" y="1793875"/>
            <a:ext cx="696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30%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731300" y="1793875"/>
            <a:ext cx="696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3088600" y="1793875"/>
            <a:ext cx="696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805000" y="1793875"/>
            <a:ext cx="696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8177350" y="1828100"/>
            <a:ext cx="10257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% bonus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Kaggle competition details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83975" y="1092475"/>
            <a:ext cx="8635200" cy="3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have different competition for on-time submission and slack/late submission. Remember to join another competition when you decide to use your slack days.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test set includes two parts: the “public” part and the “private” part. The public part comprises 40% of the total test data.  The private portion is 60%. The Kaggle leaderboard only shows the public score. Private scores will not be known until the end of the competition.  Your public and private scores may not be the same.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score you obtain for the homework will be based on both, the public and private scores.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Slack days details</a:t>
            </a:r>
            <a:endParaRPr/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457200" y="1200150"/>
            <a:ext cx="83079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You are granted total 10 slack days. If you use your slack days, you </a:t>
            </a:r>
            <a:r>
              <a:rPr lang="en-US"/>
              <a:t>will</a:t>
            </a:r>
            <a:r>
              <a:rPr lang="en-US"/>
              <a:t> not be eligible for earning the bonus point for very high cutoff.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If your late days exceed your total slack days, your points for this HWP2 will be deducted by 10%.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Slack submissions are in another kaggle competition. And slack days are counted by your submission to the kaggle competition (not by your code submission date).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Debrief &amp; Deployment session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457200" y="1200150"/>
            <a:ext cx="8086200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Right after the competition closes, TAs will host a Debrief &amp; Deployment session to recap top approaches and lessons learned.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Top-performing students may be invited to share insights with the course team and help spread best practices.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If you’re interested, you can present your solution to the class (or have a TA present it on your behalf).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