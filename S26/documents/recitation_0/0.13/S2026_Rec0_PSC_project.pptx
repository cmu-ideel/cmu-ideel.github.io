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9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715000" type="screen16x10"/>
  <p:notesSz cx="6858000" cy="9144000"/>
  <p:embeddedFontLs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44">
          <p15:clr>
            <a:srgbClr val="747775"/>
          </p15:clr>
        </p15:guide>
        <p15:guide id="2" pos="5616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orient="horz" pos="3168">
          <p15:clr>
            <a:srgbClr val="747775"/>
          </p15:clr>
        </p15:guide>
        <p15:guide id="5" orient="horz" pos="6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75"/>
    <p:restoredTop sz="95928"/>
  </p:normalViewPr>
  <p:slideViewPr>
    <p:cSldViewPr snapToGrid="0">
      <p:cViewPr varScale="1">
        <p:scale>
          <a:sx n="138" d="100"/>
          <a:sy n="138" d="100"/>
        </p:scale>
        <p:origin x="496" y="176"/>
      </p:cViewPr>
      <p:guideLst>
        <p:guide pos="144"/>
        <p:guide pos="5616"/>
        <p:guide orient="horz" pos="432"/>
        <p:guide orient="horz" pos="3168"/>
        <p:guide orient="horz" pos="6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686098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3116D2C4-1721-5751-9E41-CC75A2C33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1db036925_0_1:notes">
            <a:extLst>
              <a:ext uri="{FF2B5EF4-FFF2-40B4-BE49-F238E27FC236}">
                <a16:creationId xmlns:a16="http://schemas.microsoft.com/office/drawing/2014/main" id="{DEB706D8-CAA6-FA07-40A9-C733A7596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61db036925_0_1:notes">
            <a:extLst>
              <a:ext uri="{FF2B5EF4-FFF2-40B4-BE49-F238E27FC236}">
                <a16:creationId xmlns:a16="http://schemas.microsoft.com/office/drawing/2014/main" id="{EDF36D63-EB7E-B259-BA38-253CCA647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519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e544501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a4e544501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1db03692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1db03692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a4e5445017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a4e5445017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0C721C5F-F296-9DA5-EEA5-AE79229F1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a4e5445017_0_133:notes">
            <a:extLst>
              <a:ext uri="{FF2B5EF4-FFF2-40B4-BE49-F238E27FC236}">
                <a16:creationId xmlns:a16="http://schemas.microsoft.com/office/drawing/2014/main" id="{F0C69694-C116-C14A-C83A-F09B1DDAE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a4e5445017_0_133:notes">
            <a:extLst>
              <a:ext uri="{FF2B5EF4-FFF2-40B4-BE49-F238E27FC236}">
                <a16:creationId xmlns:a16="http://schemas.microsoft.com/office/drawing/2014/main" id="{99B47FCF-7319-7656-9067-2E3E472D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471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4e5445017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a4e5445017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a4e5445017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a4e5445017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a4e5445017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a4e5445017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4e5445017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4e5445017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4e5445017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a4e5445017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a4e544501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a4e544501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1db03692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61db03692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149028"/>
            <a:ext cx="8520600" cy="8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804528"/>
            <a:ext cx="3837000" cy="410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dentity.access-ci.org/new-use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flaticon.com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dentity.access-ci.org/new-use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flaticon.com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llocations.access-ci.org/" TargetMode="External"/><Relationship Id="rId7" Type="http://schemas.openxmlformats.org/officeDocument/2006/relationships/hyperlink" Target="http://flaticon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identity.access-ci.org/new-use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flaticon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flaticon.com" TargetMode="External"/><Relationship Id="rId4" Type="http://schemas.openxmlformats.org/officeDocument/2006/relationships/hyperlink" Target="https://identity.access-ci.org/new-use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dentity.access-ci.org/new-us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flaticon.com" TargetMode="Externa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dentity.access-ci.org/new-use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flaticon.com" TargetMode="Externa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dentity.access-ci.org/new-use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flaticon.com" TargetMode="Externa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dentity.access-ci.org/new-use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laticon.com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laticon.com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flaticon.com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CA0796D-7D96-8105-F82C-13FD1A37B693}"/>
              </a:ext>
            </a:extLst>
          </p:cNvPr>
          <p:cNvGrpSpPr/>
          <p:nvPr/>
        </p:nvGrpSpPr>
        <p:grpSpPr>
          <a:xfrm>
            <a:off x="523208" y="1351286"/>
            <a:ext cx="4343325" cy="739200"/>
            <a:chOff x="228600" y="1088825"/>
            <a:chExt cx="4343325" cy="739200"/>
          </a:xfrm>
        </p:grpSpPr>
        <p:sp>
          <p:nvSpPr>
            <p:cNvPr id="56" name="Google Shape;56;p13"/>
            <p:cNvSpPr/>
            <p:nvPr/>
          </p:nvSpPr>
          <p:spPr>
            <a:xfrm>
              <a:off x="758325" y="1088825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" dirty="0">
                  <a:solidFill>
                    <a:schemeClr val="dk1"/>
                  </a:solidFill>
                </a:rPr>
                <a:t>   </a:t>
              </a:r>
              <a:r>
                <a:rPr lang="en-US" dirty="0">
                  <a:solidFill>
                    <a:schemeClr val="dk1"/>
                  </a:solidFill>
                </a:rPr>
                <a:t>Understanding your PSC dashboard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28600" y="1181238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52A18E7-C454-5472-1304-C7BA5A6A7D76}"/>
              </a:ext>
            </a:extLst>
          </p:cNvPr>
          <p:cNvGrpSpPr/>
          <p:nvPr/>
        </p:nvGrpSpPr>
        <p:grpSpPr>
          <a:xfrm>
            <a:off x="523208" y="2392281"/>
            <a:ext cx="4343325" cy="739200"/>
            <a:chOff x="228600" y="2487900"/>
            <a:chExt cx="4343325" cy="739200"/>
          </a:xfrm>
        </p:grpSpPr>
        <p:sp>
          <p:nvSpPr>
            <p:cNvPr id="58" name="Google Shape;58;p13"/>
            <p:cNvSpPr/>
            <p:nvPr/>
          </p:nvSpPr>
          <p:spPr>
            <a:xfrm>
              <a:off x="758325" y="2487900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dirty="0">
                  <a:solidFill>
                    <a:schemeClr val="dk1"/>
                  </a:solidFill>
                </a:rPr>
                <a:t>   </a:t>
              </a:r>
              <a:r>
                <a:rPr lang="en-US" dirty="0">
                  <a:solidFill>
                    <a:schemeClr val="dk1"/>
                  </a:solidFill>
                </a:rPr>
                <a:t>Apply for the Explore ACCESS Grant</a:t>
              </a: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28600" y="2580323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86D1836-1BBE-04C5-E003-69535BC7360E}"/>
              </a:ext>
            </a:extLst>
          </p:cNvPr>
          <p:cNvGrpSpPr/>
          <p:nvPr/>
        </p:nvGrpSpPr>
        <p:grpSpPr>
          <a:xfrm>
            <a:off x="523208" y="3433276"/>
            <a:ext cx="4343325" cy="739200"/>
            <a:chOff x="228600" y="3886975"/>
            <a:chExt cx="4343325" cy="739200"/>
          </a:xfrm>
        </p:grpSpPr>
        <p:sp>
          <p:nvSpPr>
            <p:cNvPr id="60" name="Google Shape;60;p13"/>
            <p:cNvSpPr/>
            <p:nvPr/>
          </p:nvSpPr>
          <p:spPr>
            <a:xfrm>
              <a:off x="758325" y="3886975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</a:rPr>
                <a:t>   Managing your grant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28600" y="3979408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</p:grpSp>
      <p:sp>
        <p:nvSpPr>
          <p:cNvPr id="62" name="Google Shape;62;p13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Recitation 13: Pittsburgh Supercomputing Cluster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150" y="972595"/>
            <a:ext cx="2830051" cy="10004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2150" y="2296486"/>
            <a:ext cx="2830050" cy="1061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2150" y="3681176"/>
            <a:ext cx="2830050" cy="106126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228600" y="5029200"/>
            <a:ext cx="421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TA: En Zheng (</a:t>
            </a:r>
            <a:r>
              <a:rPr lang="en" sz="1200" dirty="0" err="1">
                <a:solidFill>
                  <a:schemeClr val="dk2"/>
                </a:solidFill>
              </a:rPr>
              <a:t>enzheng</a:t>
            </a:r>
            <a:r>
              <a:rPr lang="en" sz="1200" dirty="0">
                <a:solidFill>
                  <a:schemeClr val="dk2"/>
                </a:solidFill>
              </a:rPr>
              <a:t>@</a:t>
            </a:r>
            <a:r>
              <a:rPr lang="en-US" sz="1200" dirty="0">
                <a:solidFill>
                  <a:schemeClr val="dk2"/>
                </a:solidFill>
              </a:rPr>
              <a:t>a</a:t>
            </a:r>
            <a:r>
              <a:rPr lang="en" sz="1200" dirty="0" err="1">
                <a:solidFill>
                  <a:schemeClr val="dk2"/>
                </a:solidFill>
              </a:rPr>
              <a:t>ndrew.cmu.edu</a:t>
            </a:r>
            <a:r>
              <a:rPr lang="en" sz="1200" dirty="0">
                <a:solidFill>
                  <a:schemeClr val="dk2"/>
                </a:solidFill>
              </a:rPr>
              <a:t>)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91DD5EC7-E162-E159-47C1-08EAD611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>
            <a:extLst>
              <a:ext uri="{FF2B5EF4-FFF2-40B4-BE49-F238E27FC236}">
                <a16:creationId xmlns:a16="http://schemas.microsoft.com/office/drawing/2014/main" id="{864FAC09-7205-0DB8-8A08-C98B7B100F1E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Understanding your PSC dashboard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97" name="Google Shape;297;p24">
            <a:extLst>
              <a:ext uri="{FF2B5EF4-FFF2-40B4-BE49-F238E27FC236}">
                <a16:creationId xmlns:a16="http://schemas.microsoft.com/office/drawing/2014/main" id="{5C5D46FE-4E9C-878D-64CD-B695F6DC7F44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4">
            <a:extLst>
              <a:ext uri="{FF2B5EF4-FFF2-40B4-BE49-F238E27FC236}">
                <a16:creationId xmlns:a16="http://schemas.microsoft.com/office/drawing/2014/main" id="{DC5514E7-9DB1-8B72-A636-991F4CA6A261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301" name="Google Shape;301;p24">
            <a:extLst>
              <a:ext uri="{FF2B5EF4-FFF2-40B4-BE49-F238E27FC236}">
                <a16:creationId xmlns:a16="http://schemas.microsoft.com/office/drawing/2014/main" id="{91FB702C-6EA4-9755-2173-A6C156DE67B5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F71550-B2B4-56FB-2392-01D206F76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49" y="816202"/>
            <a:ext cx="8494749" cy="48069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E28E26-53BA-425E-A306-95722F1D2B19}"/>
              </a:ext>
            </a:extLst>
          </p:cNvPr>
          <p:cNvSpPr txBox="1"/>
          <p:nvPr/>
        </p:nvSpPr>
        <p:spPr>
          <a:xfrm>
            <a:off x="2397255" y="5189163"/>
            <a:ext cx="5879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 can apply 4 types of GPU: v100-16, v100-32, l40s-48, or h100-80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CBB6040-A4FF-A40E-290B-6B3ECF02523F}"/>
              </a:ext>
            </a:extLst>
          </p:cNvPr>
          <p:cNvGrpSpPr/>
          <p:nvPr/>
        </p:nvGrpSpPr>
        <p:grpSpPr>
          <a:xfrm>
            <a:off x="612990" y="1217882"/>
            <a:ext cx="7033117" cy="307777"/>
            <a:chOff x="560439" y="1291453"/>
            <a:chExt cx="7033117" cy="30777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3BFD42-E403-BE39-CF0C-D71DEAE44899}"/>
                </a:ext>
              </a:extLst>
            </p:cNvPr>
            <p:cNvSpPr/>
            <p:nvPr/>
          </p:nvSpPr>
          <p:spPr>
            <a:xfrm>
              <a:off x="560439" y="1415845"/>
              <a:ext cx="533865" cy="117987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EF1905D-F045-16E1-DC9D-6390ABA44EDE}"/>
                </a:ext>
              </a:extLst>
            </p:cNvPr>
            <p:cNvCxnSpPr/>
            <p:nvPr/>
          </p:nvCxnSpPr>
          <p:spPr>
            <a:xfrm>
              <a:off x="1094304" y="1474838"/>
              <a:ext cx="370702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4D01BE-2FC4-6CFB-9261-7208AE3E99BC}"/>
                </a:ext>
              </a:extLst>
            </p:cNvPr>
            <p:cNvSpPr txBox="1"/>
            <p:nvPr/>
          </p:nvSpPr>
          <p:spPr>
            <a:xfrm>
              <a:off x="1465006" y="1291453"/>
              <a:ext cx="612855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/ocean/projects/&lt;project id&gt;/&lt;username&gt;, larger storage capacity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E4E880-13AA-2C4A-8E8D-CFC48B8249C7}"/>
              </a:ext>
            </a:extLst>
          </p:cNvPr>
          <p:cNvGrpSpPr/>
          <p:nvPr/>
        </p:nvGrpSpPr>
        <p:grpSpPr>
          <a:xfrm>
            <a:off x="612990" y="1462864"/>
            <a:ext cx="6212683" cy="307777"/>
            <a:chOff x="560439" y="1536435"/>
            <a:chExt cx="6212683" cy="30777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56E18F-5C0D-E114-36DF-5777DBA7F8E3}"/>
                </a:ext>
              </a:extLst>
            </p:cNvPr>
            <p:cNvSpPr/>
            <p:nvPr/>
          </p:nvSpPr>
          <p:spPr>
            <a:xfrm>
              <a:off x="560439" y="1670343"/>
              <a:ext cx="533865" cy="117987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8DB087E-5D53-1FDF-02BD-B57AB4CDD1C5}"/>
                </a:ext>
              </a:extLst>
            </p:cNvPr>
            <p:cNvSpPr txBox="1"/>
            <p:nvPr/>
          </p:nvSpPr>
          <p:spPr>
            <a:xfrm>
              <a:off x="1445342" y="1536435"/>
              <a:ext cx="53277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You can also </a:t>
              </a:r>
              <a:r>
                <a:rPr lang="en-US" dirty="0">
                  <a:solidFill>
                    <a:schemeClr val="bg1"/>
                  </a:solidFill>
                </a:rPr>
                <a:t>move data&amp; environment to the “shared” storage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65859A9-3484-EB74-53FE-3165C0390F80}"/>
                </a:ext>
              </a:extLst>
            </p:cNvPr>
            <p:cNvCxnSpPr/>
            <p:nvPr/>
          </p:nvCxnSpPr>
          <p:spPr>
            <a:xfrm>
              <a:off x="1100682" y="1729336"/>
              <a:ext cx="370702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B9F076-328B-9F16-9485-51429C06DA5F}"/>
              </a:ext>
            </a:extLst>
          </p:cNvPr>
          <p:cNvGrpSpPr/>
          <p:nvPr/>
        </p:nvGrpSpPr>
        <p:grpSpPr>
          <a:xfrm>
            <a:off x="3491384" y="3110404"/>
            <a:ext cx="4053343" cy="747379"/>
            <a:chOff x="560439" y="1211565"/>
            <a:chExt cx="4053343" cy="74737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8C9E72-EF86-D23D-CB8B-D794F464DB89}"/>
                </a:ext>
              </a:extLst>
            </p:cNvPr>
            <p:cNvSpPr/>
            <p:nvPr/>
          </p:nvSpPr>
          <p:spPr>
            <a:xfrm flipV="1">
              <a:off x="560439" y="1749496"/>
              <a:ext cx="4053343" cy="209448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EB8CC41-A54D-A80C-4C43-8DF86ADB8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5236" y="1520694"/>
              <a:ext cx="0" cy="232161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FE83C29-FD6A-1B39-B69B-479F8A243C19}"/>
                </a:ext>
              </a:extLst>
            </p:cNvPr>
            <p:cNvSpPr txBox="1"/>
            <p:nvPr/>
          </p:nvSpPr>
          <p:spPr>
            <a:xfrm>
              <a:off x="1386348" y="1211565"/>
              <a:ext cx="282431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PSC allocations for homework 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869B0C1-F9C0-CBBE-D62F-454DF19C64AC}"/>
              </a:ext>
            </a:extLst>
          </p:cNvPr>
          <p:cNvGrpSpPr/>
          <p:nvPr/>
        </p:nvGrpSpPr>
        <p:grpSpPr>
          <a:xfrm>
            <a:off x="3606602" y="3783335"/>
            <a:ext cx="3780814" cy="714986"/>
            <a:chOff x="560440" y="1241841"/>
            <a:chExt cx="3780814" cy="71498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F585AF-D1D9-B29D-EC5F-86CFCE31C806}"/>
                </a:ext>
              </a:extLst>
            </p:cNvPr>
            <p:cNvSpPr/>
            <p:nvPr/>
          </p:nvSpPr>
          <p:spPr>
            <a:xfrm flipV="1">
              <a:off x="560440" y="1749496"/>
              <a:ext cx="3780814" cy="207331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7EA002A-46AA-17F6-202C-5C7A3B038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0937" y="1520694"/>
              <a:ext cx="0" cy="232161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612B8E2-7915-B20C-878F-8BBDE0443B5A}"/>
                </a:ext>
              </a:extLst>
            </p:cNvPr>
            <p:cNvSpPr txBox="1"/>
            <p:nvPr/>
          </p:nvSpPr>
          <p:spPr>
            <a:xfrm>
              <a:off x="1177560" y="1241841"/>
              <a:ext cx="282431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PSC allocations for project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7D85FE5-9577-A97E-E288-1A747B36CBFF}"/>
              </a:ext>
            </a:extLst>
          </p:cNvPr>
          <p:cNvSpPr/>
          <p:nvPr/>
        </p:nvSpPr>
        <p:spPr>
          <a:xfrm flipV="1">
            <a:off x="2501851" y="4601212"/>
            <a:ext cx="5042876" cy="330315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75993-7682-23D4-A9A1-CC680F1D81BB}"/>
              </a:ext>
            </a:extLst>
          </p:cNvPr>
          <p:cNvSpPr txBox="1"/>
          <p:nvPr/>
        </p:nvSpPr>
        <p:spPr>
          <a:xfrm>
            <a:off x="3056914" y="2763467"/>
            <a:ext cx="5718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FF0000"/>
                </a:solidFill>
                <a:effectLst/>
                <a:latin typeface="+mn-lt"/>
              </a:rPr>
              <a:t>CANNOT use the class </a:t>
            </a:r>
            <a:r>
              <a:rPr lang="en-US" sz="1600" b="1" dirty="0">
                <a:solidFill>
                  <a:srgbClr val="FF0000"/>
                </a:solidFill>
                <a:latin typeface="+mn-lt"/>
              </a:rPr>
              <a:t>PSC</a:t>
            </a:r>
            <a:r>
              <a:rPr lang="en-US" sz="1600" b="1" i="0" dirty="0">
                <a:solidFill>
                  <a:srgbClr val="FF0000"/>
                </a:solidFill>
                <a:effectLst/>
                <a:latin typeface="+mn-lt"/>
              </a:rPr>
              <a:t> resources for projects!</a:t>
            </a:r>
            <a:endParaRPr lang="en-US" sz="16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47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1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Apply for the Explore ACCESS Grant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493008" y="5082988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Applying for the ‘Explore’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Managing your grant</a:t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103" name="Google Shape;103;p15"/>
          <p:cNvGrpSpPr/>
          <p:nvPr/>
        </p:nvGrpSpPr>
        <p:grpSpPr>
          <a:xfrm>
            <a:off x="228600" y="1088820"/>
            <a:ext cx="2743200" cy="475500"/>
            <a:chOff x="228600" y="1300275"/>
            <a:chExt cx="2743200" cy="475500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15125" bIns="91425" anchor="ctr" anchorCtr="0">
              <a:noAutofit/>
            </a:bodyPr>
            <a:lstStyle/>
            <a:p>
              <a:pPr marL="1143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Steps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3200392" y="1088825"/>
            <a:ext cx="5714909" cy="475500"/>
            <a:chOff x="228600" y="1300275"/>
            <a:chExt cx="2743200" cy="475500"/>
          </a:xfrm>
        </p:grpSpPr>
        <p:sp>
          <p:nvSpPr>
            <p:cNvPr id="107" name="Google Shape;107;p15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5715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Sign up on </a:t>
              </a:r>
              <a:r>
                <a:rPr lang="en" sz="1200" u="sng">
                  <a:solidFill>
                    <a:schemeClr val="accent5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https://identity.access-ci.org/new-user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09" name="Google Shape;109;p15"/>
          <p:cNvSpPr txBox="1"/>
          <p:nvPr/>
        </p:nvSpPr>
        <p:spPr>
          <a:xfrm>
            <a:off x="228600" y="1607287"/>
            <a:ext cx="2743200" cy="3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Sign up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AutoNum type="arabicPeriod"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112" name="Google Shape;112;p15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3750" y="1607275"/>
            <a:ext cx="5688192" cy="34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3595900" y="3335450"/>
            <a:ext cx="585600" cy="309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181500" y="3335450"/>
            <a:ext cx="3791100" cy="3090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Apply for the Explore ACCESS Grant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493008" y="5082988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Applying for the ‘Explore’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Managing your grant</a:t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125" name="Google Shape;125;p16"/>
          <p:cNvGrpSpPr/>
          <p:nvPr/>
        </p:nvGrpSpPr>
        <p:grpSpPr>
          <a:xfrm>
            <a:off x="228600" y="1088820"/>
            <a:ext cx="2743200" cy="475500"/>
            <a:chOff x="228600" y="1300275"/>
            <a:chExt cx="2743200" cy="475500"/>
          </a:xfrm>
        </p:grpSpPr>
        <p:sp>
          <p:nvSpPr>
            <p:cNvPr id="126" name="Google Shape;126;p16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15125" bIns="91425" anchor="ctr" anchorCtr="0">
              <a:noAutofit/>
            </a:bodyPr>
            <a:lstStyle/>
            <a:p>
              <a:pPr marL="1143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Steps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3200392" y="1088825"/>
            <a:ext cx="5714909" cy="475500"/>
            <a:chOff x="228600" y="1300275"/>
            <a:chExt cx="2743200" cy="475500"/>
          </a:xfrm>
        </p:grpSpPr>
        <p:sp>
          <p:nvSpPr>
            <p:cNvPr id="129" name="Google Shape;129;p16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5715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The TA assigned to your project can provide you with the advisor letter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31" name="Google Shape;131;p16"/>
          <p:cNvSpPr txBox="1"/>
          <p:nvPr/>
        </p:nvSpPr>
        <p:spPr>
          <a:xfrm>
            <a:off x="228600" y="1607287"/>
            <a:ext cx="2743200" cy="3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Sign up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Ask TA for advisor letter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AutoNum type="arabicPeriod"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134" name="Google Shape;134;p16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338" y="2235979"/>
            <a:ext cx="1475025" cy="14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493008" y="5082988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Applying for the ‘Explore’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Managing your grant</a:t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144" name="Google Shape;144;p17"/>
          <p:cNvGrpSpPr/>
          <p:nvPr/>
        </p:nvGrpSpPr>
        <p:grpSpPr>
          <a:xfrm>
            <a:off x="228600" y="1088820"/>
            <a:ext cx="2743200" cy="475500"/>
            <a:chOff x="228600" y="1300275"/>
            <a:chExt cx="2743200" cy="475500"/>
          </a:xfrm>
        </p:grpSpPr>
        <p:sp>
          <p:nvSpPr>
            <p:cNvPr id="145" name="Google Shape;145;p17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15125" bIns="91425" anchor="ctr" anchorCtr="0">
              <a:noAutofit/>
            </a:bodyPr>
            <a:lstStyle/>
            <a:p>
              <a:pPr marL="1143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Steps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3200392" y="1088825"/>
            <a:ext cx="5714909" cy="475500"/>
            <a:chOff x="228600" y="1300275"/>
            <a:chExt cx="2743200" cy="475500"/>
          </a:xfrm>
        </p:grpSpPr>
        <p:sp>
          <p:nvSpPr>
            <p:cNvPr id="148" name="Google Shape;148;p17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5715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On the </a:t>
              </a:r>
              <a:r>
                <a:rPr lang="en" sz="1200" u="sng">
                  <a:solidFill>
                    <a:schemeClr val="hlink"/>
                  </a:solidFill>
                  <a:hlinkClick r:id="rId3"/>
                </a:rPr>
                <a:t>dashboard</a:t>
              </a:r>
              <a:r>
                <a:rPr lang="en" sz="1200">
                  <a:solidFill>
                    <a:schemeClr val="dk1"/>
                  </a:solidFill>
                </a:rPr>
                <a:t>, Request an Explore ACCESS Project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50" name="Google Shape;150;p17"/>
          <p:cNvSpPr txBox="1"/>
          <p:nvPr/>
        </p:nvSpPr>
        <p:spPr>
          <a:xfrm>
            <a:off x="228600" y="1607287"/>
            <a:ext cx="2743200" cy="3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Sign up </a:t>
            </a:r>
            <a:r>
              <a:rPr lang="en" sz="1200" u="sng" dirty="0">
                <a:solidFill>
                  <a:schemeClr val="hlink"/>
                </a:solidFill>
                <a:hlinkClick r:id="rId4"/>
              </a:rPr>
              <a:t>here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Ask TA for advisor letter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Request an </a:t>
            </a:r>
            <a:r>
              <a:rPr lang="en" sz="1200" b="1" dirty="0">
                <a:solidFill>
                  <a:schemeClr val="dk1"/>
                </a:solidFill>
              </a:rPr>
              <a:t>Explore</a:t>
            </a:r>
            <a:r>
              <a:rPr lang="en" sz="1200" dirty="0">
                <a:solidFill>
                  <a:schemeClr val="dk1"/>
                </a:solidFill>
              </a:rPr>
              <a:t> ACCESS Project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AutoNum type="arabicPeriod"/>
            </a:pP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151" name="Google Shape;15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0400" y="1607275"/>
            <a:ext cx="5714898" cy="292721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/>
          <p:nvPr/>
        </p:nvSpPr>
        <p:spPr>
          <a:xfrm>
            <a:off x="5987675" y="3311150"/>
            <a:ext cx="585600" cy="309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573275" y="3335450"/>
            <a:ext cx="1554000" cy="2604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Apply for the Explore ACCESS Grant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157" name="Google Shape;157;p17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9650" y="3313250"/>
            <a:ext cx="457199" cy="4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7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0BA3F571-D50B-37F9-A87A-7A06DAC1F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C6A7C5BE-9D5A-4163-F1AC-CD5E1C08FB41}"/>
              </a:ext>
            </a:extLst>
          </p:cNvPr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42" name="Google Shape;142;p17">
            <a:extLst>
              <a:ext uri="{FF2B5EF4-FFF2-40B4-BE49-F238E27FC236}">
                <a16:creationId xmlns:a16="http://schemas.microsoft.com/office/drawing/2014/main" id="{1599ADBA-F53C-9451-1280-D489354F95FE}"/>
              </a:ext>
            </a:extLst>
          </p:cNvPr>
          <p:cNvSpPr/>
          <p:nvPr/>
        </p:nvSpPr>
        <p:spPr>
          <a:xfrm>
            <a:off x="3493008" y="5082988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Applying for the ‘Explore’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143" name="Google Shape;143;p17">
            <a:extLst>
              <a:ext uri="{FF2B5EF4-FFF2-40B4-BE49-F238E27FC236}">
                <a16:creationId xmlns:a16="http://schemas.microsoft.com/office/drawing/2014/main" id="{5DBF9F7B-53A4-D1E6-472E-3745209926B4}"/>
              </a:ext>
            </a:extLst>
          </p:cNvPr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Managing your grant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B0A4680E-B2A3-97E9-DF77-C3B82525CD8C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Apply for the Explore ACCESS Grant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1CE90594-8D9C-CD5B-3FC3-08E00525DA4A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">
            <a:extLst>
              <a:ext uri="{FF2B5EF4-FFF2-40B4-BE49-F238E27FC236}">
                <a16:creationId xmlns:a16="http://schemas.microsoft.com/office/drawing/2014/main" id="{1F8D9955-93B6-EA0E-915C-FDFC360A84D0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8913C1D4-3C38-FF23-FFDC-D9911797F72E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9" name="Google Shape;159;p17">
            <a:extLst>
              <a:ext uri="{FF2B5EF4-FFF2-40B4-BE49-F238E27FC236}">
                <a16:creationId xmlns:a16="http://schemas.microsoft.com/office/drawing/2014/main" id="{C028AC4C-4AD0-8EEF-7307-5444C52C3BF3}"/>
              </a:ext>
            </a:extLst>
          </p:cNvPr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3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1386AA-A3AD-E4C6-3758-34910B608013}"/>
              </a:ext>
            </a:extLst>
          </p:cNvPr>
          <p:cNvGrpSpPr/>
          <p:nvPr/>
        </p:nvGrpSpPr>
        <p:grpSpPr>
          <a:xfrm>
            <a:off x="228600" y="1088485"/>
            <a:ext cx="4601496" cy="3646748"/>
            <a:chOff x="324465" y="1015468"/>
            <a:chExt cx="5220929" cy="3684064"/>
          </a:xfrm>
        </p:grpSpPr>
        <p:pic>
          <p:nvPicPr>
            <p:cNvPr id="2" name="Picture 1" descr="A white text on a black background&#10;&#10;AI-generated content may be incorrect.">
              <a:extLst>
                <a:ext uri="{FF2B5EF4-FFF2-40B4-BE49-F238E27FC236}">
                  <a16:creationId xmlns:a16="http://schemas.microsoft.com/office/drawing/2014/main" id="{D03F6384-3996-EB7E-A9B7-E2C175F93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465" y="1015468"/>
              <a:ext cx="5220929" cy="3684064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1DF467A-5A1D-0EEA-B496-52946A9C9483}"/>
                </a:ext>
              </a:extLst>
            </p:cNvPr>
            <p:cNvSpPr/>
            <p:nvPr/>
          </p:nvSpPr>
          <p:spPr>
            <a:xfrm>
              <a:off x="324466" y="2487561"/>
              <a:ext cx="5142270" cy="369939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E24C801-457C-23A1-A740-CB08494F1BA8}"/>
              </a:ext>
            </a:extLst>
          </p:cNvPr>
          <p:cNvSpPr txBox="1"/>
          <p:nvPr/>
        </p:nvSpPr>
        <p:spPr>
          <a:xfrm>
            <a:off x="3004580" y="5453390"/>
            <a:ext cx="4601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allocations.access-ci.org</a:t>
            </a:r>
            <a:r>
              <a:rPr lang="en-US" sz="1100" dirty="0"/>
              <a:t>/project-types</a:t>
            </a:r>
          </a:p>
        </p:txBody>
      </p:sp>
      <p:pic>
        <p:nvPicPr>
          <p:cNvPr id="4" name="Picture 3" descr="A screenshot of a comparison table&#10;&#10;AI-generated content may be incorrect.">
            <a:extLst>
              <a:ext uri="{FF2B5EF4-FFF2-40B4-BE49-F238E27FC236}">
                <a16:creationId xmlns:a16="http://schemas.microsoft.com/office/drawing/2014/main" id="{E196C599-E3F9-6F77-06D0-BADF0C40B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657" y="1088485"/>
            <a:ext cx="3841855" cy="36494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85460DB-CC09-49AC-A6BF-4D38FCC95A18}"/>
              </a:ext>
            </a:extLst>
          </p:cNvPr>
          <p:cNvSpPr/>
          <p:nvPr/>
        </p:nvSpPr>
        <p:spPr>
          <a:xfrm>
            <a:off x="5651508" y="1266385"/>
            <a:ext cx="858149" cy="346884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1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6484" y="1607275"/>
            <a:ext cx="4767212" cy="34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493008" y="5082988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Applying for the ‘Explore’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Managing your grant</a:t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168" name="Google Shape;168;p18"/>
          <p:cNvGrpSpPr/>
          <p:nvPr/>
        </p:nvGrpSpPr>
        <p:grpSpPr>
          <a:xfrm>
            <a:off x="228600" y="1088820"/>
            <a:ext cx="2743200" cy="475500"/>
            <a:chOff x="228600" y="1300275"/>
            <a:chExt cx="2743200" cy="475500"/>
          </a:xfrm>
        </p:grpSpPr>
        <p:sp>
          <p:nvSpPr>
            <p:cNvPr id="169" name="Google Shape;169;p18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15125" bIns="91425" anchor="ctr" anchorCtr="0">
              <a:noAutofit/>
            </a:bodyPr>
            <a:lstStyle/>
            <a:p>
              <a:pPr marL="1143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Steps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171" name="Google Shape;171;p18"/>
          <p:cNvGrpSpPr/>
          <p:nvPr/>
        </p:nvGrpSpPr>
        <p:grpSpPr>
          <a:xfrm>
            <a:off x="3200392" y="1088825"/>
            <a:ext cx="5714909" cy="475500"/>
            <a:chOff x="228600" y="1300275"/>
            <a:chExt cx="2743200" cy="475500"/>
          </a:xfrm>
        </p:grpSpPr>
        <p:sp>
          <p:nvSpPr>
            <p:cNvPr id="172" name="Google Shape;172;p18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5715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Fill the details diligently; Public overview matters a lot, focus on it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74" name="Google Shape;174;p18"/>
          <p:cNvSpPr txBox="1"/>
          <p:nvPr/>
        </p:nvSpPr>
        <p:spPr>
          <a:xfrm>
            <a:off x="228600" y="1607287"/>
            <a:ext cx="2743200" cy="3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Sign up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Ask TA for advisor letter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Request an Explore ACCESS Project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Fill the details diligently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Apply for the Explore ACCESS Grant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178" name="Google Shape;178;p18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79" name="Google Shape;179;p18"/>
          <p:cNvSpPr/>
          <p:nvPr/>
        </p:nvSpPr>
        <p:spPr>
          <a:xfrm>
            <a:off x="3276054" y="2256558"/>
            <a:ext cx="1554000" cy="2604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3276042" y="2553571"/>
            <a:ext cx="4635900" cy="8316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3276050" y="3718402"/>
            <a:ext cx="1554000" cy="7224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3276049" y="3421025"/>
            <a:ext cx="1962000" cy="2604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493008" y="5082988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Applying for the ‘Explore’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Managing your grant</a:t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191" name="Google Shape;191;p19"/>
          <p:cNvGrpSpPr/>
          <p:nvPr/>
        </p:nvGrpSpPr>
        <p:grpSpPr>
          <a:xfrm>
            <a:off x="228600" y="1088820"/>
            <a:ext cx="2743200" cy="475500"/>
            <a:chOff x="228600" y="1300275"/>
            <a:chExt cx="2743200" cy="475500"/>
          </a:xfrm>
        </p:grpSpPr>
        <p:sp>
          <p:nvSpPr>
            <p:cNvPr id="192" name="Google Shape;192;p19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15125" bIns="91425" anchor="ctr" anchorCtr="0">
              <a:noAutofit/>
            </a:bodyPr>
            <a:lstStyle/>
            <a:p>
              <a:pPr marL="1143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Steps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194" name="Google Shape;194;p19"/>
          <p:cNvGrpSpPr/>
          <p:nvPr/>
        </p:nvGrpSpPr>
        <p:grpSpPr>
          <a:xfrm>
            <a:off x="3200392" y="1088825"/>
            <a:ext cx="5714909" cy="475500"/>
            <a:chOff x="228600" y="1300275"/>
            <a:chExt cx="2743200" cy="475500"/>
          </a:xfrm>
        </p:grpSpPr>
        <p:sp>
          <p:nvSpPr>
            <p:cNvPr id="195" name="Google Shape;195;p19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5715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Pick the following fields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97" name="Google Shape;197;p19"/>
          <p:cNvSpPr txBox="1"/>
          <p:nvPr/>
        </p:nvSpPr>
        <p:spPr>
          <a:xfrm>
            <a:off x="228600" y="1607287"/>
            <a:ext cx="2743200" cy="3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Sign up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Ask TA for advisor letter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Request an Explore ACCESS Project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Fill the details diligently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Pick the following fields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AutoNum type="arabicPeriod"/>
            </a:pPr>
            <a:endParaRPr sz="1200">
              <a:solidFill>
                <a:schemeClr val="dk1"/>
              </a:solidFill>
            </a:endParaRPr>
          </a:p>
        </p:txBody>
      </p:sp>
      <p:pic>
        <p:nvPicPr>
          <p:cNvPr id="198" name="Google Shape;1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400" y="1607275"/>
            <a:ext cx="5714898" cy="304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Apply for the Explore ACCESS Grant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202" name="Google Shape;202;p19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03" name="Google Shape;203;p19"/>
          <p:cNvSpPr/>
          <p:nvPr/>
        </p:nvSpPr>
        <p:spPr>
          <a:xfrm>
            <a:off x="3276050" y="2475476"/>
            <a:ext cx="1554000" cy="1281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3276050" y="3917849"/>
            <a:ext cx="2970600" cy="2883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493008" y="5082988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Applying for the ‘Explore’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Managing your grant</a:t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>
            <a:off x="228600" y="1088820"/>
            <a:ext cx="2743200" cy="475500"/>
            <a:chOff x="228600" y="1300275"/>
            <a:chExt cx="2743200" cy="475500"/>
          </a:xfrm>
        </p:grpSpPr>
        <p:sp>
          <p:nvSpPr>
            <p:cNvPr id="214" name="Google Shape;214;p20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15125" bIns="91425" anchor="ctr" anchorCtr="0">
              <a:noAutofit/>
            </a:bodyPr>
            <a:lstStyle/>
            <a:p>
              <a:pPr marL="1143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Steps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216" name="Google Shape;216;p20"/>
          <p:cNvGrpSpPr/>
          <p:nvPr/>
        </p:nvGrpSpPr>
        <p:grpSpPr>
          <a:xfrm>
            <a:off x="3200392" y="1088825"/>
            <a:ext cx="5714909" cy="475500"/>
            <a:chOff x="228600" y="1300275"/>
            <a:chExt cx="2743200" cy="475500"/>
          </a:xfrm>
        </p:grpSpPr>
        <p:sp>
          <p:nvSpPr>
            <p:cNvPr id="217" name="Google Shape;217;p20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5715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Add teammates: get them to sign up too and add them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19" name="Google Shape;219;p20"/>
          <p:cNvSpPr txBox="1"/>
          <p:nvPr/>
        </p:nvSpPr>
        <p:spPr>
          <a:xfrm>
            <a:off x="228600" y="1607287"/>
            <a:ext cx="2743200" cy="3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Sign up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Ask TA for advisor letter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Request an Explore ACCESS Project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Fill the details diligently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Pick the following fields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Add teammates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AutoNum type="arabicPeriod"/>
            </a:pPr>
            <a:endParaRPr sz="1200">
              <a:solidFill>
                <a:schemeClr val="dk1"/>
              </a:solidFill>
            </a:endParaRPr>
          </a:p>
        </p:txBody>
      </p:sp>
      <p:pic>
        <p:nvPicPr>
          <p:cNvPr id="220" name="Google Shape;220;p20"/>
          <p:cNvPicPr preferRelativeResize="0"/>
          <p:nvPr/>
        </p:nvPicPr>
        <p:blipFill>
          <a:blip r:embed="rId4">
            <a:alphaModFix/>
          </a:blip>
          <a:srcRect b="10097"/>
          <a:stretch>
            <a:fillRect/>
          </a:stretch>
        </p:blipFill>
        <p:spPr>
          <a:xfrm>
            <a:off x="3200400" y="1607275"/>
            <a:ext cx="5714898" cy="273450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Apply for the Explore ACCESS Grant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224" name="Google Shape;224;p20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25" name="Google Shape;225;p20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F7F8F8-F85F-BC20-AE20-B84F388F1625}"/>
              </a:ext>
            </a:extLst>
          </p:cNvPr>
          <p:cNvSpPr txBox="1"/>
          <p:nvPr/>
        </p:nvSpPr>
        <p:spPr>
          <a:xfrm>
            <a:off x="3669792" y="4484632"/>
            <a:ext cx="477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PI should be graduate-level and based in Pittsburgh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493008" y="5082988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Applying for the ‘Explore’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Managing your grant</a:t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233" name="Google Shape;233;p21"/>
          <p:cNvGrpSpPr/>
          <p:nvPr/>
        </p:nvGrpSpPr>
        <p:grpSpPr>
          <a:xfrm>
            <a:off x="228600" y="1088820"/>
            <a:ext cx="2743200" cy="475500"/>
            <a:chOff x="228600" y="1300275"/>
            <a:chExt cx="2743200" cy="475500"/>
          </a:xfrm>
        </p:grpSpPr>
        <p:sp>
          <p:nvSpPr>
            <p:cNvPr id="234" name="Google Shape;234;p21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15125" bIns="91425" anchor="ctr" anchorCtr="0">
              <a:noAutofit/>
            </a:bodyPr>
            <a:lstStyle/>
            <a:p>
              <a:pPr marL="1143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Steps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236" name="Google Shape;236;p21"/>
          <p:cNvGrpSpPr/>
          <p:nvPr/>
        </p:nvGrpSpPr>
        <p:grpSpPr>
          <a:xfrm>
            <a:off x="3200392" y="1088825"/>
            <a:ext cx="5714909" cy="475500"/>
            <a:chOff x="228600" y="1300275"/>
            <a:chExt cx="2743200" cy="475500"/>
          </a:xfrm>
        </p:grpSpPr>
        <p:sp>
          <p:nvSpPr>
            <p:cNvPr id="237" name="Google Shape;237;p21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5715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Add PI Resumes: Add CV for PI and CoPIs (incl. Research projects)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228600" y="1607287"/>
            <a:ext cx="2743200" cy="3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Sign up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Ask TA for advisor letter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Request an Explore ACCESS Project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Fill the details diligently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Pick the following fields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Add teammates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Add PI Resumes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40" name="Google Shape;2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400" y="1607275"/>
            <a:ext cx="5152835" cy="34218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Apply for the Explore ACCESS Grant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244" name="Google Shape;244;p21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45" name="Google Shape;245;p21"/>
          <p:cNvSpPr/>
          <p:nvPr/>
        </p:nvSpPr>
        <p:spPr>
          <a:xfrm>
            <a:off x="3268225" y="2538023"/>
            <a:ext cx="1554000" cy="4572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3268225" y="3190779"/>
            <a:ext cx="3463200" cy="15939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3493008" y="5082988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Applying for the ‘Explore’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Managing your grant</a:t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255" name="Google Shape;255;p22"/>
          <p:cNvGrpSpPr/>
          <p:nvPr/>
        </p:nvGrpSpPr>
        <p:grpSpPr>
          <a:xfrm>
            <a:off x="228600" y="1088820"/>
            <a:ext cx="2743200" cy="475500"/>
            <a:chOff x="228600" y="1300275"/>
            <a:chExt cx="2743200" cy="475500"/>
          </a:xfrm>
        </p:grpSpPr>
        <p:sp>
          <p:nvSpPr>
            <p:cNvPr id="256" name="Google Shape;256;p22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15125" bIns="91425" anchor="ctr" anchorCtr="0">
              <a:noAutofit/>
            </a:bodyPr>
            <a:lstStyle/>
            <a:p>
              <a:pPr marL="1143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Steps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258" name="Google Shape;258;p22"/>
          <p:cNvGrpSpPr/>
          <p:nvPr/>
        </p:nvGrpSpPr>
        <p:grpSpPr>
          <a:xfrm>
            <a:off x="3200392" y="1088825"/>
            <a:ext cx="5714909" cy="475500"/>
            <a:chOff x="228600" y="1300275"/>
            <a:chExt cx="2743200" cy="475500"/>
          </a:xfrm>
        </p:grpSpPr>
        <p:sp>
          <p:nvSpPr>
            <p:cNvPr id="259" name="Google Shape;259;p22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5715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Select ACCESS Credits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61" name="Google Shape;261;p22"/>
          <p:cNvSpPr txBox="1"/>
          <p:nvPr/>
        </p:nvSpPr>
        <p:spPr>
          <a:xfrm>
            <a:off x="228600" y="1607287"/>
            <a:ext cx="2743200" cy="3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Sign up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Ask TA for advisor letter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Request an Explore ACCESS Project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Fill the details diligently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Pick the following fields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Add teammates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Add PI Resumes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Select ACCESS Credits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Apply for the Explore ACCESS Grant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pic>
        <p:nvPicPr>
          <p:cNvPr id="265" name="Google Shape;26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400" y="1607275"/>
            <a:ext cx="5714898" cy="275700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67" name="Google Shape;267;p22"/>
          <p:cNvSpPr/>
          <p:nvPr/>
        </p:nvSpPr>
        <p:spPr>
          <a:xfrm>
            <a:off x="3268225" y="2037675"/>
            <a:ext cx="3103500" cy="457200"/>
          </a:xfrm>
          <a:prstGeom prst="rect">
            <a:avLst/>
          </a:prstGeom>
          <a:noFill/>
          <a:ln w="9525" cap="flat" cmpd="sng">
            <a:solidFill>
              <a:srgbClr val="A8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" name="Google Shape;26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5375" y="4141500"/>
            <a:ext cx="457199" cy="4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6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3492750" y="5082988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Applying for the ‘Explore’ grant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Managing your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Managing the Grant: Use Credits to get GPU Hours and Storage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6BCBBB-5197-56F0-D4C0-E3F54C7EFF5E}"/>
              </a:ext>
            </a:extLst>
          </p:cNvPr>
          <p:cNvGrpSpPr/>
          <p:nvPr/>
        </p:nvGrpSpPr>
        <p:grpSpPr>
          <a:xfrm>
            <a:off x="297670" y="3315710"/>
            <a:ext cx="7944530" cy="1694485"/>
            <a:chOff x="783834" y="821014"/>
            <a:chExt cx="7944530" cy="1694485"/>
          </a:xfrm>
        </p:grpSpPr>
        <p:sp>
          <p:nvSpPr>
            <p:cNvPr id="280" name="Google Shape;280;p23"/>
            <p:cNvSpPr/>
            <p:nvPr/>
          </p:nvSpPr>
          <p:spPr>
            <a:xfrm>
              <a:off x="1307592" y="821014"/>
              <a:ext cx="7420772" cy="169448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" dirty="0">
                  <a:solidFill>
                    <a:schemeClr val="dk1"/>
                  </a:solidFill>
                </a:rPr>
                <a:t>   Once grant is given, dashboard shows 200k Credits. </a:t>
              </a:r>
            </a:p>
            <a:p>
              <a:pPr lvl="0">
                <a:buClr>
                  <a:schemeClr val="dk1"/>
                </a:buClr>
                <a:buSzPts val="1100"/>
              </a:pPr>
              <a:r>
                <a:rPr lang="en" dirty="0">
                  <a:solidFill>
                    <a:schemeClr val="dk1"/>
                  </a:solidFill>
                </a:rPr>
                <a:t>   </a:t>
              </a:r>
              <a:r>
                <a:rPr lang="en-US" dirty="0">
                  <a:solidFill>
                    <a:schemeClr val="dk1"/>
                  </a:solidFill>
                </a:rPr>
                <a:t>U</a:t>
              </a:r>
              <a:r>
                <a:rPr lang="en-US" dirty="0"/>
                <a:t>se these to get both </a:t>
              </a:r>
              <a:r>
                <a:rPr lang="en-US" b="1" dirty="0"/>
                <a:t>Storage</a:t>
              </a:r>
              <a:r>
                <a:rPr lang="en-US" dirty="0"/>
                <a:t> and </a:t>
              </a:r>
              <a:r>
                <a:rPr lang="en-US" b="1" dirty="0"/>
                <a:t>GPU Hours</a:t>
              </a:r>
              <a:r>
                <a:rPr lang="en-US" dirty="0"/>
                <a:t>. </a:t>
              </a:r>
            </a:p>
            <a:p>
              <a:pPr>
                <a:buClr>
                  <a:schemeClr val="dk1"/>
                </a:buClr>
                <a:buSzPts val="1100"/>
              </a:pPr>
              <a:endParaRPr lang="en-US" dirty="0"/>
            </a:p>
            <a:p>
              <a:pPr>
                <a:buClr>
                  <a:schemeClr val="dk1"/>
                </a:buClr>
                <a:buSzPts val="1100"/>
              </a:pPr>
              <a:r>
                <a:rPr lang="en-US" dirty="0"/>
                <a:t>   GPU Hours needed = </a:t>
              </a:r>
              <a:r>
                <a:rPr lang="en-US" dirty="0" err="1"/>
                <a:t>NumProjects</a:t>
              </a:r>
              <a:r>
                <a:rPr lang="en-US" dirty="0"/>
                <a:t> * Ablations * </a:t>
              </a:r>
              <a:r>
                <a:rPr lang="en-US" dirty="0" err="1"/>
                <a:t>NumEpochs</a:t>
              </a:r>
              <a:r>
                <a:rPr lang="en-US" dirty="0"/>
                <a:t> * </a:t>
              </a:r>
              <a:r>
                <a:rPr lang="en-US" dirty="0" err="1"/>
                <a:t>EpochTime</a:t>
              </a:r>
              <a:endParaRPr lang="en-US" dirty="0"/>
            </a:p>
            <a:p>
              <a:pPr lvl="0">
                <a:buClr>
                  <a:schemeClr val="dk1"/>
                </a:buClr>
                <a:buSzPts val="1100"/>
              </a:pPr>
              <a:endParaRPr lang="en-US" dirty="0"/>
            </a:p>
            <a:p>
              <a:pPr lvl="0">
                <a:buClr>
                  <a:schemeClr val="dk1"/>
                </a:buClr>
                <a:buSzPts val="1100"/>
              </a:pPr>
              <a:r>
                <a:rPr lang="en-US" dirty="0">
                  <a:solidFill>
                    <a:schemeClr val="dk1"/>
                  </a:solidFill>
                </a:rPr>
                <a:t>   Quick estimate: </a:t>
              </a:r>
              <a:r>
                <a:rPr lang="en-US" dirty="0"/>
                <a:t>200K credits roughly equal to 3700 GPU Hours; </a:t>
              </a:r>
            </a:p>
            <a:p>
              <a:pPr lvl="0">
                <a:buClr>
                  <a:schemeClr val="dk1"/>
                </a:buClr>
                <a:buSzPts val="1100"/>
              </a:pPr>
              <a:r>
                <a:rPr lang="en-US" dirty="0"/>
                <a:t>	          10K credits roughly equal to 1TB storage</a:t>
              </a:r>
              <a:endParaRPr lang="en-US" dirty="0">
                <a:solidFill>
                  <a:schemeClr val="dk1"/>
                </a:solidFill>
              </a:endParaRPr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783834" y="1485325"/>
              <a:ext cx="673200" cy="418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2" name="Google Shape;28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8114" y="1142156"/>
            <a:ext cx="1687286" cy="170369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8416AA-59B1-CCC4-E11C-3F007CE7CCC5}"/>
              </a:ext>
            </a:extLst>
          </p:cNvPr>
          <p:cNvGrpSpPr/>
          <p:nvPr/>
        </p:nvGrpSpPr>
        <p:grpSpPr>
          <a:xfrm>
            <a:off x="1319284" y="829415"/>
            <a:ext cx="5767124" cy="2518095"/>
            <a:chOff x="1457034" y="2610103"/>
            <a:chExt cx="5767124" cy="2518095"/>
          </a:xfrm>
        </p:grpSpPr>
        <p:pic>
          <p:nvPicPr>
            <p:cNvPr id="284" name="Google Shape;284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57034" y="2610103"/>
              <a:ext cx="5767124" cy="23376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23"/>
            <p:cNvSpPr/>
            <p:nvPr/>
          </p:nvSpPr>
          <p:spPr>
            <a:xfrm>
              <a:off x="4519434" y="4498224"/>
              <a:ext cx="585600" cy="3090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5105034" y="4498224"/>
              <a:ext cx="1801200" cy="309000"/>
            </a:xfrm>
            <a:prstGeom prst="rect">
              <a:avLst/>
            </a:prstGeom>
            <a:noFill/>
            <a:ln w="9525" cap="flat" cmpd="sng">
              <a:solidFill>
                <a:srgbClr val="A80000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7" name="Google Shape;287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53234" y="4670999"/>
              <a:ext cx="457199" cy="4571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3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6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/>
          <p:nvPr/>
        </p:nvSpPr>
        <p:spPr>
          <a:xfrm>
            <a:off x="1307592" y="5083007"/>
            <a:ext cx="2158500" cy="3897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What is PSC? What are its Grants?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3492750" y="5082988"/>
            <a:ext cx="2158500" cy="389700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Applying for the ‘Explore’ grant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5677900" y="5083007"/>
            <a:ext cx="2158500" cy="389700"/>
          </a:xfrm>
          <a:prstGeom prst="chevron">
            <a:avLst>
              <a:gd name="adj" fmla="val 50000"/>
            </a:avLst>
          </a:prstGeom>
          <a:solidFill>
            <a:srgbClr val="A80000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Managing your grant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Managing the Grant: Use Credits to get GPU Hours and Storage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299" name="Google Shape;299;p24"/>
          <p:cNvSpPr/>
          <p:nvPr/>
        </p:nvSpPr>
        <p:spPr>
          <a:xfrm>
            <a:off x="758325" y="1088825"/>
            <a:ext cx="5237400" cy="557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PI / CoPI manage the credits, use it to get GPU and storage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Add </a:t>
            </a:r>
            <a:r>
              <a:rPr lang="en">
                <a:solidFill>
                  <a:srgbClr val="A80000"/>
                </a:solidFill>
                <a:highlight>
                  <a:srgbClr val="A80000"/>
                </a:highlight>
              </a:rPr>
              <a:t>I</a:t>
            </a:r>
            <a:r>
              <a:rPr lang="en">
                <a:solidFill>
                  <a:schemeClr val="lt1"/>
                </a:solidFill>
                <a:highlight>
                  <a:srgbClr val="A80000"/>
                </a:highlight>
              </a:rPr>
              <a:t>PSC Ocean</a:t>
            </a:r>
            <a:r>
              <a:rPr lang="en">
                <a:solidFill>
                  <a:srgbClr val="A80000"/>
                </a:solidFill>
                <a:highlight>
                  <a:srgbClr val="A80000"/>
                </a:highlight>
              </a:rPr>
              <a:t>I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A80000"/>
                </a:solidFill>
                <a:highlight>
                  <a:srgbClr val="A80000"/>
                </a:highlight>
              </a:rPr>
              <a:t>I</a:t>
            </a:r>
            <a:r>
              <a:rPr lang="en">
                <a:solidFill>
                  <a:schemeClr val="lt1"/>
                </a:solidFill>
                <a:highlight>
                  <a:srgbClr val="A80000"/>
                </a:highlight>
              </a:rPr>
              <a:t>PSC Bridges-2 GPU</a:t>
            </a:r>
            <a:r>
              <a:rPr lang="en">
                <a:solidFill>
                  <a:srgbClr val="A80000"/>
                </a:solidFill>
                <a:highlight>
                  <a:srgbClr val="A80000"/>
                </a:highlight>
              </a:rPr>
              <a:t>I</a:t>
            </a:r>
            <a:endParaRPr>
              <a:solidFill>
                <a:srgbClr val="A80000"/>
              </a:solidFill>
              <a:highlight>
                <a:srgbClr val="A80000"/>
              </a:highlight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228600" y="1158557"/>
            <a:ext cx="673200" cy="41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302" name="Google Shape;30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764038"/>
            <a:ext cx="5424281" cy="3131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24"/>
          <p:cNvGrpSpPr/>
          <p:nvPr/>
        </p:nvGrpSpPr>
        <p:grpSpPr>
          <a:xfrm>
            <a:off x="4706475" y="2170550"/>
            <a:ext cx="4208850" cy="925525"/>
            <a:chOff x="4706475" y="2170550"/>
            <a:chExt cx="4208850" cy="925525"/>
          </a:xfrm>
        </p:grpSpPr>
        <p:sp>
          <p:nvSpPr>
            <p:cNvPr id="304" name="Google Shape;304;p24"/>
            <p:cNvSpPr/>
            <p:nvPr/>
          </p:nvSpPr>
          <p:spPr>
            <a:xfrm>
              <a:off x="5995725" y="2170550"/>
              <a:ext cx="2919600" cy="925500"/>
            </a:xfrm>
            <a:prstGeom prst="roundRect">
              <a:avLst>
                <a:gd name="adj" fmla="val 5224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dk1"/>
                  </a:solidFill>
                </a:rPr>
                <a:t>Update your balance </a:t>
              </a:r>
              <a:br>
                <a:rPr lang="en" dirty="0">
                  <a:solidFill>
                    <a:schemeClr val="dk1"/>
                  </a:solidFill>
                </a:rPr>
              </a:br>
              <a:r>
                <a:rPr lang="en" dirty="0">
                  <a:solidFill>
                    <a:schemeClr val="dk1"/>
                  </a:solidFill>
                </a:rPr>
                <a:t>(can start with 1000+500)</a:t>
              </a:r>
              <a:endParaRPr dirty="0">
                <a:solidFill>
                  <a:srgbClr val="A80000"/>
                </a:solidFill>
                <a:highlight>
                  <a:srgbClr val="A80000"/>
                </a:highlight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4706475" y="2170575"/>
              <a:ext cx="899100" cy="925500"/>
            </a:xfrm>
            <a:prstGeom prst="rect">
              <a:avLst/>
            </a:prstGeom>
            <a:noFill/>
            <a:ln w="9525" cap="flat" cmpd="sng">
              <a:solidFill>
                <a:srgbClr val="A80000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6" name="Google Shape;306;p24"/>
            <p:cNvCxnSpPr>
              <a:stCxn id="305" idx="3"/>
              <a:endCxn id="304" idx="1"/>
            </p:cNvCxnSpPr>
            <p:nvPr/>
          </p:nvCxnSpPr>
          <p:spPr>
            <a:xfrm>
              <a:off x="5605575" y="2633325"/>
              <a:ext cx="3903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grpSp>
        <p:nvGrpSpPr>
          <p:cNvPr id="307" name="Google Shape;307;p24"/>
          <p:cNvGrpSpPr/>
          <p:nvPr/>
        </p:nvGrpSpPr>
        <p:grpSpPr>
          <a:xfrm>
            <a:off x="228600" y="3760475"/>
            <a:ext cx="8745300" cy="526200"/>
            <a:chOff x="228600" y="3760475"/>
            <a:chExt cx="8745300" cy="526200"/>
          </a:xfrm>
        </p:grpSpPr>
        <p:sp>
          <p:nvSpPr>
            <p:cNvPr id="308" name="Google Shape;308;p24"/>
            <p:cNvSpPr/>
            <p:nvPr/>
          </p:nvSpPr>
          <p:spPr>
            <a:xfrm>
              <a:off x="6054300" y="3760475"/>
              <a:ext cx="2919600" cy="526200"/>
            </a:xfrm>
            <a:prstGeom prst="roundRect">
              <a:avLst>
                <a:gd name="adj" fmla="val 5224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</a:rPr>
                <a:t>1-2 lines explaining your use case</a:t>
              </a:r>
              <a:endParaRPr>
                <a:solidFill>
                  <a:srgbClr val="A80000"/>
                </a:solidFill>
                <a:highlight>
                  <a:srgbClr val="A80000"/>
                </a:highlight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228600" y="3760475"/>
              <a:ext cx="4652158" cy="526200"/>
            </a:xfrm>
            <a:prstGeom prst="rect">
              <a:avLst/>
            </a:prstGeom>
            <a:noFill/>
            <a:ln w="9525" cap="flat" cmpd="sng">
              <a:solidFill>
                <a:srgbClr val="A80000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0" name="Google Shape;310;p24"/>
            <p:cNvCxnSpPr>
              <a:cxnSpLocks/>
              <a:stCxn id="309" idx="3"/>
              <a:endCxn id="308" idx="1"/>
            </p:cNvCxnSpPr>
            <p:nvPr/>
          </p:nvCxnSpPr>
          <p:spPr>
            <a:xfrm>
              <a:off x="4880758" y="4023575"/>
              <a:ext cx="1173542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grpSp>
        <p:nvGrpSpPr>
          <p:cNvPr id="311" name="Google Shape;311;p24"/>
          <p:cNvGrpSpPr/>
          <p:nvPr/>
        </p:nvGrpSpPr>
        <p:grpSpPr>
          <a:xfrm>
            <a:off x="1196203" y="4456229"/>
            <a:ext cx="1973127" cy="457199"/>
            <a:chOff x="1196203" y="4456229"/>
            <a:chExt cx="1973127" cy="457199"/>
          </a:xfrm>
        </p:grpSpPr>
        <p:pic>
          <p:nvPicPr>
            <p:cNvPr id="312" name="Google Shape;312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712131" y="4456229"/>
              <a:ext cx="457199" cy="457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24"/>
            <p:cNvSpPr/>
            <p:nvPr/>
          </p:nvSpPr>
          <p:spPr>
            <a:xfrm>
              <a:off x="1196203" y="4466525"/>
              <a:ext cx="1533300" cy="389700"/>
            </a:xfrm>
            <a:prstGeom prst="rect">
              <a:avLst/>
            </a:prstGeom>
            <a:noFill/>
            <a:ln w="9525" cap="flat" cmpd="sng">
              <a:solidFill>
                <a:srgbClr val="A80000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" name="Google Shape;314;p24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5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  <p:grpSp>
        <p:nvGrpSpPr>
          <p:cNvPr id="2" name="Google Shape;307;p24">
            <a:extLst>
              <a:ext uri="{FF2B5EF4-FFF2-40B4-BE49-F238E27FC236}">
                <a16:creationId xmlns:a16="http://schemas.microsoft.com/office/drawing/2014/main" id="{238E5BE2-139A-24D7-36FA-2DD043CEB690}"/>
              </a:ext>
            </a:extLst>
          </p:cNvPr>
          <p:cNvGrpSpPr/>
          <p:nvPr/>
        </p:nvGrpSpPr>
        <p:grpSpPr>
          <a:xfrm>
            <a:off x="228600" y="3151432"/>
            <a:ext cx="8712642" cy="272427"/>
            <a:chOff x="228600" y="3760475"/>
            <a:chExt cx="8712642" cy="526200"/>
          </a:xfrm>
        </p:grpSpPr>
        <p:sp>
          <p:nvSpPr>
            <p:cNvPr id="3" name="Google Shape;308;p24">
              <a:extLst>
                <a:ext uri="{FF2B5EF4-FFF2-40B4-BE49-F238E27FC236}">
                  <a16:creationId xmlns:a16="http://schemas.microsoft.com/office/drawing/2014/main" id="{BCC41572-40EE-90B2-99AB-CC194BF7E5B1}"/>
                </a:ext>
              </a:extLst>
            </p:cNvPr>
            <p:cNvSpPr/>
            <p:nvPr/>
          </p:nvSpPr>
          <p:spPr>
            <a:xfrm>
              <a:off x="6021642" y="3760475"/>
              <a:ext cx="2919600" cy="526200"/>
            </a:xfrm>
            <a:prstGeom prst="roundRect">
              <a:avLst>
                <a:gd name="adj" fmla="val 5224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dirty="0">
                  <a:solidFill>
                    <a:schemeClr val="dk1"/>
                  </a:solidFill>
                </a:rPr>
                <a:t>A</a:t>
              </a:r>
              <a:r>
                <a:rPr lang="en" dirty="0">
                  <a:solidFill>
                    <a:schemeClr val="dk1"/>
                  </a:solidFill>
                </a:rPr>
                <a:t>dd resources</a:t>
              </a:r>
              <a:endParaRPr dirty="0">
                <a:solidFill>
                  <a:srgbClr val="A80000"/>
                </a:solidFill>
                <a:highlight>
                  <a:srgbClr val="A80000"/>
                </a:highlight>
              </a:endParaRPr>
            </a:p>
          </p:txBody>
        </p:sp>
        <p:sp>
          <p:nvSpPr>
            <p:cNvPr id="4" name="Google Shape;309;p24">
              <a:extLst>
                <a:ext uri="{FF2B5EF4-FFF2-40B4-BE49-F238E27FC236}">
                  <a16:creationId xmlns:a16="http://schemas.microsoft.com/office/drawing/2014/main" id="{8A10B722-E369-9ED7-A105-9B09C55E6AA4}"/>
                </a:ext>
              </a:extLst>
            </p:cNvPr>
            <p:cNvSpPr/>
            <p:nvPr/>
          </p:nvSpPr>
          <p:spPr>
            <a:xfrm>
              <a:off x="228600" y="3760475"/>
              <a:ext cx="3023700" cy="526200"/>
            </a:xfrm>
            <a:prstGeom prst="rect">
              <a:avLst/>
            </a:prstGeom>
            <a:noFill/>
            <a:ln w="9525" cap="flat" cmpd="sng">
              <a:solidFill>
                <a:srgbClr val="A80000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310;p24">
              <a:extLst>
                <a:ext uri="{FF2B5EF4-FFF2-40B4-BE49-F238E27FC236}">
                  <a16:creationId xmlns:a16="http://schemas.microsoft.com/office/drawing/2014/main" id="{2AC55055-9E33-919D-D03C-D4E6203BE627}"/>
                </a:ext>
              </a:extLst>
            </p:cNvPr>
            <p:cNvCxnSpPr>
              <a:cxnSpLocks/>
              <a:stCxn id="4" idx="3"/>
              <a:endCxn id="3" idx="1"/>
            </p:cNvCxnSpPr>
            <p:nvPr/>
          </p:nvCxnSpPr>
          <p:spPr>
            <a:xfrm>
              <a:off x="3252300" y="4023576"/>
              <a:ext cx="2769342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920</Words>
  <Application>Microsoft Macintosh PowerPoint</Application>
  <PresentationFormat>On-screen Show (16:10)</PresentationFormat>
  <Paragraphs>171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Open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 Zheng</cp:lastModifiedBy>
  <cp:revision>12</cp:revision>
  <dcterms:modified xsi:type="dcterms:W3CDTF">2025-12-21T05:07:25Z</dcterms:modified>
</cp:coreProperties>
</file>