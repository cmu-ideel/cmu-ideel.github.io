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Average"/>
      <p:regular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412ac772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412ac772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558a6d07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558a6d0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465da5c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465da5c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204d69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3204d69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465da5c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465da5c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465da5c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465da5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3204d69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3204d69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465da5c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465da5c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41800a0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41800a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d558a6d07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d558a6d07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558a6d07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d558a6d07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558a6d0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d558a6d0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558a6d07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d558a6d07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558a6d0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d558a6d0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558a6d0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d558a6d0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d558a6d0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d558a6d0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558a6d07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d558a6d07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412ac77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412ac77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412ac77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412ac77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khushee@gmail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502350" y="232550"/>
            <a:ext cx="5241600" cy="15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Recitation 0.7</a:t>
            </a:r>
            <a:endParaRPr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verage"/>
                <a:ea typeface="Average"/>
                <a:cs typeface="Average"/>
                <a:sym typeface="Average"/>
              </a:rPr>
              <a:t>Git/Github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481150" y="4350900"/>
            <a:ext cx="3424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</a:rPr>
              <a:t>TA: Malihah &amp; Khushee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61" name="Google Shape;61;p13" title="Screenshot_2025-12-04_194506-removebg-preview-removebg-preview.png"/>
          <p:cNvPicPr preferRelativeResize="0"/>
          <p:nvPr/>
        </p:nvPicPr>
        <p:blipFill rotWithShape="1">
          <a:blip r:embed="rId3">
            <a:alphaModFix/>
          </a:blip>
          <a:srcRect b="12193" l="4495" r="5227" t="8936"/>
          <a:stretch/>
        </p:blipFill>
        <p:spPr>
          <a:xfrm>
            <a:off x="532200" y="1860863"/>
            <a:ext cx="5754050" cy="21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Screenshot_2025-12-04_195430-removebg-preview.png"/>
          <p:cNvPicPr preferRelativeResize="0"/>
          <p:nvPr/>
        </p:nvPicPr>
        <p:blipFill rotWithShape="1">
          <a:blip r:embed="rId4">
            <a:alphaModFix/>
          </a:blip>
          <a:srcRect b="37398" l="2865" r="2865" t="0"/>
          <a:stretch/>
        </p:blipFill>
        <p:spPr>
          <a:xfrm>
            <a:off x="0" y="-12"/>
            <a:ext cx="1502350" cy="1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2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900">
                <a:solidFill>
                  <a:schemeClr val="accent5"/>
                </a:solidFill>
              </a:rPr>
              <a:t>Git</a:t>
            </a:r>
            <a:endParaRPr sz="3900">
              <a:solidFill>
                <a:schemeClr val="accent5"/>
              </a:solidFill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Git is a </a:t>
            </a:r>
            <a:r>
              <a:rPr lang="en-GB" sz="2100">
                <a:solidFill>
                  <a:srgbClr val="3C78D8"/>
                </a:solidFill>
              </a:rPr>
              <a:t>Version Control System</a:t>
            </a:r>
            <a:r>
              <a:rPr lang="en-GB" sz="2100"/>
              <a:t>.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200"/>
            </a:br>
            <a:r>
              <a:rPr lang="en-GB" sz="1600">
                <a:solidFill>
                  <a:srgbClr val="CACACA"/>
                </a:solidFill>
                <a:latin typeface="Arial"/>
                <a:ea typeface="Arial"/>
                <a:cs typeface="Arial"/>
                <a:sym typeface="Arial"/>
              </a:rPr>
              <a:t>It is like a time machine + teamwork tool for code.</a:t>
            </a:r>
            <a:endParaRPr sz="2600">
              <a:solidFill>
                <a:srgbClr val="CACAC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5"/>
                </a:solidFill>
              </a:rPr>
              <a:t>Why Git?</a:t>
            </a:r>
            <a:br>
              <a:rPr b="1" lang="en-GB" sz="2100">
                <a:solidFill>
                  <a:schemeClr val="accent5"/>
                </a:solidFill>
              </a:rPr>
            </a:br>
            <a:endParaRPr i="1" sz="21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You Never Lose Your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Easy Teamwork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Safe Experimenting (Branches)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Fast and Efficient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69" name="Google Shape;69;p14" title="Screenshot_2025-12-04_194506-removebg-preview-removebg-preview.png"/>
          <p:cNvPicPr preferRelativeResize="0"/>
          <p:nvPr/>
        </p:nvPicPr>
        <p:blipFill rotWithShape="1">
          <a:blip r:embed="rId3">
            <a:alphaModFix/>
          </a:blip>
          <a:srcRect b="11857" l="4591" r="55656" t="9408"/>
          <a:stretch/>
        </p:blipFill>
        <p:spPr>
          <a:xfrm>
            <a:off x="6439175" y="171325"/>
            <a:ext cx="2447875" cy="22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Version Control System (VCS)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VCS is software that tracks and manages changes to files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over time, enabling collaboration and rollback.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Tracks changes to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Maintains version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team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rollback to older versions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Records who changed what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 flipH="1">
            <a:off x="7229225" y="1850075"/>
            <a:ext cx="2112000" cy="1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00"/>
              <a:t>vcs</a:t>
            </a:r>
            <a:endParaRPr sz="100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20950" y="1349350"/>
            <a:ext cx="6116400" cy="32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131417"/>
                </a:highlight>
                <a:latin typeface="Nunito"/>
                <a:ea typeface="Nunito"/>
                <a:cs typeface="Nunito"/>
                <a:sym typeface="Nunito"/>
              </a:rPr>
              <a:t>                </a:t>
            </a:r>
            <a:endParaRPr sz="1500">
              <a:solidFill>
                <a:schemeClr val="dk1"/>
              </a:solidFill>
              <a:highlight>
                <a:srgbClr val="131417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6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solidFill>
                  <a:srgbClr val="FF9900"/>
                </a:solidFill>
              </a:rPr>
              <a:t>Local VCS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 Local VCS</a:t>
            </a: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 stores all file versions and 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history on a single computer.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It tracks changes by saving snapshots in 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a version database and allows users 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to checkout versions for editing.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It works offline, supports solo development,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 and has no built-in collaboration features.</a:t>
            </a:r>
            <a:endParaRPr sz="15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10995" l="27854" r="27889" t="1107"/>
          <a:stretch/>
        </p:blipFill>
        <p:spPr>
          <a:xfrm>
            <a:off x="4836175" y="1585300"/>
            <a:ext cx="3996125" cy="34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6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Centralized VCS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Centralized VCS</a:t>
            </a:r>
            <a:r>
              <a:rPr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 stores all project versions on </a:t>
            </a:r>
            <a:endParaRPr sz="14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a central server, where users commit and</a:t>
            </a:r>
            <a:endParaRPr sz="14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 update changes, requiring network </a:t>
            </a:r>
            <a:endParaRPr sz="14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31417"/>
                </a:solidFill>
                <a:latin typeface="Arial"/>
                <a:ea typeface="Arial"/>
                <a:cs typeface="Arial"/>
                <a:sym typeface="Arial"/>
              </a:rPr>
              <a:t>access for collaboration.</a:t>
            </a:r>
            <a:endParaRPr sz="14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server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stores the complete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history.</a:t>
            </a:r>
            <a:endParaRPr sz="1400">
              <a:solidFill>
                <a:srgbClr val="1314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8" title="Centralized-Version-Control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575" y="1303413"/>
            <a:ext cx="5475125" cy="29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6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Distributed VCS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VCS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system where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user has a full local copy of the repository,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enabling offline commits, branching,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merging, and secure collaboration.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/>
          </a:p>
        </p:txBody>
      </p:sp>
      <p:pic>
        <p:nvPicPr>
          <p:cNvPr id="102" name="Google Shape;102;p19" title="distr v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121" y="1152475"/>
            <a:ext cx="516570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-2082" l="0" r="1370" t="-502"/>
          <a:stretch/>
        </p:blipFill>
        <p:spPr>
          <a:xfrm>
            <a:off x="-80925" y="-70800"/>
            <a:ext cx="9322025" cy="535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1384450" y="412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Github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ACAC6"/>
                </a:solidFill>
              </a:rPr>
              <a:t>GitHub is an online platform that hosts Git repositories</a:t>
            </a:r>
            <a:r>
              <a:rPr lang="en-GB">
                <a:solidFill>
                  <a:srgbClr val="CACAC6"/>
                </a:solidFill>
              </a:rPr>
              <a:t>, enabling </a:t>
            </a:r>
            <a:endParaRPr>
              <a:solidFill>
                <a:srgbClr val="CACAC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ACAC6"/>
                </a:solidFill>
              </a:rPr>
              <a:t>developers to store, share and manage their codes using Git.</a:t>
            </a:r>
            <a:br>
              <a:rPr lang="en-GB">
                <a:solidFill>
                  <a:srgbClr val="CACAC6"/>
                </a:solidFill>
              </a:rPr>
            </a:br>
            <a:br>
              <a:rPr lang="en-GB">
                <a:solidFill>
                  <a:srgbClr val="CACAC6"/>
                </a:solidFill>
              </a:rPr>
            </a:br>
            <a:r>
              <a:rPr lang="en-GB">
                <a:solidFill>
                  <a:srgbClr val="CACAC6"/>
                </a:solidFill>
              </a:rPr>
              <a:t>GitHub is like </a:t>
            </a:r>
            <a:r>
              <a:rPr b="1" lang="en-GB">
                <a:solidFill>
                  <a:srgbClr val="CACAC6"/>
                </a:solidFill>
              </a:rPr>
              <a:t>Google Drive for code</a:t>
            </a:r>
            <a:r>
              <a:rPr lang="en-GB">
                <a:solidFill>
                  <a:srgbClr val="CACAC6"/>
                </a:solidFill>
              </a:rPr>
              <a:t>, but with built-in version control, collaboration, and development tools.</a:t>
            </a:r>
            <a:endParaRPr>
              <a:solidFill>
                <a:srgbClr val="CACAC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https://github.com</a:t>
            </a:r>
            <a:endParaRPr i="1" sz="2100"/>
          </a:p>
        </p:txBody>
      </p:sp>
      <p:pic>
        <p:nvPicPr>
          <p:cNvPr id="116" name="Google Shape;116;p21" title="Screenshot_2025-12-04_194506-removebg-preview-removebg-preview.png"/>
          <p:cNvPicPr preferRelativeResize="0"/>
          <p:nvPr/>
        </p:nvPicPr>
        <p:blipFill rotWithShape="1">
          <a:blip r:embed="rId3">
            <a:alphaModFix/>
          </a:blip>
          <a:srcRect b="10371" l="55091" r="5955" t="6654"/>
          <a:stretch/>
        </p:blipFill>
        <p:spPr>
          <a:xfrm>
            <a:off x="311700" y="159050"/>
            <a:ext cx="1072757" cy="9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Setting up Git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Visual Studio Code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Windows (Git Bash)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Mac (Terminal)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git </a:t>
            </a:r>
            <a:r>
              <a:rPr i="1" lang="en-GB" sz="2100"/>
              <a:t>--</a:t>
            </a:r>
            <a:r>
              <a:rPr i="1" lang="en-GB" sz="2100"/>
              <a:t>version</a:t>
            </a:r>
            <a:endParaRPr i="1"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Configuring</a:t>
            </a:r>
            <a:r>
              <a:rPr lang="en-GB" sz="3200">
                <a:solidFill>
                  <a:schemeClr val="accent5"/>
                </a:solidFill>
              </a:rPr>
              <a:t> Git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/>
              <a:t>git config </a:t>
            </a:r>
            <a:r>
              <a:rPr i="1" lang="en-GB" sz="2100"/>
              <a:t>--global user.name “Khushee”</a:t>
            </a:r>
            <a:endParaRPr i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/>
              <a:t>git config --global user.email “</a:t>
            </a:r>
            <a:r>
              <a:rPr i="1" lang="en-GB" sz="2100" u="sng">
                <a:solidFill>
                  <a:schemeClr val="hlink"/>
                </a:solidFill>
                <a:hlinkClick r:id="rId3"/>
              </a:rPr>
              <a:t>khushee@gmail.com</a:t>
            </a:r>
            <a:r>
              <a:rPr i="1" lang="en-GB" sz="2100"/>
              <a:t>”</a:t>
            </a:r>
            <a:endParaRPr i="1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git config --list</a:t>
            </a:r>
            <a:endParaRPr i="1"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Github Account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Create a new repository : github-demo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/>
              <a:t>Make our first commit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Clone &amp; Status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Clone- </a:t>
            </a:r>
            <a:r>
              <a:rPr lang="en-GB" sz="2100">
                <a:solidFill>
                  <a:schemeClr val="dk1"/>
                </a:solidFill>
              </a:rPr>
              <a:t>Cloning a repository on our local machine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clone &lt;- some link 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status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displays the status of the code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status 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Add &amp; Commit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add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adds new or changed files in your working directory to the Git staging area.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add &lt;- file name 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commit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it is the record of change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commit -m “some message”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Push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Push</a:t>
            </a:r>
            <a:r>
              <a:rPr b="1" lang="en-GB" sz="2100">
                <a:solidFill>
                  <a:srgbClr val="A4C2F4"/>
                </a:solidFill>
              </a:rPr>
              <a:t>- upload local repo content to </a:t>
            </a:r>
            <a:r>
              <a:rPr b="1" lang="en-GB" sz="2100">
                <a:solidFill>
                  <a:srgbClr val="A4C2F4"/>
                </a:solidFill>
              </a:rPr>
              <a:t>remote</a:t>
            </a:r>
            <a:r>
              <a:rPr b="1" lang="en-GB" sz="2100">
                <a:solidFill>
                  <a:srgbClr val="A4C2F4"/>
                </a:solidFill>
              </a:rPr>
              <a:t> repo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push origin main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Init</a:t>
            </a:r>
            <a:r>
              <a:rPr lang="en-GB" sz="3200">
                <a:solidFill>
                  <a:schemeClr val="accent5"/>
                </a:solidFill>
              </a:rPr>
              <a:t>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init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remote add origin &lt;-link-&gt;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remote -v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branch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branch -M main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push origin main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 Branches</a:t>
            </a:r>
            <a:endParaRPr sz="3200">
              <a:solidFill>
                <a:schemeClr val="accent5"/>
              </a:solidFill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638" y="1203500"/>
            <a:ext cx="6436726" cy="32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Branch</a:t>
            </a:r>
            <a:r>
              <a:rPr lang="en-GB" sz="3200">
                <a:solidFill>
                  <a:schemeClr val="accent5"/>
                </a:solidFill>
              </a:rPr>
              <a:t>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</a:t>
            </a:r>
            <a:r>
              <a:rPr lang="en-GB" sz="2100">
                <a:solidFill>
                  <a:schemeClr val="dk1"/>
                </a:solidFill>
              </a:rPr>
              <a:t>(to check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-	M main </a:t>
            </a:r>
            <a:r>
              <a:rPr lang="en-GB" sz="2100">
                <a:solidFill>
                  <a:schemeClr val="dk1"/>
                </a:solidFill>
              </a:rPr>
              <a:t>(to rename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checkout &lt;-branch name-&gt; </a:t>
            </a:r>
            <a:r>
              <a:rPr lang="en-GB" sz="2100">
                <a:solidFill>
                  <a:schemeClr val="dk1"/>
                </a:solidFill>
              </a:rPr>
              <a:t>(to navigate)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checkout -b &lt;-new branch name-&gt; </a:t>
            </a:r>
            <a:r>
              <a:rPr lang="en-GB" sz="2100">
                <a:solidFill>
                  <a:schemeClr val="dk1"/>
                </a:solidFill>
              </a:rPr>
              <a:t>(to </a:t>
            </a:r>
            <a:r>
              <a:rPr lang="en-GB" sz="2100">
                <a:solidFill>
                  <a:schemeClr val="dk1"/>
                </a:solidFill>
              </a:rPr>
              <a:t>create</a:t>
            </a:r>
            <a:r>
              <a:rPr lang="en-GB" sz="2100">
                <a:solidFill>
                  <a:schemeClr val="dk1"/>
                </a:solidFill>
              </a:rPr>
              <a:t> new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-d &lt;- branch name-&gt;  </a:t>
            </a:r>
            <a:r>
              <a:rPr lang="en-GB" sz="2100">
                <a:solidFill>
                  <a:schemeClr val="dk1"/>
                </a:solidFill>
              </a:rPr>
              <a:t>(to delete branch)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Merging Code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Way 1</a:t>
            </a:r>
            <a:r>
              <a:rPr lang="en-GB" sz="2100">
                <a:solidFill>
                  <a:schemeClr val="dk1"/>
                </a:solidFill>
              </a:rPr>
              <a:t> 	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diff &lt;-branch name-&gt;  </a:t>
            </a:r>
            <a:r>
              <a:rPr lang="en-GB" sz="2100">
                <a:solidFill>
                  <a:schemeClr val="dk1"/>
                </a:solidFill>
              </a:rPr>
              <a:t>(to compare commits, branches, files &amp; more)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merge &lt;-branch name-&gt;  </a:t>
            </a:r>
            <a:r>
              <a:rPr lang="en-GB" sz="2100">
                <a:solidFill>
                  <a:schemeClr val="dk1"/>
                </a:solidFill>
              </a:rPr>
              <a:t>(to merge 2 branches)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Way 2</a:t>
            </a:r>
            <a:r>
              <a:rPr lang="en-GB" sz="2100">
                <a:solidFill>
                  <a:schemeClr val="dk1"/>
                </a:solidFill>
              </a:rPr>
              <a:t>	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Create a PR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