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jBPQ6dxrOa/+krcum5aAJZ1CEc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slide" Target="slides/slide43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-page3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5"/>
          <p:cNvSpPr txBox="1"/>
          <p:nvPr>
            <p:ph type="title"/>
          </p:nvPr>
        </p:nvSpPr>
        <p:spPr>
          <a:xfrm>
            <a:off x="457200" y="259200"/>
            <a:ext cx="8229240" cy="108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45"/>
          <p:cNvSpPr txBox="1"/>
          <p:nvPr>
            <p:ph idx="1" type="subTitle"/>
          </p:nvPr>
        </p:nvSpPr>
        <p:spPr>
          <a:xfrm>
            <a:off x="457200" y="1520280"/>
            <a:ext cx="8229240" cy="376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-page3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457200" y="259200"/>
            <a:ext cx="8229240" cy="108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457200" y="1520280"/>
            <a:ext cx="8229240" cy="376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43160" y="1855080"/>
            <a:ext cx="6384240" cy="636480"/>
          </a:xfrm>
          <a:custGeom>
            <a:rect b="b" l="l" r="r" t="t"/>
            <a:pathLst>
              <a:path extrusionOk="0" h="1768" w="17734">
                <a:moveTo>
                  <a:pt x="0" y="0"/>
                </a:moveTo>
                <a:lnTo>
                  <a:pt x="17734" y="0"/>
                </a:lnTo>
                <a:lnTo>
                  <a:pt x="17734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763440" y="3473640"/>
            <a:ext cx="1897560" cy="1028880"/>
          </a:xfrm>
          <a:custGeom>
            <a:rect b="b" l="l" r="r" t="t"/>
            <a:pathLst>
              <a:path extrusionOk="0" h="2858" w="5271">
                <a:moveTo>
                  <a:pt x="0" y="0"/>
                </a:moveTo>
                <a:lnTo>
                  <a:pt x="5271" y="0"/>
                </a:lnTo>
                <a:lnTo>
                  <a:pt x="5271" y="2858"/>
                </a:lnTo>
                <a:lnTo>
                  <a:pt x="0" y="28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356120" y="1868760"/>
            <a:ext cx="63439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Introduction to Deep Learning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3651689" y="2931977"/>
            <a:ext cx="15922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0. Logistics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977560" y="4856400"/>
            <a:ext cx="3468960" cy="1383120"/>
          </a:xfrm>
          <a:custGeom>
            <a:rect b="b" l="l" r="r" t="t"/>
            <a:pathLst>
              <a:path extrusionOk="0" h="3842" w="9636">
                <a:moveTo>
                  <a:pt x="0" y="0"/>
                </a:moveTo>
                <a:lnTo>
                  <a:pt x="9636" y="0"/>
                </a:lnTo>
                <a:lnTo>
                  <a:pt x="9636" y="3842"/>
                </a:lnTo>
                <a:lnTo>
                  <a:pt x="0" y="384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3706200" y="3326357"/>
            <a:ext cx="17316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Fall 2026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473460" y="4553842"/>
            <a:ext cx="21236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3408700" y="5117073"/>
            <a:ext cx="232659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Bradley Warren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3834359" y="5565883"/>
            <a:ext cx="122693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Head TA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26172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07040" y="1771200"/>
            <a:ext cx="7497720" cy="3419280"/>
          </a:xfrm>
          <a:custGeom>
            <a:rect b="b" l="l" r="r" t="t"/>
            <a:pathLst>
              <a:path extrusionOk="0" h="9498" w="20827">
                <a:moveTo>
                  <a:pt x="0" y="0"/>
                </a:moveTo>
                <a:lnTo>
                  <a:pt x="20827" y="0"/>
                </a:lnTo>
                <a:lnTo>
                  <a:pt x="20827" y="9498"/>
                </a:lnTo>
                <a:lnTo>
                  <a:pt x="0" y="94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3427953" y="621700"/>
            <a:ext cx="205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73280" y="18003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947160" y="1783800"/>
            <a:ext cx="18820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Introduction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73280" y="229104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47160" y="2274480"/>
            <a:ext cx="63165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Instructor, TAs, Course Topics, and You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773280" y="27817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44840" y="2836800"/>
            <a:ext cx="1261440" cy="434520"/>
          </a:xfrm>
          <a:custGeom>
            <a:rect b="b" l="l" r="r" t="t"/>
            <a:pathLst>
              <a:path extrusionOk="0" h="1207" w="3504">
                <a:moveTo>
                  <a:pt x="0" y="0"/>
                </a:moveTo>
                <a:lnTo>
                  <a:pt x="3504" y="0"/>
                </a:lnTo>
                <a:lnTo>
                  <a:pt x="3504" y="1207"/>
                </a:lnTo>
                <a:lnTo>
                  <a:pt x="0" y="12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858797" y="2757240"/>
            <a:ext cx="41683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Challenge of the Course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773280" y="32727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947160" y="3255840"/>
            <a:ext cx="39438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Components of the Course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773280" y="376344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947160" y="3746520"/>
            <a:ext cx="462819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“Give it everything you’ve got” 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773280" y="42541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947160" y="4237200"/>
            <a:ext cx="38224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Components of the Grade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773280" y="474480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947160" y="4728240"/>
            <a:ext cx="42483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Common Sense and Integrity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43400" y="646200"/>
            <a:ext cx="7710480" cy="630000"/>
          </a:xfrm>
          <a:custGeom>
            <a:rect b="b" l="l" r="r" t="t"/>
            <a:pathLst>
              <a:path extrusionOk="0" h="1750" w="21418">
                <a:moveTo>
                  <a:pt x="0" y="0"/>
                </a:moveTo>
                <a:lnTo>
                  <a:pt x="21418" y="0"/>
                </a:lnTo>
                <a:lnTo>
                  <a:pt x="21418" y="1750"/>
                </a:lnTo>
                <a:lnTo>
                  <a:pt x="0" y="17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07040" y="1771200"/>
            <a:ext cx="7497720" cy="3419280"/>
          </a:xfrm>
          <a:custGeom>
            <a:rect b="b" l="l" r="r" t="t"/>
            <a:pathLst>
              <a:path extrusionOk="0" h="9498" w="20827">
                <a:moveTo>
                  <a:pt x="0" y="0"/>
                </a:moveTo>
                <a:lnTo>
                  <a:pt x="20827" y="0"/>
                </a:lnTo>
                <a:lnTo>
                  <a:pt x="20827" y="9498"/>
                </a:lnTo>
                <a:lnTo>
                  <a:pt x="0" y="94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773280" y="18003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947160" y="1783800"/>
            <a:ext cx="19256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Introduction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773280" y="229104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947160" y="2274480"/>
            <a:ext cx="63968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Instructor, TAs, Course Topics, and You 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773280" y="27817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644840" y="2836800"/>
            <a:ext cx="1261440" cy="434520"/>
          </a:xfrm>
          <a:custGeom>
            <a:rect b="b" l="l" r="r" t="t"/>
            <a:pathLst>
              <a:path extrusionOk="0" h="1207" w="3504">
                <a:moveTo>
                  <a:pt x="0" y="0"/>
                </a:moveTo>
                <a:lnTo>
                  <a:pt x="3504" y="0"/>
                </a:lnTo>
                <a:lnTo>
                  <a:pt x="3504" y="1207"/>
                </a:lnTo>
                <a:lnTo>
                  <a:pt x="0" y="12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947160" y="2757240"/>
            <a:ext cx="41683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Challenge of the Course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773280" y="32727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947160" y="3255840"/>
            <a:ext cx="39438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Components of the Course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773280" y="376344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947160" y="3746520"/>
            <a:ext cx="462819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“Give it everything you’ve got” 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773280" y="42541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947160" y="4237200"/>
            <a:ext cx="38224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Components of the Grade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773280" y="474480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947160" y="4728240"/>
            <a:ext cx="42483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Common Sense and Integrity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3427953" y="621700"/>
            <a:ext cx="205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91160" y="2468160"/>
            <a:ext cx="6554160" cy="4080960"/>
          </a:xfrm>
          <a:custGeom>
            <a:rect b="b" l="l" r="r" t="t"/>
            <a:pathLst>
              <a:path extrusionOk="0" h="11336" w="18206">
                <a:moveTo>
                  <a:pt x="0" y="0"/>
                </a:moveTo>
                <a:lnTo>
                  <a:pt x="18206" y="0"/>
                </a:lnTo>
                <a:lnTo>
                  <a:pt x="18206" y="11336"/>
                </a:lnTo>
                <a:lnTo>
                  <a:pt x="0" y="1133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520" y="2468160"/>
            <a:ext cx="6553440" cy="408024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6837120" y="3360600"/>
            <a:ext cx="2139840" cy="2158200"/>
          </a:xfrm>
          <a:custGeom>
            <a:rect b="b" l="l" r="r" t="t"/>
            <a:pathLst>
              <a:path extrusionOk="0" h="5995" w="5944">
                <a:moveTo>
                  <a:pt x="0" y="0"/>
                </a:moveTo>
                <a:lnTo>
                  <a:pt x="5944" y="0"/>
                </a:lnTo>
                <a:lnTo>
                  <a:pt x="5944" y="5995"/>
                </a:lnTo>
                <a:lnTo>
                  <a:pt x="0" y="599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2320" y="3360960"/>
            <a:ext cx="3835440" cy="215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4923720" y="479880"/>
            <a:ext cx="3915360" cy="2608200"/>
          </a:xfrm>
          <a:custGeom>
            <a:rect b="b" l="l" r="r" t="t"/>
            <a:pathLst>
              <a:path extrusionOk="0" h="7245" w="10876">
                <a:moveTo>
                  <a:pt x="0" y="0"/>
                </a:moveTo>
                <a:lnTo>
                  <a:pt x="10876" y="0"/>
                </a:lnTo>
                <a:lnTo>
                  <a:pt x="10876" y="7245"/>
                </a:lnTo>
                <a:lnTo>
                  <a:pt x="0" y="72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4080" y="479880"/>
            <a:ext cx="3914280" cy="260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819360" y="874800"/>
            <a:ext cx="7710840" cy="1245960"/>
          </a:xfrm>
          <a:custGeom>
            <a:rect b="b" l="l" r="r" t="t"/>
            <a:pathLst>
              <a:path extrusionOk="0" h="3461" w="21419">
                <a:moveTo>
                  <a:pt x="0" y="0"/>
                </a:moveTo>
                <a:lnTo>
                  <a:pt x="21419" y="0"/>
                </a:lnTo>
                <a:lnTo>
                  <a:pt x="21419" y="3461"/>
                </a:lnTo>
                <a:lnTo>
                  <a:pt x="0" y="34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149120" y="888480"/>
            <a:ext cx="36910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Neural Networks 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1149120" y="1497960"/>
            <a:ext cx="33382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are taking over!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19360" y="874800"/>
            <a:ext cx="7710840" cy="630000"/>
          </a:xfrm>
          <a:custGeom>
            <a:rect b="b" l="l" r="r" t="t"/>
            <a:pathLst>
              <a:path extrusionOk="0" h="1750" w="21419">
                <a:moveTo>
                  <a:pt x="0" y="0"/>
                </a:moveTo>
                <a:lnTo>
                  <a:pt x="21419" y="0"/>
                </a:lnTo>
                <a:lnTo>
                  <a:pt x="21419" y="1750"/>
                </a:lnTo>
                <a:lnTo>
                  <a:pt x="0" y="17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662920" y="3270240"/>
            <a:ext cx="2628360" cy="2603520"/>
          </a:xfrm>
          <a:custGeom>
            <a:rect b="b" l="l" r="r" t="t"/>
            <a:pathLst>
              <a:path extrusionOk="0" h="7232" w="7301">
                <a:moveTo>
                  <a:pt x="0" y="0"/>
                </a:moveTo>
                <a:lnTo>
                  <a:pt x="7301" y="0"/>
                </a:lnTo>
                <a:lnTo>
                  <a:pt x="7301" y="7232"/>
                </a:lnTo>
                <a:lnTo>
                  <a:pt x="0" y="723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570640" y="2449440"/>
            <a:ext cx="3261240" cy="1959120"/>
          </a:xfrm>
          <a:custGeom>
            <a:rect b="b" l="l" r="r" t="t"/>
            <a:pathLst>
              <a:path extrusionOk="0" h="5442" w="9059">
                <a:moveTo>
                  <a:pt x="0" y="0"/>
                </a:moveTo>
                <a:lnTo>
                  <a:pt x="9059" y="0"/>
                </a:lnTo>
                <a:lnTo>
                  <a:pt x="9059" y="5442"/>
                </a:lnTo>
                <a:lnTo>
                  <a:pt x="0" y="544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646960" y="2490120"/>
            <a:ext cx="1822680" cy="1822680"/>
          </a:xfrm>
          <a:custGeom>
            <a:rect b="b" l="l" r="r" t="t"/>
            <a:pathLst>
              <a:path extrusionOk="0" h="5063" w="5063">
                <a:moveTo>
                  <a:pt x="0" y="0"/>
                </a:moveTo>
                <a:lnTo>
                  <a:pt x="5063" y="0"/>
                </a:lnTo>
                <a:lnTo>
                  <a:pt x="5063" y="5063"/>
                </a:lnTo>
                <a:lnTo>
                  <a:pt x="0" y="50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18960" y="2037960"/>
            <a:ext cx="2103120" cy="2289600"/>
          </a:xfrm>
          <a:custGeom>
            <a:rect b="b" l="l" r="r" t="t"/>
            <a:pathLst>
              <a:path extrusionOk="0" h="6360" w="5842">
                <a:moveTo>
                  <a:pt x="0" y="0"/>
                </a:moveTo>
                <a:lnTo>
                  <a:pt x="5842" y="0"/>
                </a:lnTo>
                <a:lnTo>
                  <a:pt x="5842" y="6360"/>
                </a:lnTo>
                <a:lnTo>
                  <a:pt x="0" y="63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7951" l="0" r="0" t="0"/>
          <a:stretch/>
        </p:blipFill>
        <p:spPr>
          <a:xfrm>
            <a:off x="0" y="2095740"/>
            <a:ext cx="3095280" cy="245448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2925720" y="2037960"/>
            <a:ext cx="2102760" cy="1170720"/>
          </a:xfrm>
          <a:custGeom>
            <a:rect b="b" l="l" r="r" t="t"/>
            <a:pathLst>
              <a:path extrusionOk="0" h="3252" w="5841">
                <a:moveTo>
                  <a:pt x="0" y="0"/>
                </a:moveTo>
                <a:lnTo>
                  <a:pt x="5841" y="0"/>
                </a:lnTo>
                <a:lnTo>
                  <a:pt x="5841" y="3252"/>
                </a:lnTo>
                <a:lnTo>
                  <a:pt x="0" y="325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5720" y="2037960"/>
            <a:ext cx="2102040" cy="11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1149120" y="888480"/>
            <a:ext cx="702864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Neural Networks are taking over!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laude Logo PNG Vector (SVG) Free Download"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5063" y="1876431"/>
            <a:ext cx="3105137" cy="3105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epSeek AI Icon Logo PNG Vector" id="101" name="Google Shape;10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0926" y="3482272"/>
            <a:ext cx="2242457" cy="2242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28880" y="1026000"/>
            <a:ext cx="5619960" cy="2796480"/>
          </a:xfrm>
          <a:custGeom>
            <a:rect b="b" l="l" r="r" t="t"/>
            <a:pathLst>
              <a:path extrusionOk="0" h="7768" w="15611">
                <a:moveTo>
                  <a:pt x="0" y="0"/>
                </a:moveTo>
                <a:lnTo>
                  <a:pt x="15611" y="0"/>
                </a:lnTo>
                <a:lnTo>
                  <a:pt x="15611" y="7768"/>
                </a:lnTo>
                <a:lnTo>
                  <a:pt x="0" y="7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423680" y="4253760"/>
            <a:ext cx="4522680" cy="2374560"/>
          </a:xfrm>
          <a:custGeom>
            <a:rect b="b" l="l" r="r" t="t"/>
            <a:pathLst>
              <a:path extrusionOk="0" h="6596" w="12563">
                <a:moveTo>
                  <a:pt x="0" y="0"/>
                </a:moveTo>
                <a:lnTo>
                  <a:pt x="12563" y="0"/>
                </a:lnTo>
                <a:lnTo>
                  <a:pt x="12563" y="6596"/>
                </a:lnTo>
                <a:lnTo>
                  <a:pt x="0" y="659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31360" y="970920"/>
            <a:ext cx="3117600" cy="3130920"/>
          </a:xfrm>
          <a:custGeom>
            <a:rect b="b" l="l" r="r" t="t"/>
            <a:pathLst>
              <a:path extrusionOk="0" h="8697" w="8660">
                <a:moveTo>
                  <a:pt x="0" y="0"/>
                </a:moveTo>
                <a:lnTo>
                  <a:pt x="8660" y="0"/>
                </a:lnTo>
                <a:lnTo>
                  <a:pt x="8660" y="8697"/>
                </a:lnTo>
                <a:lnTo>
                  <a:pt x="0" y="869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6840" y="3994920"/>
            <a:ext cx="4053600" cy="2636640"/>
          </a:xfrm>
          <a:custGeom>
            <a:rect b="b" l="l" r="r" t="t"/>
            <a:pathLst>
              <a:path extrusionOk="0" h="7324" w="11260">
                <a:moveTo>
                  <a:pt x="0" y="0"/>
                </a:moveTo>
                <a:lnTo>
                  <a:pt x="11260" y="0"/>
                </a:lnTo>
                <a:lnTo>
                  <a:pt x="11260" y="7324"/>
                </a:lnTo>
                <a:lnTo>
                  <a:pt x="0" y="732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19920" y="264960"/>
            <a:ext cx="7904160" cy="630000"/>
          </a:xfrm>
          <a:custGeom>
            <a:rect b="b" l="l" r="r" t="t"/>
            <a:pathLst>
              <a:path extrusionOk="0" h="1750" w="21956">
                <a:moveTo>
                  <a:pt x="0" y="0"/>
                </a:moveTo>
                <a:lnTo>
                  <a:pt x="21956" y="0"/>
                </a:lnTo>
                <a:lnTo>
                  <a:pt x="21956" y="1750"/>
                </a:lnTo>
                <a:lnTo>
                  <a:pt x="0" y="17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3032280" y="279000"/>
            <a:ext cx="31042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Breakthroughs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ow Will Smith eating spaghetti became the 'test' of AI video - BBC Bitesize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665" y="1034811"/>
            <a:ext cx="8491550" cy="4776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2080" y="1461960"/>
            <a:ext cx="4534560" cy="4564800"/>
          </a:xfrm>
          <a:custGeom>
            <a:rect b="b" l="l" r="r" t="t"/>
            <a:pathLst>
              <a:path extrusionOk="0" h="12680" w="12596">
                <a:moveTo>
                  <a:pt x="0" y="0"/>
                </a:moveTo>
                <a:lnTo>
                  <a:pt x="12596" y="0"/>
                </a:lnTo>
                <a:lnTo>
                  <a:pt x="12596" y="12680"/>
                </a:lnTo>
                <a:lnTo>
                  <a:pt x="0" y="1268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2660400" y="659880"/>
            <a:ext cx="38667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Instructor and TAs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83280" y="15422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973440" y="1531080"/>
            <a:ext cx="10310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Instructor: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1180800" y="1875240"/>
            <a:ext cx="2408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530720" y="1875240"/>
            <a:ext cx="11170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Bhiksha Raj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1180800" y="2219760"/>
            <a:ext cx="2408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1530720" y="2219760"/>
            <a:ext cx="9694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Rita Singh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683280" y="28101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973440" y="2799000"/>
            <a:ext cx="4161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TAs: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1090800" y="32191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1372680" y="3207960"/>
            <a:ext cx="27720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of TAs, with email ids on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372680" y="3549240"/>
            <a:ext cx="118332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 page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090800" y="38624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1372680" y="3850920"/>
            <a:ext cx="33498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have TAs from the Pittsburgh,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372680" y="4192200"/>
            <a:ext cx="33868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Kigali, and Silicon Valley Campuses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090800" y="455760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1372680" y="4546440"/>
            <a:ext cx="28335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and in-person office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1372680" y="4869720"/>
            <a:ext cx="19155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hours are provided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671040" y="54147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69840" y="5741640"/>
            <a:ext cx="3219120" cy="294840"/>
          </a:xfrm>
          <a:custGeom>
            <a:rect b="b" l="l" r="r" t="t"/>
            <a:pathLst>
              <a:path extrusionOk="0" h="819" w="8942">
                <a:moveTo>
                  <a:pt x="0" y="0"/>
                </a:moveTo>
                <a:lnTo>
                  <a:pt x="8942" y="0"/>
                </a:lnTo>
                <a:lnTo>
                  <a:pt x="8942" y="819"/>
                </a:lnTo>
                <a:lnTo>
                  <a:pt x="0" y="81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970200" y="5403600"/>
            <a:ext cx="32968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 hours: see course webpage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69840" y="5938200"/>
            <a:ext cx="3219120" cy="22320"/>
          </a:xfrm>
          <a:custGeom>
            <a:rect b="b" l="l" r="r" t="t"/>
            <a:pathLst>
              <a:path extrusionOk="0" h="62" w="8942">
                <a:moveTo>
                  <a:pt x="0" y="0"/>
                </a:moveTo>
                <a:lnTo>
                  <a:pt x="8942" y="0"/>
                </a:lnTo>
                <a:lnTo>
                  <a:pt x="8942" y="62"/>
                </a:lnTo>
                <a:lnTo>
                  <a:pt x="0" y="62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10080" y="1889640"/>
            <a:ext cx="2847240" cy="2853360"/>
          </a:xfrm>
          <a:custGeom>
            <a:rect b="b" l="l" r="r" t="t"/>
            <a:pathLst>
              <a:path extrusionOk="0" h="7926" w="7909">
                <a:moveTo>
                  <a:pt x="0" y="0"/>
                </a:moveTo>
                <a:lnTo>
                  <a:pt x="7909" y="0"/>
                </a:lnTo>
                <a:lnTo>
                  <a:pt x="7909" y="7926"/>
                </a:lnTo>
                <a:lnTo>
                  <a:pt x="0" y="792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080" y="1889640"/>
            <a:ext cx="2846520" cy="2852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5405400" y="1884960"/>
            <a:ext cx="2856600" cy="2862720"/>
          </a:xfrm>
          <a:custGeom>
            <a:rect b="b" l="l" r="r" t="t"/>
            <a:pathLst>
              <a:path extrusionOk="0" fill="none" h="7952" w="7935">
                <a:moveTo>
                  <a:pt x="0" y="0"/>
                </a:moveTo>
                <a:lnTo>
                  <a:pt x="7935" y="0"/>
                </a:lnTo>
                <a:lnTo>
                  <a:pt x="7935" y="7952"/>
                </a:lnTo>
                <a:lnTo>
                  <a:pt x="0" y="7952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75" lIns="4675" spcFirstLastPara="1" rIns="4675" wrap="square" tIns="4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970200" y="5693040"/>
            <a:ext cx="32115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https://deeplearning.cs.cmu.edu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59240" y="1759680"/>
            <a:ext cx="6433560" cy="3447720"/>
          </a:xfrm>
          <a:custGeom>
            <a:rect b="b" l="l" r="r" t="t"/>
            <a:pathLst>
              <a:path extrusionOk="0" h="9577" w="17871">
                <a:moveTo>
                  <a:pt x="0" y="0"/>
                </a:moveTo>
                <a:lnTo>
                  <a:pt x="17871" y="0"/>
                </a:lnTo>
                <a:lnTo>
                  <a:pt x="17871" y="9577"/>
                </a:lnTo>
                <a:lnTo>
                  <a:pt x="0" y="957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817200" y="1772280"/>
            <a:ext cx="3427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216440" y="1772280"/>
            <a:ext cx="23432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Required Classes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1355760" y="2183400"/>
            <a:ext cx="2916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673640" y="2183400"/>
            <a:ext cx="554328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Fundamental of Programming (or equivalent) -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1355760" y="2533680"/>
            <a:ext cx="2916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673640" y="2533680"/>
            <a:ext cx="194328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Python, PyTorch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817200" y="3297600"/>
            <a:ext cx="3427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216440" y="3297600"/>
            <a:ext cx="42260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Highly Recommended Classes: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1355760" y="3708720"/>
            <a:ext cx="2916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1673640" y="3708720"/>
            <a:ext cx="327024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Calculus and Linear Algebra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817200" y="4410000"/>
            <a:ext cx="3427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216440" y="4410000"/>
            <a:ext cx="182880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Nice to have: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1355760" y="4821120"/>
            <a:ext cx="2916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30000" y="793080"/>
            <a:ext cx="7884000" cy="629280"/>
          </a:xfrm>
          <a:custGeom>
            <a:rect b="b" l="l" r="r" t="t"/>
            <a:pathLst>
              <a:path extrusionOk="0" h="1748" w="21900">
                <a:moveTo>
                  <a:pt x="0" y="0"/>
                </a:moveTo>
                <a:lnTo>
                  <a:pt x="21900" y="0"/>
                </a:lnTo>
                <a:lnTo>
                  <a:pt x="2190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673640" y="4821120"/>
            <a:ext cx="49518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 Calculus and Software Engineering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208520" y="806760"/>
            <a:ext cx="67507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Who is the course designed for?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43400" y="646200"/>
            <a:ext cx="7710480" cy="629280"/>
          </a:xfrm>
          <a:custGeom>
            <a:rect b="b" l="l" r="r" t="t"/>
            <a:pathLst>
              <a:path extrusionOk="0" h="1748" w="21418">
                <a:moveTo>
                  <a:pt x="0" y="0"/>
                </a:moveTo>
                <a:lnTo>
                  <a:pt x="21418" y="0"/>
                </a:lnTo>
                <a:lnTo>
                  <a:pt x="2141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06600" y="1495080"/>
            <a:ext cx="5806800" cy="5008320"/>
          </a:xfrm>
          <a:custGeom>
            <a:rect b="b" l="l" r="r" t="t"/>
            <a:pathLst>
              <a:path extrusionOk="0" h="13912" w="16130">
                <a:moveTo>
                  <a:pt x="0" y="0"/>
                </a:moveTo>
                <a:lnTo>
                  <a:pt x="16130" y="0"/>
                </a:lnTo>
                <a:lnTo>
                  <a:pt x="16130" y="13912"/>
                </a:lnTo>
                <a:lnTo>
                  <a:pt x="0" y="1391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2287440" y="659880"/>
            <a:ext cx="46803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General Course Topics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653760" y="154584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951480" y="1535040"/>
            <a:ext cx="310932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Introductory Network Structures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050840" y="185076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350720" y="1839960"/>
            <a:ext cx="213516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Multilayer Perceptrons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1050840" y="21736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350720" y="2162880"/>
            <a:ext cx="291096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Convolutional Neural Networks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1050840" y="24688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1350720" y="2458440"/>
            <a:ext cx="25466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Recurrent Neural Networks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050840" y="27712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350720" y="2760480"/>
            <a:ext cx="194652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Boltzmann Machines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653760" y="309420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951480" y="3083760"/>
            <a:ext cx="171612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Beyond the Basics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1050840" y="339012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350720" y="3379680"/>
            <a:ext cx="23324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Generative models: VAEs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1050840" y="369504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1350720" y="3684240"/>
            <a:ext cx="239976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Adversarial models: GANs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050840" y="401832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1350720" y="4007520"/>
            <a:ext cx="21956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Graph Neural Networks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1064160" y="4330800"/>
            <a:ext cx="2282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1350720" y="4330800"/>
            <a:ext cx="124632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Transformers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653760" y="463752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951480" y="4626720"/>
            <a:ext cx="20534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Practical Focus Areas: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1050840" y="491184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1350720" y="4901040"/>
            <a:ext cx="34070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vision: recognizing images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050840" y="521352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1350720" y="5202720"/>
            <a:ext cx="482256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processing: modelling and generating language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1050840" y="553716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350720" y="5526360"/>
            <a:ext cx="504360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translation: Sequence to sequence modelling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1050840" y="586296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1350720" y="5852160"/>
            <a:ext cx="407556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Modelling distributions and generating data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1050840" y="618696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1350720" y="6176160"/>
            <a:ext cx="178056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Speech recognition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719640" y="1808280"/>
            <a:ext cx="7126200" cy="3394080"/>
          </a:xfrm>
          <a:custGeom>
            <a:rect b="b" l="l" r="r" t="t"/>
            <a:pathLst>
              <a:path extrusionOk="0" h="9428" w="19795">
                <a:moveTo>
                  <a:pt x="0" y="0"/>
                </a:moveTo>
                <a:lnTo>
                  <a:pt x="19795" y="0"/>
                </a:lnTo>
                <a:lnTo>
                  <a:pt x="19795" y="9428"/>
                </a:lnTo>
                <a:lnTo>
                  <a:pt x="0" y="942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739440" y="188424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076760" y="1868400"/>
            <a:ext cx="50770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course is implementation heavy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1168200" y="234360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1476000" y="2331000"/>
            <a:ext cx="25178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a lot of coding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1168200" y="271548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1476000" y="2702880"/>
            <a:ext cx="33123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a lot of experimenting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168200" y="308448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1476000" y="3071880"/>
            <a:ext cx="42206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will work with some large datasets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739440" y="35370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1076760" y="3520800"/>
            <a:ext cx="48711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 Language of choice: Python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739440" y="40125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1076760" y="3996360"/>
            <a:ext cx="46382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 Toolkit of choice: PyTorch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167840" y="448668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1476000" y="4474080"/>
            <a:ext cx="628848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are welcome to use other languages/toolkits, but the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30000" y="793080"/>
            <a:ext cx="7884000" cy="629280"/>
          </a:xfrm>
          <a:custGeom>
            <a:rect b="b" l="l" r="r" t="t"/>
            <a:pathLst>
              <a:path extrusionOk="0" h="1748" w="21900">
                <a:moveTo>
                  <a:pt x="0" y="0"/>
                </a:moveTo>
                <a:lnTo>
                  <a:pt x="21900" y="0"/>
                </a:lnTo>
                <a:lnTo>
                  <a:pt x="2190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1476000" y="4842360"/>
            <a:ext cx="55314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TAs will not be able to help with coding/homework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1208520" y="806760"/>
            <a:ext cx="67507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Who is the course designed for?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230200" y="413280"/>
            <a:ext cx="4700520" cy="636480"/>
          </a:xfrm>
          <a:custGeom>
            <a:rect b="b" l="l" r="r" t="t"/>
            <a:pathLst>
              <a:path extrusionOk="0" h="1768" w="13057">
                <a:moveTo>
                  <a:pt x="0" y="0"/>
                </a:moveTo>
                <a:lnTo>
                  <a:pt x="13057" y="0"/>
                </a:lnTo>
                <a:lnTo>
                  <a:pt x="13057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49800" y="1233360"/>
            <a:ext cx="2349720" cy="454320"/>
          </a:xfrm>
          <a:custGeom>
            <a:rect b="b" l="l" r="r" t="t"/>
            <a:pathLst>
              <a:path extrusionOk="0" h="1262" w="6527">
                <a:moveTo>
                  <a:pt x="0" y="0"/>
                </a:moveTo>
                <a:lnTo>
                  <a:pt x="6527" y="0"/>
                </a:lnTo>
                <a:lnTo>
                  <a:pt x="6527" y="1262"/>
                </a:lnTo>
                <a:lnTo>
                  <a:pt x="0" y="126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2243160" y="426960"/>
            <a:ext cx="4666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This course is not easy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710280" y="129708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006920" y="1245600"/>
            <a:ext cx="19724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230200" y="413280"/>
            <a:ext cx="4700520" cy="636480"/>
          </a:xfrm>
          <a:custGeom>
            <a:rect b="b" l="l" r="r" t="t"/>
            <a:pathLst>
              <a:path extrusionOk="0" h="1768" w="13057">
                <a:moveTo>
                  <a:pt x="0" y="0"/>
                </a:moveTo>
                <a:lnTo>
                  <a:pt x="13057" y="0"/>
                </a:lnTo>
                <a:lnTo>
                  <a:pt x="13057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49800" y="1170360"/>
            <a:ext cx="2902320" cy="1004760"/>
          </a:xfrm>
          <a:custGeom>
            <a:rect b="b" l="l" r="r" t="t"/>
            <a:pathLst>
              <a:path extrusionOk="0" h="2791" w="8062">
                <a:moveTo>
                  <a:pt x="0" y="0"/>
                </a:moveTo>
                <a:lnTo>
                  <a:pt x="8062" y="0"/>
                </a:lnTo>
                <a:lnTo>
                  <a:pt x="8062" y="2791"/>
                </a:lnTo>
                <a:lnTo>
                  <a:pt x="0" y="279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2243160" y="426960"/>
            <a:ext cx="4666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This course is not easy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710280" y="13010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1006920" y="1249920"/>
            <a:ext cx="19724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710280" y="17924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006920" y="1740960"/>
            <a:ext cx="20880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2230200" y="413280"/>
            <a:ext cx="4700520" cy="636480"/>
          </a:xfrm>
          <a:custGeom>
            <a:rect b="b" l="l" r="r" t="t"/>
            <a:pathLst>
              <a:path extrusionOk="0" h="1768" w="13057">
                <a:moveTo>
                  <a:pt x="0" y="0"/>
                </a:moveTo>
                <a:lnTo>
                  <a:pt x="13057" y="0"/>
                </a:lnTo>
                <a:lnTo>
                  <a:pt x="13057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49800" y="1170360"/>
            <a:ext cx="2581560" cy="1487160"/>
          </a:xfrm>
          <a:custGeom>
            <a:rect b="b" l="l" r="r" t="t"/>
            <a:pathLst>
              <a:path extrusionOk="0" h="4131" w="7171">
                <a:moveTo>
                  <a:pt x="0" y="0"/>
                </a:moveTo>
                <a:lnTo>
                  <a:pt x="7171" y="0"/>
                </a:lnTo>
                <a:lnTo>
                  <a:pt x="7171" y="4131"/>
                </a:lnTo>
                <a:lnTo>
                  <a:pt x="0" y="413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2243160" y="426960"/>
            <a:ext cx="4666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This course is not easy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10280" y="13010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1006920" y="1249920"/>
            <a:ext cx="19724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710280" y="17924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1006920" y="1740960"/>
            <a:ext cx="20880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710280" y="227088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1006920" y="2219760"/>
            <a:ext cx="22035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2230200" y="413280"/>
            <a:ext cx="4700520" cy="636480"/>
          </a:xfrm>
          <a:custGeom>
            <a:rect b="b" l="l" r="r" t="t"/>
            <a:pathLst>
              <a:path extrusionOk="0" h="1768" w="13057">
                <a:moveTo>
                  <a:pt x="0" y="0"/>
                </a:moveTo>
                <a:lnTo>
                  <a:pt x="13057" y="0"/>
                </a:lnTo>
                <a:lnTo>
                  <a:pt x="13057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49800" y="1170360"/>
            <a:ext cx="3227400" cy="1991160"/>
          </a:xfrm>
          <a:custGeom>
            <a:rect b="b" l="l" r="r" t="t"/>
            <a:pathLst>
              <a:path extrusionOk="0" h="5531" w="8965">
                <a:moveTo>
                  <a:pt x="0" y="0"/>
                </a:moveTo>
                <a:lnTo>
                  <a:pt x="8965" y="0"/>
                </a:lnTo>
                <a:lnTo>
                  <a:pt x="8965" y="5531"/>
                </a:lnTo>
                <a:lnTo>
                  <a:pt x="0" y="553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2243160" y="426960"/>
            <a:ext cx="4666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This course is not easy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710280" y="13010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1006920" y="1249920"/>
            <a:ext cx="19724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710280" y="17924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1006920" y="1740960"/>
            <a:ext cx="20880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710280" y="227088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1006920" y="2219760"/>
            <a:ext cx="22035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710280" y="27752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580720" y="2983680"/>
            <a:ext cx="2908080" cy="2472480"/>
          </a:xfrm>
          <a:custGeom>
            <a:rect b="b" l="l" r="r" t="t"/>
            <a:pathLst>
              <a:path extrusionOk="0" h="6868" w="8078">
                <a:moveTo>
                  <a:pt x="0" y="0"/>
                </a:moveTo>
                <a:lnTo>
                  <a:pt x="8078" y="0"/>
                </a:lnTo>
                <a:lnTo>
                  <a:pt x="8078" y="6868"/>
                </a:lnTo>
                <a:lnTo>
                  <a:pt x="0" y="68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720" y="2984040"/>
            <a:ext cx="29073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/>
          <p:nvPr/>
        </p:nvSpPr>
        <p:spPr>
          <a:xfrm>
            <a:off x="6274800" y="2610000"/>
            <a:ext cx="1792440" cy="290160"/>
          </a:xfrm>
          <a:custGeom>
            <a:rect b="b" l="l" r="r" t="t"/>
            <a:pathLst>
              <a:path extrusionOk="0" h="806" w="4979">
                <a:moveTo>
                  <a:pt x="0" y="0"/>
                </a:moveTo>
                <a:lnTo>
                  <a:pt x="4979" y="0"/>
                </a:lnTo>
                <a:lnTo>
                  <a:pt x="4979" y="806"/>
                </a:lnTo>
                <a:lnTo>
                  <a:pt x="0" y="8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1006920" y="2724120"/>
            <a:ext cx="284472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6287760" y="2635560"/>
            <a:ext cx="1600200" cy="25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B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for chickens!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2230200" y="413280"/>
            <a:ext cx="4700520" cy="636480"/>
          </a:xfrm>
          <a:custGeom>
            <a:rect b="b" l="l" r="r" t="t"/>
            <a:pathLst>
              <a:path extrusionOk="0" h="1768" w="13057">
                <a:moveTo>
                  <a:pt x="0" y="0"/>
                </a:moveTo>
                <a:lnTo>
                  <a:pt x="13057" y="0"/>
                </a:lnTo>
                <a:lnTo>
                  <a:pt x="13057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649800" y="1170360"/>
            <a:ext cx="3229200" cy="1977840"/>
          </a:xfrm>
          <a:custGeom>
            <a:rect b="b" l="l" r="r" t="t"/>
            <a:pathLst>
              <a:path extrusionOk="0" h="5494" w="8970">
                <a:moveTo>
                  <a:pt x="0" y="0"/>
                </a:moveTo>
                <a:lnTo>
                  <a:pt x="8970" y="0"/>
                </a:lnTo>
                <a:lnTo>
                  <a:pt x="8970" y="5494"/>
                </a:lnTo>
                <a:lnTo>
                  <a:pt x="0" y="54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2243160" y="426960"/>
            <a:ext cx="4666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This course is not easy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710280" y="13010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006920" y="1249920"/>
            <a:ext cx="19724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710280" y="17924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1006920" y="1740960"/>
            <a:ext cx="20880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710280" y="227088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1006920" y="2219760"/>
            <a:ext cx="22035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710280" y="276120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649800" y="4663800"/>
            <a:ext cx="2814480" cy="454320"/>
          </a:xfrm>
          <a:custGeom>
            <a:rect b="b" l="l" r="r" t="t"/>
            <a:pathLst>
              <a:path extrusionOk="0" h="1262" w="7818">
                <a:moveTo>
                  <a:pt x="0" y="0"/>
                </a:moveTo>
                <a:lnTo>
                  <a:pt x="7818" y="0"/>
                </a:lnTo>
                <a:lnTo>
                  <a:pt x="7818" y="1262"/>
                </a:lnTo>
                <a:lnTo>
                  <a:pt x="0" y="126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1006920" y="2710080"/>
            <a:ext cx="284472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LOT OF WORK!!!!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710280" y="472752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5848920" y="2493000"/>
            <a:ext cx="2554560" cy="3468960"/>
          </a:xfrm>
          <a:custGeom>
            <a:rect b="b" l="l" r="r" t="t"/>
            <a:pathLst>
              <a:path extrusionOk="0" h="9636" w="7096">
                <a:moveTo>
                  <a:pt x="0" y="0"/>
                </a:moveTo>
                <a:lnTo>
                  <a:pt x="7096" y="0"/>
                </a:lnTo>
                <a:lnTo>
                  <a:pt x="7096" y="9636"/>
                </a:lnTo>
                <a:lnTo>
                  <a:pt x="0" y="963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849640" y="2493360"/>
            <a:ext cx="2553840" cy="34682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5"/>
          <p:cNvSpPr txBox="1"/>
          <p:nvPr/>
        </p:nvSpPr>
        <p:spPr>
          <a:xfrm>
            <a:off x="1006920" y="4676400"/>
            <a:ext cx="430656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most you’ll ever learn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2230200" y="413280"/>
            <a:ext cx="4700520" cy="636480"/>
          </a:xfrm>
          <a:custGeom>
            <a:rect b="b" l="l" r="r" t="t"/>
            <a:pathLst>
              <a:path extrusionOk="0" h="1768" w="13057">
                <a:moveTo>
                  <a:pt x="0" y="0"/>
                </a:moveTo>
                <a:lnTo>
                  <a:pt x="13057" y="0"/>
                </a:lnTo>
                <a:lnTo>
                  <a:pt x="13057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649800" y="1170360"/>
            <a:ext cx="5047200" cy="4767840"/>
          </a:xfrm>
          <a:custGeom>
            <a:rect b="b" l="l" r="r" t="t"/>
            <a:pathLst>
              <a:path extrusionOk="0" h="13244" w="14020">
                <a:moveTo>
                  <a:pt x="0" y="0"/>
                </a:moveTo>
                <a:lnTo>
                  <a:pt x="14020" y="0"/>
                </a:lnTo>
                <a:lnTo>
                  <a:pt x="14020" y="13244"/>
                </a:lnTo>
                <a:lnTo>
                  <a:pt x="0" y="1324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2243160" y="426960"/>
            <a:ext cx="4666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This course is not easy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710280" y="126432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1006920" y="1273680"/>
            <a:ext cx="30945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Mastery-based </a:t>
            </a: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1103400" y="169020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1405440" y="1676520"/>
            <a:ext cx="421884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Quizzes to test your understanding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405440" y="2027160"/>
            <a:ext cx="381204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topics covered in the lectures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1103400" y="251388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1405440" y="2500200"/>
            <a:ext cx="38595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HWs to teach you to implement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1405440" y="2850840"/>
            <a:ext cx="38613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networks and optimize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1405440" y="3201120"/>
            <a:ext cx="242532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them to high degree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1103400" y="365364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1405440" y="3639960"/>
            <a:ext cx="40374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non-485 students, projects to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1405440" y="3990600"/>
            <a:ext cx="33750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expose you to real world DL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1405440" y="4340880"/>
            <a:ext cx="11253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1103400" y="485532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BE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1405440" y="4841280"/>
            <a:ext cx="431424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FYI: Anyone who gets an “A” in the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1405440" y="5191920"/>
            <a:ext cx="388728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3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is technically ready for a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848920" y="2493000"/>
            <a:ext cx="2554560" cy="3468960"/>
          </a:xfrm>
          <a:custGeom>
            <a:rect b="b" l="l" r="r" t="t"/>
            <a:pathLst>
              <a:path extrusionOk="0" h="9636" w="7096">
                <a:moveTo>
                  <a:pt x="0" y="0"/>
                </a:moveTo>
                <a:lnTo>
                  <a:pt x="7096" y="0"/>
                </a:lnTo>
                <a:lnTo>
                  <a:pt x="7096" y="9636"/>
                </a:lnTo>
                <a:lnTo>
                  <a:pt x="0" y="963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849640" y="2493360"/>
            <a:ext cx="2553840" cy="3468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6"/>
          <p:cNvSpPr txBox="1"/>
          <p:nvPr/>
        </p:nvSpPr>
        <p:spPr>
          <a:xfrm>
            <a:off x="1405440" y="5542560"/>
            <a:ext cx="212292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deep learning job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743400" y="646200"/>
            <a:ext cx="7710480" cy="630000"/>
          </a:xfrm>
          <a:custGeom>
            <a:rect b="b" l="l" r="r" t="t"/>
            <a:pathLst>
              <a:path extrusionOk="0" h="1750" w="21418">
                <a:moveTo>
                  <a:pt x="0" y="0"/>
                </a:moveTo>
                <a:lnTo>
                  <a:pt x="21418" y="0"/>
                </a:lnTo>
                <a:lnTo>
                  <a:pt x="21418" y="1750"/>
                </a:lnTo>
                <a:lnTo>
                  <a:pt x="0" y="17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707040" y="1771200"/>
            <a:ext cx="7497720" cy="3419280"/>
          </a:xfrm>
          <a:custGeom>
            <a:rect b="b" l="l" r="r" t="t"/>
            <a:pathLst>
              <a:path extrusionOk="0" h="9498" w="20827">
                <a:moveTo>
                  <a:pt x="0" y="0"/>
                </a:moveTo>
                <a:lnTo>
                  <a:pt x="20827" y="0"/>
                </a:lnTo>
                <a:lnTo>
                  <a:pt x="20827" y="9498"/>
                </a:lnTo>
                <a:lnTo>
                  <a:pt x="0" y="94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3787200" y="659880"/>
            <a:ext cx="156924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773280" y="18003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947160" y="1783800"/>
            <a:ext cx="18820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Introduction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773280" y="229104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947160" y="2274480"/>
            <a:ext cx="63165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The Instructor, TAs, Course Topics, and You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73280" y="27817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1644840" y="2836800"/>
            <a:ext cx="1261440" cy="434520"/>
          </a:xfrm>
          <a:custGeom>
            <a:rect b="b" l="l" r="r" t="t"/>
            <a:pathLst>
              <a:path extrusionOk="0" h="1207" w="3504">
                <a:moveTo>
                  <a:pt x="0" y="0"/>
                </a:moveTo>
                <a:lnTo>
                  <a:pt x="3504" y="0"/>
                </a:lnTo>
                <a:lnTo>
                  <a:pt x="3504" y="1207"/>
                </a:lnTo>
                <a:lnTo>
                  <a:pt x="0" y="12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947160" y="2766540"/>
            <a:ext cx="41683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The Challenge of the Course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773280" y="32727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947160" y="3255840"/>
            <a:ext cx="40071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Components of the Course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773280" y="376344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947160" y="3746520"/>
            <a:ext cx="462819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“Give it everything you’ve got” 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773280" y="42541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947160" y="4237200"/>
            <a:ext cx="38224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Components of the Grade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773280" y="474480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947160" y="4728240"/>
            <a:ext cx="424836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Common Sense and Integrity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719640" y="1761480"/>
            <a:ext cx="6759720" cy="3372120"/>
          </a:xfrm>
          <a:custGeom>
            <a:rect b="b" l="l" r="r" t="t"/>
            <a:pathLst>
              <a:path extrusionOk="0" h="9367" w="18777">
                <a:moveTo>
                  <a:pt x="0" y="0"/>
                </a:moveTo>
                <a:lnTo>
                  <a:pt x="18777" y="0"/>
                </a:lnTo>
                <a:lnTo>
                  <a:pt x="18777" y="9367"/>
                </a:lnTo>
                <a:lnTo>
                  <a:pt x="0" y="936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3689280" y="659880"/>
            <a:ext cx="17697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Lectures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785880" y="18385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1076760" y="1821600"/>
            <a:ext cx="229824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In-class lectures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1235160" y="230436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1533960" y="2289960"/>
            <a:ext cx="42915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streaming for remote sections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1234800" y="269712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1533960" y="2683080"/>
            <a:ext cx="58593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Lectures will also be recorded and uploaded to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1533960" y="3052080"/>
            <a:ext cx="23518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course website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785880" y="34725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1076760" y="3455640"/>
            <a:ext cx="447120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Importance of viewing lectures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1235160" y="393840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1533960" y="3924000"/>
            <a:ext cx="45057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if you think you know the topic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1235160" y="434088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1533960" y="4326480"/>
            <a:ext cx="49766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Quizzes: your marks depend on viewing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1533960" y="4692240"/>
            <a:ext cx="9907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1235160" y="511236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719640" y="5611680"/>
            <a:ext cx="7233120" cy="383040"/>
          </a:xfrm>
          <a:custGeom>
            <a:rect b="b" l="l" r="r" t="t"/>
            <a:pathLst>
              <a:path extrusionOk="0" h="1064" w="20092">
                <a:moveTo>
                  <a:pt x="0" y="0"/>
                </a:moveTo>
                <a:lnTo>
                  <a:pt x="20092" y="0"/>
                </a:lnTo>
                <a:lnTo>
                  <a:pt x="20092" y="1064"/>
                </a:lnTo>
                <a:lnTo>
                  <a:pt x="0" y="106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1533960" y="5097960"/>
            <a:ext cx="54334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monitor attendance (more on this later)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732600" y="5623920"/>
            <a:ext cx="67680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*some lectures may be conducted entirely over zoom.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719640" y="1703160"/>
            <a:ext cx="7416360" cy="4756320"/>
          </a:xfrm>
          <a:custGeom>
            <a:rect b="b" l="l" r="r" t="t"/>
            <a:pathLst>
              <a:path extrusionOk="0" h="13212" w="20601">
                <a:moveTo>
                  <a:pt x="0" y="0"/>
                </a:moveTo>
                <a:lnTo>
                  <a:pt x="20601" y="0"/>
                </a:lnTo>
                <a:lnTo>
                  <a:pt x="20601" y="13212"/>
                </a:lnTo>
                <a:lnTo>
                  <a:pt x="0" y="1321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2932920" y="659880"/>
            <a:ext cx="33015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Weekly Quizzes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758520" y="17794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1076760" y="1763280"/>
            <a:ext cx="69656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 are related to topics covered that week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1173240" y="225216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1475280" y="2238480"/>
            <a:ext cx="185868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lecture slides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1173240" y="265464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1475280" y="2640960"/>
            <a:ext cx="39351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Released Fridays @ 11:59PM EST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1173240" y="305712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19"/>
          <p:cNvSpPr txBox="1"/>
          <p:nvPr/>
        </p:nvSpPr>
        <p:spPr>
          <a:xfrm>
            <a:off x="1475280" y="3043440"/>
            <a:ext cx="379368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Closed Sundays @ 11:59PM EST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19"/>
          <p:cNvSpPr txBox="1"/>
          <p:nvPr/>
        </p:nvSpPr>
        <p:spPr>
          <a:xfrm>
            <a:off x="1173240" y="347184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1475280" y="3458160"/>
            <a:ext cx="48423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(this may occasionally shift, don’t panic!)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758520" y="388944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1076760" y="3873240"/>
            <a:ext cx="21715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 total quizzes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1173240" y="434700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1475280" y="4333320"/>
            <a:ext cx="466740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accept the best 12 (you may skip 2)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1760400" y="474012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2091240" y="4726440"/>
            <a:ext cx="418752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expected to account for any 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19"/>
          <p:cNvSpPr txBox="1"/>
          <p:nvPr/>
        </p:nvSpPr>
        <p:spPr>
          <a:xfrm>
            <a:off x="2091240" y="5119560"/>
            <a:ext cx="567972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circumstance-based inability to work on quizzes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828360" y="55720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19"/>
          <p:cNvSpPr txBox="1"/>
          <p:nvPr/>
        </p:nvSpPr>
        <p:spPr>
          <a:xfrm>
            <a:off x="1176840" y="5555880"/>
            <a:ext cx="53809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has 10 multiple-choice questions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1243080" y="6073200"/>
            <a:ext cx="291600" cy="3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1634040" y="6059520"/>
            <a:ext cx="4984560" cy="3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accept the best of 3 attempts per quiz</a:t>
            </a:r>
            <a:endParaRPr b="0" sz="2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743400" y="646200"/>
            <a:ext cx="7710480" cy="567360"/>
          </a:xfrm>
          <a:custGeom>
            <a:rect b="b" l="l" r="r" t="t"/>
            <a:pathLst>
              <a:path extrusionOk="0" h="1576" w="21418">
                <a:moveTo>
                  <a:pt x="0" y="0"/>
                </a:moveTo>
                <a:lnTo>
                  <a:pt x="21418" y="0"/>
                </a:lnTo>
                <a:lnTo>
                  <a:pt x="21418" y="1576"/>
                </a:lnTo>
                <a:lnTo>
                  <a:pt x="0" y="157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719640" y="1250280"/>
            <a:ext cx="7897320" cy="5258880"/>
          </a:xfrm>
          <a:custGeom>
            <a:rect b="b" l="l" r="r" t="t"/>
            <a:pathLst>
              <a:path extrusionOk="0" h="14608" w="21937">
                <a:moveTo>
                  <a:pt x="0" y="0"/>
                </a:moveTo>
                <a:lnTo>
                  <a:pt x="21937" y="0"/>
                </a:lnTo>
                <a:lnTo>
                  <a:pt x="21937" y="14608"/>
                </a:lnTo>
                <a:lnTo>
                  <a:pt x="0" y="1460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20"/>
          <p:cNvSpPr txBox="1"/>
          <p:nvPr/>
        </p:nvSpPr>
        <p:spPr>
          <a:xfrm>
            <a:off x="802080" y="659520"/>
            <a:ext cx="773064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Recitations, Hackathons, and Bootcamps</a:t>
            </a:r>
            <a:endParaRPr b="0" sz="3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20"/>
          <p:cNvSpPr txBox="1"/>
          <p:nvPr/>
        </p:nvSpPr>
        <p:spPr>
          <a:xfrm>
            <a:off x="719640" y="1367640"/>
            <a:ext cx="71031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strongly recommend you attend all recitations,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719640" y="1779120"/>
            <a:ext cx="40042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hackathons, and bootcamps.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783720" y="23590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1076760" y="2342880"/>
            <a:ext cx="15465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Recitations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1257120" y="276624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1634040" y="2754000"/>
            <a:ext cx="54075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 recitations, held on Fridays in the lecture room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1257120" y="308628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1634040" y="3074040"/>
            <a:ext cx="695952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hands-on and will cover implementation specifics while you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20"/>
          <p:cNvSpPr txBox="1"/>
          <p:nvPr/>
        </p:nvSpPr>
        <p:spPr>
          <a:xfrm>
            <a:off x="1634040" y="3394080"/>
            <a:ext cx="13320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follow along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20"/>
          <p:cNvSpPr txBox="1"/>
          <p:nvPr/>
        </p:nvSpPr>
        <p:spPr>
          <a:xfrm>
            <a:off x="828360" y="37306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20"/>
          <p:cNvSpPr txBox="1"/>
          <p:nvPr/>
        </p:nvSpPr>
        <p:spPr>
          <a:xfrm>
            <a:off x="1176840" y="3714480"/>
            <a:ext cx="16336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Hackathons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20"/>
          <p:cNvSpPr txBox="1"/>
          <p:nvPr/>
        </p:nvSpPr>
        <p:spPr>
          <a:xfrm>
            <a:off x="1257120" y="413784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1634040" y="4125600"/>
            <a:ext cx="36435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 hackathons, held on Saturdays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1257120" y="445788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20"/>
          <p:cNvSpPr txBox="1"/>
          <p:nvPr/>
        </p:nvSpPr>
        <p:spPr>
          <a:xfrm>
            <a:off x="1634040" y="4445640"/>
            <a:ext cx="48866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In-person in Pittsburgh and Kigali (room TBD)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1257120" y="477792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20"/>
          <p:cNvSpPr txBox="1"/>
          <p:nvPr/>
        </p:nvSpPr>
        <p:spPr>
          <a:xfrm>
            <a:off x="1634040" y="4765680"/>
            <a:ext cx="44010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a giant office hour session with pizza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828360" y="51022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1176840" y="5086080"/>
            <a:ext cx="15613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Bootcamps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1257120" y="550944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0"/>
          <p:cNvSpPr txBox="1"/>
          <p:nvPr/>
        </p:nvSpPr>
        <p:spPr>
          <a:xfrm>
            <a:off x="1634040" y="5497200"/>
            <a:ext cx="59565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bootcamps, one for each HW (+1 for Guided Project)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20"/>
          <p:cNvSpPr txBox="1"/>
          <p:nvPr/>
        </p:nvSpPr>
        <p:spPr>
          <a:xfrm>
            <a:off x="1257120" y="582948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1634040" y="5817240"/>
            <a:ext cx="39488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Held on Saturdays before hackathon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1257120" y="614952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1634040" y="6137280"/>
            <a:ext cx="69854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will cover HW implementation specifics while you follow along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743400" y="646200"/>
            <a:ext cx="7710480" cy="630000"/>
          </a:xfrm>
          <a:custGeom>
            <a:rect b="b" l="l" r="r" t="t"/>
            <a:pathLst>
              <a:path extrusionOk="0" h="1750" w="21418">
                <a:moveTo>
                  <a:pt x="0" y="0"/>
                </a:moveTo>
                <a:lnTo>
                  <a:pt x="21418" y="0"/>
                </a:lnTo>
                <a:lnTo>
                  <a:pt x="21418" y="1750"/>
                </a:lnTo>
                <a:lnTo>
                  <a:pt x="0" y="17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748440" y="1298880"/>
            <a:ext cx="7632720" cy="4801680"/>
          </a:xfrm>
          <a:custGeom>
            <a:rect b="b" l="l" r="r" t="t"/>
            <a:pathLst>
              <a:path extrusionOk="0" h="13338" w="21202">
                <a:moveTo>
                  <a:pt x="0" y="0"/>
                </a:moveTo>
                <a:lnTo>
                  <a:pt x="21202" y="0"/>
                </a:lnTo>
                <a:lnTo>
                  <a:pt x="21202" y="13338"/>
                </a:lnTo>
                <a:lnTo>
                  <a:pt x="0" y="133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3405600" y="659880"/>
            <a:ext cx="26697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792360" y="140364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1111320" y="1387440"/>
            <a:ext cx="689940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will be four main HWs, bonus HWs, and an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1111320" y="1798920"/>
            <a:ext cx="22766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autograd bonus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792360" y="22269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1111320" y="2211120"/>
            <a:ext cx="40942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 HWs all have two parts: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>
            <a:off x="1221480" y="271296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1511280" y="2700720"/>
            <a:ext cx="621612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1: Autograded problems with deterministic solutions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>
            <a:off x="1728000" y="309456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1910880" y="3081960"/>
            <a:ext cx="634932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must upload them to autolab and CHECK YOUR SCORE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1221480" y="349416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1511280" y="3481560"/>
            <a:ext cx="43707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2: Open problems posted on Kaggle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857160" y="389772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1206000" y="3881520"/>
            <a:ext cx="44690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 Bonus and Autograd Bonus: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1286280" y="438444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1663200" y="4371840"/>
            <a:ext cx="66794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will be bonus homeworks associated with some (or all)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1663200" y="4691880"/>
            <a:ext cx="62640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homeworks; there will also be a separate autograd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1663200" y="5011920"/>
            <a:ext cx="19656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bonus homework.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1286280" y="542376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1663200" y="5411160"/>
            <a:ext cx="64112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marks will not contribute to final grading curves and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1663200" y="5731200"/>
            <a:ext cx="65286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 you the chance to make up for marks missed elsewhere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3182760" y="413280"/>
            <a:ext cx="3463560" cy="629280"/>
          </a:xfrm>
          <a:custGeom>
            <a:rect b="b" l="l" r="r" t="t"/>
            <a:pathLst>
              <a:path extrusionOk="0" h="1748" w="9621">
                <a:moveTo>
                  <a:pt x="0" y="0"/>
                </a:moveTo>
                <a:lnTo>
                  <a:pt x="9621" y="0"/>
                </a:lnTo>
                <a:lnTo>
                  <a:pt x="9621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776880" y="3479040"/>
            <a:ext cx="6944040" cy="3004920"/>
          </a:xfrm>
          <a:custGeom>
            <a:rect b="b" l="l" r="r" t="t"/>
            <a:pathLst>
              <a:path extrusionOk="0" h="8347" w="19289">
                <a:moveTo>
                  <a:pt x="0" y="0"/>
                </a:moveTo>
                <a:lnTo>
                  <a:pt x="19289" y="0"/>
                </a:lnTo>
                <a:lnTo>
                  <a:pt x="19289" y="8347"/>
                </a:lnTo>
                <a:lnTo>
                  <a:pt x="0" y="834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3195720" y="426960"/>
            <a:ext cx="284004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Study Groups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758520" y="35362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1134000" y="3520080"/>
            <a:ext cx="47433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Everyone must join a study group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758520" y="39477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1134000" y="3931560"/>
            <a:ext cx="66981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study group will be assigned a TA mentor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22"/>
          <p:cNvSpPr txBox="1"/>
          <p:nvPr/>
        </p:nvSpPr>
        <p:spPr>
          <a:xfrm>
            <a:off x="1134000" y="4343040"/>
            <a:ext cx="43549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help throughout the course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758520" y="477072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1134000" y="4754520"/>
            <a:ext cx="60559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recommend study groups of 3-4 people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758520" y="520992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22"/>
          <p:cNvSpPr txBox="1"/>
          <p:nvPr/>
        </p:nvSpPr>
        <p:spPr>
          <a:xfrm>
            <a:off x="1130760" y="5194080"/>
            <a:ext cx="64796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do not have a study group, we will form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>
            <a:off x="1130760" y="5605560"/>
            <a:ext cx="16084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for you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1247040" y="6089760"/>
            <a:ext cx="3045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3017160" y="1347120"/>
            <a:ext cx="3109320" cy="1929600"/>
          </a:xfrm>
          <a:custGeom>
            <a:rect b="b" l="l" r="r" t="t"/>
            <a:pathLst>
              <a:path extrusionOk="0" h="5360" w="8637">
                <a:moveTo>
                  <a:pt x="0" y="0"/>
                </a:moveTo>
                <a:lnTo>
                  <a:pt x="8637" y="0"/>
                </a:lnTo>
                <a:lnTo>
                  <a:pt x="8637" y="5360"/>
                </a:lnTo>
                <a:lnTo>
                  <a:pt x="0" y="53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5" name="Google Shape;4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0" y="1347120"/>
            <a:ext cx="3108600" cy="192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2"/>
          <p:cNvSpPr txBox="1"/>
          <p:nvPr/>
        </p:nvSpPr>
        <p:spPr>
          <a:xfrm>
            <a:off x="1691280" y="6125760"/>
            <a:ext cx="46364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Please register via forms we post on Piazza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23"/>
          <p:cNvSpPr/>
          <p:nvPr/>
        </p:nvSpPr>
        <p:spPr>
          <a:xfrm>
            <a:off x="3033360" y="413280"/>
            <a:ext cx="3096000" cy="636480"/>
          </a:xfrm>
          <a:custGeom>
            <a:rect b="b" l="l" r="r" t="t"/>
            <a:pathLst>
              <a:path extrusionOk="0" h="1768" w="8600">
                <a:moveTo>
                  <a:pt x="0" y="0"/>
                </a:moveTo>
                <a:lnTo>
                  <a:pt x="8600" y="0"/>
                </a:lnTo>
                <a:lnTo>
                  <a:pt x="8600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759240" y="1306800"/>
            <a:ext cx="7513920" cy="5166360"/>
          </a:xfrm>
          <a:custGeom>
            <a:rect b="b" l="l" r="r" t="t"/>
            <a:pathLst>
              <a:path extrusionOk="0" h="14351" w="20872">
                <a:moveTo>
                  <a:pt x="0" y="0"/>
                </a:moveTo>
                <a:lnTo>
                  <a:pt x="20872" y="0"/>
                </a:lnTo>
                <a:lnTo>
                  <a:pt x="20872" y="14351"/>
                </a:lnTo>
                <a:lnTo>
                  <a:pt x="0" y="1435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3046320" y="426960"/>
            <a:ext cx="30643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Course Project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762480" y="133416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1076760" y="1319040"/>
            <a:ext cx="703152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you’re taking 11-785, you will do an original project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23"/>
          <p:cNvSpPr txBox="1"/>
          <p:nvPr/>
        </p:nvSpPr>
        <p:spPr>
          <a:xfrm>
            <a:off x="762480" y="171504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1076760" y="1700280"/>
            <a:ext cx="687672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you’re taking 11-685, you will do a project “Guided 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23"/>
          <p:cNvSpPr txBox="1"/>
          <p:nvPr/>
        </p:nvSpPr>
        <p:spPr>
          <a:xfrm>
            <a:off x="1076760" y="2081160"/>
            <a:ext cx="104868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Project”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1076760" y="2526120"/>
            <a:ext cx="6963840" cy="387720"/>
          </a:xfrm>
          <a:custGeom>
            <a:rect b="b" l="l" r="r" t="t"/>
            <a:pathLst>
              <a:path extrusionOk="0" h="1077" w="19344">
                <a:moveTo>
                  <a:pt x="0" y="0"/>
                </a:moveTo>
                <a:lnTo>
                  <a:pt x="19344" y="0"/>
                </a:lnTo>
                <a:lnTo>
                  <a:pt x="19344" y="1077"/>
                </a:lnTo>
                <a:lnTo>
                  <a:pt x="0" y="107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762480" y="247716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8040240" y="2526120"/>
            <a:ext cx="0" cy="387360"/>
          </a:xfrm>
          <a:custGeom>
            <a:rect b="b" l="l" r="r" t="t"/>
            <a:pathLst>
              <a:path extrusionOk="0" h="1076" w="120000">
                <a:moveTo>
                  <a:pt x="0" y="0"/>
                </a:moveTo>
                <a:lnTo>
                  <a:pt x="0" y="107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1076760" y="2784960"/>
            <a:ext cx="6963840" cy="28800"/>
          </a:xfrm>
          <a:custGeom>
            <a:rect b="b" l="l" r="r" t="t"/>
            <a:pathLst>
              <a:path extrusionOk="0" h="80" w="19344">
                <a:moveTo>
                  <a:pt x="0" y="0"/>
                </a:moveTo>
                <a:lnTo>
                  <a:pt x="19344" y="0"/>
                </a:lnTo>
                <a:lnTo>
                  <a:pt x="1934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23"/>
          <p:cNvSpPr txBox="1"/>
          <p:nvPr/>
        </p:nvSpPr>
        <p:spPr>
          <a:xfrm>
            <a:off x="1076760" y="2462040"/>
            <a:ext cx="697968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you’re taking 11-485 this slide does not apply to you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768240" y="327780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>
            <a:off x="1076760" y="3263040"/>
            <a:ext cx="616644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Projects are intended to exercise your ability to 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1076760" y="3643920"/>
            <a:ext cx="633132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comprehend and implement ideas beyond those 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1076760" y="4024800"/>
            <a:ext cx="259668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covered by the HWs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768240" y="4801680"/>
            <a:ext cx="317160" cy="35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>
            <a:off x="1076760" y="4786920"/>
            <a:ext cx="3070800" cy="38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Projects can range from</a:t>
            </a:r>
            <a:endParaRPr b="0" sz="25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1257120" y="51778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1533960" y="5167080"/>
            <a:ext cx="613152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and evaluation of cutting-edge ideas from recent 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1533960" y="5441400"/>
            <a:ext cx="6332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1257120" y="576900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1533960" y="5758200"/>
            <a:ext cx="602964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Problem-solving that might lead to publication, if completed well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1257120" y="611064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1533960" y="6099840"/>
            <a:ext cx="638892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models/learning algorithms/techniques, with proper evaluation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23"/>
          <p:cNvSpPr txBox="1"/>
          <p:nvPr/>
        </p:nvSpPr>
        <p:spPr>
          <a:xfrm>
            <a:off x="1257120" y="64306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1533960" y="6419880"/>
            <a:ext cx="4525200" cy="2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Verification </a:t>
            </a:r>
            <a:r>
              <a:rPr b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results from “hot” published work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24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719640" y="1741320"/>
            <a:ext cx="8057880" cy="4066560"/>
          </a:xfrm>
          <a:custGeom>
            <a:rect b="b" l="l" r="r" t="t"/>
            <a:pathLst>
              <a:path extrusionOk="0" h="11296" w="22383">
                <a:moveTo>
                  <a:pt x="0" y="0"/>
                </a:moveTo>
                <a:lnTo>
                  <a:pt x="22383" y="0"/>
                </a:lnTo>
                <a:lnTo>
                  <a:pt x="22383" y="11296"/>
                </a:lnTo>
                <a:lnTo>
                  <a:pt x="0" y="1129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24"/>
          <p:cNvSpPr txBox="1"/>
          <p:nvPr/>
        </p:nvSpPr>
        <p:spPr>
          <a:xfrm>
            <a:off x="2518200" y="659880"/>
            <a:ext cx="41133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Lecture Attendance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24"/>
          <p:cNvSpPr txBox="1"/>
          <p:nvPr/>
        </p:nvSpPr>
        <p:spPr>
          <a:xfrm>
            <a:off x="701280" y="18558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24"/>
          <p:cNvSpPr txBox="1"/>
          <p:nvPr/>
        </p:nvSpPr>
        <p:spPr>
          <a:xfrm>
            <a:off x="1075320" y="1839600"/>
            <a:ext cx="74055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get marks for attendance (i.e. class participation)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24"/>
          <p:cNvSpPr txBox="1"/>
          <p:nvPr/>
        </p:nvSpPr>
        <p:spPr>
          <a:xfrm>
            <a:off x="1216440" y="2420280"/>
            <a:ext cx="177480" cy="20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24"/>
          <p:cNvSpPr txBox="1"/>
          <p:nvPr/>
        </p:nvSpPr>
        <p:spPr>
          <a:xfrm>
            <a:off x="1532520" y="2339280"/>
            <a:ext cx="54439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performance metrics over the semesters show a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24"/>
          <p:cNvSpPr txBox="1"/>
          <p:nvPr/>
        </p:nvSpPr>
        <p:spPr>
          <a:xfrm>
            <a:off x="1533960" y="2644200"/>
            <a:ext cx="605988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correlation between attendance and course scores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24"/>
          <p:cNvSpPr txBox="1"/>
          <p:nvPr/>
        </p:nvSpPr>
        <p:spPr>
          <a:xfrm>
            <a:off x="1215720" y="3117960"/>
            <a:ext cx="177480" cy="20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24"/>
          <p:cNvSpPr txBox="1"/>
          <p:nvPr/>
        </p:nvSpPr>
        <p:spPr>
          <a:xfrm>
            <a:off x="1531800" y="3036960"/>
            <a:ext cx="65973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also note a distinct </a:t>
            </a:r>
            <a:r>
              <a:rPr b="0" i="1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inverse </a:t>
            </a: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correlation between attendance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24"/>
          <p:cNvSpPr txBox="1"/>
          <p:nvPr/>
        </p:nvSpPr>
        <p:spPr>
          <a:xfrm>
            <a:off x="1531800" y="3341880"/>
            <a:ext cx="716868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the amount of help you require on piazza and during office hours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24"/>
          <p:cNvSpPr txBox="1"/>
          <p:nvPr/>
        </p:nvSpPr>
        <p:spPr>
          <a:xfrm>
            <a:off x="1216440" y="3819600"/>
            <a:ext cx="177480" cy="20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24"/>
          <p:cNvSpPr txBox="1"/>
          <p:nvPr/>
        </p:nvSpPr>
        <p:spPr>
          <a:xfrm>
            <a:off x="1532520" y="3738960"/>
            <a:ext cx="6111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encourage attendance, we assign 1 mark for attendance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24"/>
          <p:cNvSpPr txBox="1"/>
          <p:nvPr/>
        </p:nvSpPr>
        <p:spPr>
          <a:xfrm>
            <a:off x="1673640" y="4212720"/>
            <a:ext cx="177480" cy="20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24"/>
          <p:cNvSpPr txBox="1"/>
          <p:nvPr/>
        </p:nvSpPr>
        <p:spPr>
          <a:xfrm>
            <a:off x="1991520" y="4131720"/>
            <a:ext cx="45115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1% of your total grade for 11685 and 11785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1673640" y="4606560"/>
            <a:ext cx="177480" cy="20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24"/>
          <p:cNvSpPr txBox="1"/>
          <p:nvPr/>
        </p:nvSpPr>
        <p:spPr>
          <a:xfrm>
            <a:off x="1991520" y="4525560"/>
            <a:ext cx="39423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1.3333% of your total grade for 11485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1673640" y="4999680"/>
            <a:ext cx="177480" cy="20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24"/>
          <p:cNvSpPr txBox="1"/>
          <p:nvPr/>
        </p:nvSpPr>
        <p:spPr>
          <a:xfrm>
            <a:off x="1991520" y="4918680"/>
            <a:ext cx="4978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can be the difference between a B and an A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24"/>
          <p:cNvSpPr txBox="1"/>
          <p:nvPr/>
        </p:nvSpPr>
        <p:spPr>
          <a:xfrm>
            <a:off x="701280" y="536868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24"/>
          <p:cNvSpPr txBox="1"/>
          <p:nvPr/>
        </p:nvSpPr>
        <p:spPr>
          <a:xfrm>
            <a:off x="1076760" y="5352480"/>
            <a:ext cx="64411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will track lecture attendance through Polls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1802160" y="413280"/>
            <a:ext cx="5539680" cy="629280"/>
          </a:xfrm>
          <a:custGeom>
            <a:rect b="b" l="l" r="r" t="t"/>
            <a:pathLst>
              <a:path extrusionOk="0" h="1748" w="15388">
                <a:moveTo>
                  <a:pt x="0" y="0"/>
                </a:moveTo>
                <a:lnTo>
                  <a:pt x="15388" y="0"/>
                </a:lnTo>
                <a:lnTo>
                  <a:pt x="1538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25"/>
          <p:cNvSpPr/>
          <p:nvPr/>
        </p:nvSpPr>
        <p:spPr>
          <a:xfrm>
            <a:off x="649800" y="1202400"/>
            <a:ext cx="7808400" cy="5295240"/>
          </a:xfrm>
          <a:custGeom>
            <a:rect b="b" l="l" r="r" t="t"/>
            <a:pathLst>
              <a:path extrusionOk="0" h="14709" w="21690">
                <a:moveTo>
                  <a:pt x="0" y="0"/>
                </a:moveTo>
                <a:lnTo>
                  <a:pt x="21690" y="0"/>
                </a:lnTo>
                <a:lnTo>
                  <a:pt x="21690" y="14709"/>
                </a:lnTo>
                <a:lnTo>
                  <a:pt x="0" y="1470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p25"/>
          <p:cNvSpPr txBox="1"/>
          <p:nvPr/>
        </p:nvSpPr>
        <p:spPr>
          <a:xfrm>
            <a:off x="2246760" y="426960"/>
            <a:ext cx="46735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Recitation 0 &amp; HW1p1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25"/>
          <p:cNvSpPr txBox="1"/>
          <p:nvPr/>
        </p:nvSpPr>
        <p:spPr>
          <a:xfrm>
            <a:off x="708480" y="130356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1006920" y="1253160"/>
            <a:ext cx="719100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have any doubts about your preparations for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25"/>
          <p:cNvSpPr txBox="1"/>
          <p:nvPr/>
        </p:nvSpPr>
        <p:spPr>
          <a:xfrm>
            <a:off x="1006920" y="1664640"/>
            <a:ext cx="74541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course, please, please, please, please go through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25"/>
          <p:cNvSpPr txBox="1"/>
          <p:nvPr/>
        </p:nvSpPr>
        <p:spPr>
          <a:xfrm>
            <a:off x="1006920" y="2076120"/>
            <a:ext cx="63086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videos for Recitation-0 and complete the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25"/>
          <p:cNvSpPr txBox="1"/>
          <p:nvPr/>
        </p:nvSpPr>
        <p:spPr>
          <a:xfrm>
            <a:off x="1006920" y="2487600"/>
            <a:ext cx="26942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notebook exercises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25"/>
          <p:cNvSpPr txBox="1"/>
          <p:nvPr/>
        </p:nvSpPr>
        <p:spPr>
          <a:xfrm>
            <a:off x="3677400" y="2523600"/>
            <a:ext cx="3045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>
            <a:off x="1123200" y="297504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1405080" y="2962440"/>
            <a:ext cx="63147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Gain comfort with the coding required in the homeworks,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25"/>
          <p:cNvSpPr txBox="1"/>
          <p:nvPr/>
        </p:nvSpPr>
        <p:spPr>
          <a:xfrm>
            <a:off x="1405080" y="3317040"/>
            <a:ext cx="8769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early on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1123200" y="374832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25"/>
          <p:cNvSpPr txBox="1"/>
          <p:nvPr/>
        </p:nvSpPr>
        <p:spPr>
          <a:xfrm>
            <a:off x="1405080" y="3735720"/>
            <a:ext cx="34653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 on Compute Infrastructure: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25"/>
          <p:cNvSpPr txBox="1"/>
          <p:nvPr/>
        </p:nvSpPr>
        <p:spPr>
          <a:xfrm>
            <a:off x="2021400" y="4154400"/>
            <a:ext cx="420300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 tokens (AWS) will be provided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p25"/>
          <p:cNvSpPr txBox="1"/>
          <p:nvPr/>
        </p:nvSpPr>
        <p:spPr>
          <a:xfrm>
            <a:off x="2021400" y="4548600"/>
            <a:ext cx="31215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Google Cloud Platform (GCP)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25"/>
          <p:cNvSpPr txBox="1"/>
          <p:nvPr/>
        </p:nvSpPr>
        <p:spPr>
          <a:xfrm>
            <a:off x="2021400" y="4905360"/>
            <a:ext cx="71208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695160" y="56358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p25"/>
          <p:cNvSpPr txBox="1"/>
          <p:nvPr/>
        </p:nvSpPr>
        <p:spPr>
          <a:xfrm>
            <a:off x="1006920" y="5619600"/>
            <a:ext cx="70365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HW1 Part 1 has components intended to help you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25"/>
          <p:cNvSpPr txBox="1"/>
          <p:nvPr/>
        </p:nvSpPr>
        <p:spPr>
          <a:xfrm>
            <a:off x="1006920" y="6031080"/>
            <a:ext cx="25390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later </a:t>
            </a: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the course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6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2094120" y="399960"/>
            <a:ext cx="4956120" cy="637200"/>
          </a:xfrm>
          <a:custGeom>
            <a:rect b="b" l="l" r="r" t="t"/>
            <a:pathLst>
              <a:path extrusionOk="0" h="1770" w="13767">
                <a:moveTo>
                  <a:pt x="0" y="0"/>
                </a:moveTo>
                <a:lnTo>
                  <a:pt x="13767" y="0"/>
                </a:lnTo>
                <a:lnTo>
                  <a:pt x="13767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249120" y="6440040"/>
            <a:ext cx="1775160" cy="285480"/>
          </a:xfrm>
          <a:custGeom>
            <a:rect b="b" l="l" r="r" t="t"/>
            <a:pathLst>
              <a:path extrusionOk="0" h="793" w="4931">
                <a:moveTo>
                  <a:pt x="0" y="0"/>
                </a:moveTo>
                <a:lnTo>
                  <a:pt x="4931" y="0"/>
                </a:lnTo>
                <a:lnTo>
                  <a:pt x="4931" y="793"/>
                </a:lnTo>
                <a:lnTo>
                  <a:pt x="0" y="79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262080" y="6495120"/>
            <a:ext cx="1727280" cy="263520"/>
          </a:xfrm>
          <a:custGeom>
            <a:rect b="b" l="l" r="r" t="t"/>
            <a:pathLst>
              <a:path extrusionOk="0" h="732" w="4798">
                <a:moveTo>
                  <a:pt x="0" y="0"/>
                </a:moveTo>
                <a:lnTo>
                  <a:pt x="4798" y="0"/>
                </a:lnTo>
                <a:lnTo>
                  <a:pt x="4798" y="732"/>
                </a:lnTo>
                <a:lnTo>
                  <a:pt x="0" y="73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26"/>
          <p:cNvSpPr txBox="1"/>
          <p:nvPr/>
        </p:nvSpPr>
        <p:spPr>
          <a:xfrm>
            <a:off x="2107080" y="414000"/>
            <a:ext cx="49089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Course Communication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1989000" y="6495120"/>
            <a:ext cx="0" cy="263160"/>
          </a:xfrm>
          <a:custGeom>
            <a:rect b="b" l="l" r="r" t="t"/>
            <a:pathLst>
              <a:path extrusionOk="0" h="731" w="120000">
                <a:moveTo>
                  <a:pt x="0" y="0"/>
                </a:moveTo>
                <a:lnTo>
                  <a:pt x="0" y="73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262080" y="6670800"/>
            <a:ext cx="1727280" cy="19800"/>
          </a:xfrm>
          <a:custGeom>
            <a:rect b="b" l="l" r="r" t="t"/>
            <a:pathLst>
              <a:path extrusionOk="0" h="55" w="4798">
                <a:moveTo>
                  <a:pt x="0" y="0"/>
                </a:moveTo>
                <a:lnTo>
                  <a:pt x="4798" y="0"/>
                </a:lnTo>
                <a:lnTo>
                  <a:pt x="4798" y="55"/>
                </a:lnTo>
                <a:lnTo>
                  <a:pt x="0" y="55"/>
                </a:lnTo>
                <a:lnTo>
                  <a:pt x="0" y="0"/>
                </a:lnTo>
                <a:close/>
              </a:path>
            </a:pathLst>
          </a:custGeom>
          <a:solidFill>
            <a:srgbClr val="0462C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2313360" y="1581840"/>
            <a:ext cx="4416840" cy="1146240"/>
          </a:xfrm>
          <a:custGeom>
            <a:rect b="b" l="l" r="r" t="t"/>
            <a:pathLst>
              <a:path extrusionOk="0" h="3184" w="12269">
                <a:moveTo>
                  <a:pt x="0" y="0"/>
                </a:moveTo>
                <a:lnTo>
                  <a:pt x="12269" y="0"/>
                </a:lnTo>
                <a:lnTo>
                  <a:pt x="12269" y="3184"/>
                </a:lnTo>
                <a:lnTo>
                  <a:pt x="0" y="318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3" name="Google Shape;5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360" y="1581840"/>
            <a:ext cx="4416120" cy="114552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6"/>
          <p:cNvSpPr/>
          <p:nvPr/>
        </p:nvSpPr>
        <p:spPr>
          <a:xfrm>
            <a:off x="925920" y="3099600"/>
            <a:ext cx="5228280" cy="2246400"/>
          </a:xfrm>
          <a:custGeom>
            <a:rect b="b" l="l" r="r" t="t"/>
            <a:pathLst>
              <a:path extrusionOk="0" h="6240" w="14523">
                <a:moveTo>
                  <a:pt x="0" y="0"/>
                </a:moveTo>
                <a:lnTo>
                  <a:pt x="14523" y="0"/>
                </a:lnTo>
                <a:lnTo>
                  <a:pt x="14523" y="6240"/>
                </a:lnTo>
                <a:lnTo>
                  <a:pt x="0" y="62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26"/>
          <p:cNvSpPr txBox="1"/>
          <p:nvPr/>
        </p:nvSpPr>
        <p:spPr>
          <a:xfrm>
            <a:off x="262080" y="6451560"/>
            <a:ext cx="173556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https://piazza.com/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26"/>
          <p:cNvSpPr txBox="1"/>
          <p:nvPr/>
        </p:nvSpPr>
        <p:spPr>
          <a:xfrm>
            <a:off x="900360" y="3129840"/>
            <a:ext cx="367920" cy="4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26"/>
          <p:cNvSpPr txBox="1"/>
          <p:nvPr/>
        </p:nvSpPr>
        <p:spPr>
          <a:xfrm>
            <a:off x="1350360" y="3112200"/>
            <a:ext cx="436572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and Attendance Polls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6"/>
          <p:cNvSpPr txBox="1"/>
          <p:nvPr/>
        </p:nvSpPr>
        <p:spPr>
          <a:xfrm>
            <a:off x="900360" y="3572280"/>
            <a:ext cx="367920" cy="4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26"/>
          <p:cNvSpPr txBox="1"/>
          <p:nvPr/>
        </p:nvSpPr>
        <p:spPr>
          <a:xfrm>
            <a:off x="1350360" y="3555000"/>
            <a:ext cx="351072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 and Answers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0" name="Google Shape;600;p26"/>
          <p:cNvSpPr txBox="1"/>
          <p:nvPr/>
        </p:nvSpPr>
        <p:spPr>
          <a:xfrm>
            <a:off x="900360" y="4014360"/>
            <a:ext cx="367920" cy="4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26"/>
          <p:cNvSpPr txBox="1"/>
          <p:nvPr/>
        </p:nvSpPr>
        <p:spPr>
          <a:xfrm>
            <a:off x="1350360" y="3997080"/>
            <a:ext cx="48006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Announcements and Reminders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26"/>
          <p:cNvSpPr txBox="1"/>
          <p:nvPr/>
        </p:nvSpPr>
        <p:spPr>
          <a:xfrm>
            <a:off x="900360" y="4456080"/>
            <a:ext cx="367920" cy="4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26"/>
          <p:cNvSpPr txBox="1"/>
          <p:nvPr/>
        </p:nvSpPr>
        <p:spPr>
          <a:xfrm>
            <a:off x="1350360" y="4438800"/>
            <a:ext cx="328968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 Collaboration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4" name="Google Shape;604;p26"/>
          <p:cNvSpPr txBox="1"/>
          <p:nvPr/>
        </p:nvSpPr>
        <p:spPr>
          <a:xfrm>
            <a:off x="900360" y="4898160"/>
            <a:ext cx="367920" cy="4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p26"/>
          <p:cNvSpPr txBox="1"/>
          <p:nvPr/>
        </p:nvSpPr>
        <p:spPr>
          <a:xfrm>
            <a:off x="1350360" y="4880880"/>
            <a:ext cx="244728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Instructor Notes</a:t>
            </a:r>
            <a:endParaRPr b="0" sz="2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7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0" y="6036480"/>
            <a:ext cx="8000280" cy="308160"/>
          </a:xfrm>
          <a:custGeom>
            <a:rect b="b" l="l" r="r" t="t"/>
            <a:pathLst>
              <a:path extrusionOk="0" h="856" w="22223">
                <a:moveTo>
                  <a:pt x="0" y="0"/>
                </a:moveTo>
                <a:lnTo>
                  <a:pt x="22223" y="0"/>
                </a:lnTo>
                <a:lnTo>
                  <a:pt x="22223" y="856"/>
                </a:lnTo>
                <a:lnTo>
                  <a:pt x="0" y="85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0" y="5579280"/>
            <a:ext cx="8000280" cy="308160"/>
          </a:xfrm>
          <a:custGeom>
            <a:rect b="b" l="l" r="r" t="t"/>
            <a:pathLst>
              <a:path extrusionOk="0" h="856" w="22223">
                <a:moveTo>
                  <a:pt x="0" y="0"/>
                </a:moveTo>
                <a:lnTo>
                  <a:pt x="22223" y="0"/>
                </a:lnTo>
                <a:lnTo>
                  <a:pt x="22223" y="856"/>
                </a:lnTo>
                <a:lnTo>
                  <a:pt x="0" y="85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0" y="4817160"/>
            <a:ext cx="8000280" cy="308160"/>
          </a:xfrm>
          <a:custGeom>
            <a:rect b="b" l="l" r="r" t="t"/>
            <a:pathLst>
              <a:path extrusionOk="0" h="856" w="22223">
                <a:moveTo>
                  <a:pt x="0" y="0"/>
                </a:moveTo>
                <a:lnTo>
                  <a:pt x="22223" y="0"/>
                </a:lnTo>
                <a:lnTo>
                  <a:pt x="22223" y="856"/>
                </a:lnTo>
                <a:lnTo>
                  <a:pt x="0" y="85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719640" y="1701720"/>
            <a:ext cx="7103520" cy="3448080"/>
          </a:xfrm>
          <a:custGeom>
            <a:rect b="b" l="l" r="r" t="t"/>
            <a:pathLst>
              <a:path extrusionOk="0" h="9578" w="19732">
                <a:moveTo>
                  <a:pt x="0" y="0"/>
                </a:moveTo>
                <a:lnTo>
                  <a:pt x="19732" y="0"/>
                </a:lnTo>
                <a:lnTo>
                  <a:pt x="19732" y="9578"/>
                </a:lnTo>
                <a:lnTo>
                  <a:pt x="0" y="957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27"/>
          <p:cNvSpPr txBox="1"/>
          <p:nvPr/>
        </p:nvSpPr>
        <p:spPr>
          <a:xfrm>
            <a:off x="2664360" y="659880"/>
            <a:ext cx="38253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Reading Materials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790200" y="183492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27"/>
          <p:cNvSpPr txBox="1"/>
          <p:nvPr/>
        </p:nvSpPr>
        <p:spPr>
          <a:xfrm>
            <a:off x="1076760" y="1834920"/>
            <a:ext cx="624996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 resource: </a:t>
            </a:r>
            <a:r>
              <a:rPr b="0" i="1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'Dive Into Deep Learning'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27"/>
          <p:cNvSpPr txBox="1"/>
          <p:nvPr/>
        </p:nvSpPr>
        <p:spPr>
          <a:xfrm>
            <a:off x="1076760" y="2246400"/>
            <a:ext cx="478440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(interactive Jupyter notebooks).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27"/>
          <p:cNvSpPr txBox="1"/>
          <p:nvPr/>
        </p:nvSpPr>
        <p:spPr>
          <a:xfrm>
            <a:off x="790200" y="30693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7"/>
          <p:cNvSpPr txBox="1"/>
          <p:nvPr/>
        </p:nvSpPr>
        <p:spPr>
          <a:xfrm>
            <a:off x="1076760" y="3069360"/>
            <a:ext cx="630684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Recommended: François Chollet's </a:t>
            </a:r>
            <a:r>
              <a:rPr b="0" i="1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'Deep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1076760" y="3480840"/>
            <a:ext cx="589896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with Python' </a:t>
            </a: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(Second Edition)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27"/>
          <p:cNvSpPr txBox="1"/>
          <p:nvPr/>
        </p:nvSpPr>
        <p:spPr>
          <a:xfrm>
            <a:off x="790200" y="43038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27"/>
          <p:cNvSpPr txBox="1"/>
          <p:nvPr/>
        </p:nvSpPr>
        <p:spPr>
          <a:xfrm>
            <a:off x="1076760" y="4303800"/>
            <a:ext cx="661464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reading material will also appear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27"/>
          <p:cNvSpPr txBox="1"/>
          <p:nvPr/>
        </p:nvSpPr>
        <p:spPr>
          <a:xfrm>
            <a:off x="1076760" y="4715280"/>
            <a:ext cx="310824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course pages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3182760" y="413280"/>
            <a:ext cx="2787840" cy="636480"/>
          </a:xfrm>
          <a:custGeom>
            <a:rect b="b" l="l" r="r" t="t"/>
            <a:pathLst>
              <a:path extrusionOk="0" h="1768" w="7744">
                <a:moveTo>
                  <a:pt x="0" y="0"/>
                </a:moveTo>
                <a:lnTo>
                  <a:pt x="7744" y="0"/>
                </a:lnTo>
                <a:lnTo>
                  <a:pt x="7744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649800" y="1445400"/>
            <a:ext cx="6773040" cy="4425120"/>
          </a:xfrm>
          <a:custGeom>
            <a:rect b="b" l="l" r="r" t="t"/>
            <a:pathLst>
              <a:path extrusionOk="0" h="12292" w="18814">
                <a:moveTo>
                  <a:pt x="0" y="0"/>
                </a:moveTo>
                <a:lnTo>
                  <a:pt x="18814" y="0"/>
                </a:lnTo>
                <a:lnTo>
                  <a:pt x="18814" y="12292"/>
                </a:lnTo>
                <a:lnTo>
                  <a:pt x="0" y="122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28"/>
          <p:cNvSpPr txBox="1"/>
          <p:nvPr/>
        </p:nvSpPr>
        <p:spPr>
          <a:xfrm>
            <a:off x="3195720" y="426960"/>
            <a:ext cx="275724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Study groups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28"/>
          <p:cNvSpPr txBox="1"/>
          <p:nvPr/>
        </p:nvSpPr>
        <p:spPr>
          <a:xfrm>
            <a:off x="644040" y="15408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1006920" y="1524600"/>
            <a:ext cx="38419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study groups may do: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28"/>
          <p:cNvSpPr txBox="1"/>
          <p:nvPr/>
        </p:nvSpPr>
        <p:spPr>
          <a:xfrm>
            <a:off x="1107000" y="205812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7" name="Google Shape;637;p28"/>
          <p:cNvSpPr txBox="1"/>
          <p:nvPr/>
        </p:nvSpPr>
        <p:spPr>
          <a:xfrm>
            <a:off x="1464120" y="1999080"/>
            <a:ext cx="482904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homework problems and solutions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p28"/>
          <p:cNvSpPr txBox="1"/>
          <p:nvPr/>
        </p:nvSpPr>
        <p:spPr>
          <a:xfrm>
            <a:off x="1107000" y="244296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p28"/>
          <p:cNvSpPr txBox="1"/>
          <p:nvPr/>
        </p:nvSpPr>
        <p:spPr>
          <a:xfrm>
            <a:off x="1464120" y="2383920"/>
            <a:ext cx="166284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papers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28"/>
          <p:cNvSpPr txBox="1"/>
          <p:nvPr/>
        </p:nvSpPr>
        <p:spPr>
          <a:xfrm>
            <a:off x="1107000" y="284220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28"/>
          <p:cNvSpPr txBox="1"/>
          <p:nvPr/>
        </p:nvSpPr>
        <p:spPr>
          <a:xfrm>
            <a:off x="1464120" y="2783160"/>
            <a:ext cx="205812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class work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1107000" y="324180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28"/>
          <p:cNvSpPr txBox="1"/>
          <p:nvPr/>
        </p:nvSpPr>
        <p:spPr>
          <a:xfrm>
            <a:off x="1464120" y="3182760"/>
            <a:ext cx="171612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quizzes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28"/>
          <p:cNvSpPr txBox="1"/>
          <p:nvPr/>
        </p:nvSpPr>
        <p:spPr>
          <a:xfrm>
            <a:off x="644040" y="38703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28"/>
          <p:cNvSpPr txBox="1"/>
          <p:nvPr/>
        </p:nvSpPr>
        <p:spPr>
          <a:xfrm>
            <a:off x="1006920" y="3854160"/>
            <a:ext cx="55573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encourage you to meet regularly to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28"/>
          <p:cNvSpPr txBox="1"/>
          <p:nvPr/>
        </p:nvSpPr>
        <p:spPr>
          <a:xfrm>
            <a:off x="1006920" y="4265640"/>
            <a:ext cx="22849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 IDL work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28"/>
          <p:cNvSpPr txBox="1"/>
          <p:nvPr/>
        </p:nvSpPr>
        <p:spPr>
          <a:xfrm>
            <a:off x="644040" y="50223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28"/>
          <p:cNvSpPr txBox="1"/>
          <p:nvPr/>
        </p:nvSpPr>
        <p:spPr>
          <a:xfrm>
            <a:off x="1006920" y="5006160"/>
            <a:ext cx="62647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groups may also go on to form project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p28"/>
          <p:cNvSpPr txBox="1"/>
          <p:nvPr/>
        </p:nvSpPr>
        <p:spPr>
          <a:xfrm>
            <a:off x="1006920" y="5417640"/>
            <a:ext cx="85860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1821960" y="413280"/>
            <a:ext cx="5500080" cy="629280"/>
          </a:xfrm>
          <a:custGeom>
            <a:rect b="b" l="l" r="r" t="t"/>
            <a:pathLst>
              <a:path extrusionOk="0" h="1748" w="15278">
                <a:moveTo>
                  <a:pt x="0" y="0"/>
                </a:moveTo>
                <a:lnTo>
                  <a:pt x="15278" y="0"/>
                </a:lnTo>
                <a:lnTo>
                  <a:pt x="1527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616680" y="1071360"/>
            <a:ext cx="7908840" cy="5597280"/>
          </a:xfrm>
          <a:custGeom>
            <a:rect b="b" l="l" r="r" t="t"/>
            <a:pathLst>
              <a:path extrusionOk="0" h="15548" w="21969">
                <a:moveTo>
                  <a:pt x="0" y="0"/>
                </a:moveTo>
                <a:lnTo>
                  <a:pt x="21969" y="0"/>
                </a:lnTo>
                <a:lnTo>
                  <a:pt x="21969" y="15548"/>
                </a:lnTo>
                <a:lnTo>
                  <a:pt x="0" y="155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7" name="Google Shape;657;p29"/>
          <p:cNvSpPr txBox="1"/>
          <p:nvPr/>
        </p:nvSpPr>
        <p:spPr>
          <a:xfrm>
            <a:off x="1834920" y="426960"/>
            <a:ext cx="455544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Study Group Mentors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29"/>
          <p:cNvSpPr txBox="1"/>
          <p:nvPr/>
        </p:nvSpPr>
        <p:spPr>
          <a:xfrm>
            <a:off x="662040" y="118584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29"/>
          <p:cNvSpPr txBox="1"/>
          <p:nvPr/>
        </p:nvSpPr>
        <p:spPr>
          <a:xfrm>
            <a:off x="1010880" y="1169640"/>
            <a:ext cx="65804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study group will be assigned a TA mentor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29"/>
          <p:cNvSpPr txBox="1"/>
          <p:nvPr/>
        </p:nvSpPr>
        <p:spPr>
          <a:xfrm>
            <a:off x="1091880" y="16610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29"/>
          <p:cNvSpPr txBox="1"/>
          <p:nvPr/>
        </p:nvSpPr>
        <p:spPr>
          <a:xfrm>
            <a:off x="1440720" y="1649520"/>
            <a:ext cx="636732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will track your progress and reach out to you if you appear to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29"/>
          <p:cNvSpPr txBox="1"/>
          <p:nvPr/>
        </p:nvSpPr>
        <p:spPr>
          <a:xfrm>
            <a:off x="1440720" y="1951920"/>
            <a:ext cx="12574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 in trouble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29"/>
          <p:cNvSpPr txBox="1"/>
          <p:nvPr/>
        </p:nvSpPr>
        <p:spPr>
          <a:xfrm>
            <a:off x="636120" y="25707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4" name="Google Shape;664;p29"/>
          <p:cNvSpPr txBox="1"/>
          <p:nvPr/>
        </p:nvSpPr>
        <p:spPr>
          <a:xfrm>
            <a:off x="986040" y="2554560"/>
            <a:ext cx="640080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in trouble, first reach out to your TA mentor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5" name="Google Shape;665;p29"/>
          <p:cNvSpPr txBox="1"/>
          <p:nvPr/>
        </p:nvSpPr>
        <p:spPr>
          <a:xfrm>
            <a:off x="1091880" y="30254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29"/>
          <p:cNvSpPr txBox="1"/>
          <p:nvPr/>
        </p:nvSpPr>
        <p:spPr>
          <a:xfrm>
            <a:off x="1443960" y="3013920"/>
            <a:ext cx="56379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feel you’re falling behind, reach out to your mentor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29"/>
          <p:cNvSpPr txBox="1"/>
          <p:nvPr/>
        </p:nvSpPr>
        <p:spPr>
          <a:xfrm>
            <a:off x="1091880" y="33541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29"/>
          <p:cNvSpPr txBox="1"/>
          <p:nvPr/>
        </p:nvSpPr>
        <p:spPr>
          <a:xfrm>
            <a:off x="1443960" y="3342960"/>
            <a:ext cx="53798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feel you are struggling, reach out to your mentor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9" name="Google Shape;669;p29"/>
          <p:cNvSpPr txBox="1"/>
          <p:nvPr/>
        </p:nvSpPr>
        <p:spPr>
          <a:xfrm>
            <a:off x="1091880" y="369288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29"/>
          <p:cNvSpPr txBox="1"/>
          <p:nvPr/>
        </p:nvSpPr>
        <p:spPr>
          <a:xfrm>
            <a:off x="1443960" y="3681360"/>
            <a:ext cx="61570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feel pressured/unable to cope, reach out to your mentor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29"/>
          <p:cNvSpPr txBox="1"/>
          <p:nvPr/>
        </p:nvSpPr>
        <p:spPr>
          <a:xfrm>
            <a:off x="1091880" y="402228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2" name="Google Shape;672;p29"/>
          <p:cNvSpPr txBox="1"/>
          <p:nvPr/>
        </p:nvSpPr>
        <p:spPr>
          <a:xfrm>
            <a:off x="1443960" y="4011120"/>
            <a:ext cx="308412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will try our best to help you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29"/>
          <p:cNvSpPr txBox="1"/>
          <p:nvPr/>
        </p:nvSpPr>
        <p:spPr>
          <a:xfrm>
            <a:off x="636120" y="460692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29"/>
          <p:cNvSpPr txBox="1"/>
          <p:nvPr/>
        </p:nvSpPr>
        <p:spPr>
          <a:xfrm>
            <a:off x="986040" y="4590720"/>
            <a:ext cx="74437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aim to make this a successful course for all of you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29"/>
          <p:cNvSpPr txBox="1"/>
          <p:nvPr/>
        </p:nvSpPr>
        <p:spPr>
          <a:xfrm>
            <a:off x="1091880" y="50623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29"/>
          <p:cNvSpPr txBox="1"/>
          <p:nvPr/>
        </p:nvSpPr>
        <p:spPr>
          <a:xfrm>
            <a:off x="1443960" y="5051160"/>
            <a:ext cx="66880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our intro to deep learning, ID(ea)L world, everyone performs well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29"/>
          <p:cNvSpPr txBox="1"/>
          <p:nvPr/>
        </p:nvSpPr>
        <p:spPr>
          <a:xfrm>
            <a:off x="1443960" y="5340600"/>
            <a:ext cx="45954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enough to get an A </a:t>
            </a:r>
            <a:r>
              <a:rPr b="0" i="1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without lowered standards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8" name="Google Shape;678;p29"/>
          <p:cNvSpPr txBox="1"/>
          <p:nvPr/>
        </p:nvSpPr>
        <p:spPr>
          <a:xfrm>
            <a:off x="1988640" y="5679720"/>
            <a:ext cx="62168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i.e. we would like to bring you all up to where we believe you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29"/>
          <p:cNvSpPr txBox="1"/>
          <p:nvPr/>
        </p:nvSpPr>
        <p:spPr>
          <a:xfrm>
            <a:off x="1988640" y="5969160"/>
            <a:ext cx="12636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deserve an A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0" name="Google Shape;680;p29"/>
          <p:cNvSpPr txBox="1"/>
          <p:nvPr/>
        </p:nvSpPr>
        <p:spPr>
          <a:xfrm>
            <a:off x="1091880" y="63313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29"/>
          <p:cNvSpPr txBox="1"/>
          <p:nvPr/>
        </p:nvSpPr>
        <p:spPr>
          <a:xfrm>
            <a:off x="1443960" y="6319800"/>
            <a:ext cx="53514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Everything about this course is geared to this objective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0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1821960" y="413280"/>
            <a:ext cx="5500080" cy="629280"/>
          </a:xfrm>
          <a:custGeom>
            <a:rect b="b" l="l" r="r" t="t"/>
            <a:pathLst>
              <a:path extrusionOk="0" h="1748" w="15278">
                <a:moveTo>
                  <a:pt x="0" y="0"/>
                </a:moveTo>
                <a:lnTo>
                  <a:pt x="15278" y="0"/>
                </a:lnTo>
                <a:lnTo>
                  <a:pt x="1527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616680" y="1376280"/>
            <a:ext cx="7289640" cy="3169080"/>
          </a:xfrm>
          <a:custGeom>
            <a:rect b="b" l="l" r="r" t="t"/>
            <a:pathLst>
              <a:path extrusionOk="0" h="8803" w="20249">
                <a:moveTo>
                  <a:pt x="0" y="0"/>
                </a:moveTo>
                <a:lnTo>
                  <a:pt x="20249" y="0"/>
                </a:lnTo>
                <a:lnTo>
                  <a:pt x="20249" y="8803"/>
                </a:lnTo>
                <a:lnTo>
                  <a:pt x="0" y="88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1834920" y="426960"/>
            <a:ext cx="4851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Project Group Mentors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30"/>
          <p:cNvSpPr txBox="1"/>
          <p:nvPr/>
        </p:nvSpPr>
        <p:spPr>
          <a:xfrm>
            <a:off x="662040" y="14904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30"/>
          <p:cNvSpPr txBox="1"/>
          <p:nvPr/>
        </p:nvSpPr>
        <p:spPr>
          <a:xfrm>
            <a:off x="1010880" y="1474560"/>
            <a:ext cx="67899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project group will be assigned at least one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30"/>
          <p:cNvSpPr txBox="1"/>
          <p:nvPr/>
        </p:nvSpPr>
        <p:spPr>
          <a:xfrm>
            <a:off x="1010880" y="1886040"/>
            <a:ext cx="148356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 mentor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30"/>
          <p:cNvSpPr txBox="1"/>
          <p:nvPr/>
        </p:nvSpPr>
        <p:spPr>
          <a:xfrm>
            <a:off x="1077480" y="237852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1440720" y="2365920"/>
            <a:ext cx="60177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will track your progress and be in touch about your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30"/>
          <p:cNvSpPr txBox="1"/>
          <p:nvPr/>
        </p:nvSpPr>
        <p:spPr>
          <a:xfrm>
            <a:off x="1440720" y="2685960"/>
            <a:ext cx="427248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status throughout the semester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30"/>
          <p:cNvSpPr txBox="1"/>
          <p:nvPr/>
        </p:nvSpPr>
        <p:spPr>
          <a:xfrm>
            <a:off x="636120" y="333540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30"/>
          <p:cNvSpPr txBox="1"/>
          <p:nvPr/>
        </p:nvSpPr>
        <p:spPr>
          <a:xfrm>
            <a:off x="986040" y="3319200"/>
            <a:ext cx="695052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are allowed to seek a “external” mentor who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986040" y="3730680"/>
            <a:ext cx="60148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more expertise in your topic of interest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30"/>
          <p:cNvSpPr txBox="1"/>
          <p:nvPr/>
        </p:nvSpPr>
        <p:spPr>
          <a:xfrm>
            <a:off x="1077480" y="4202640"/>
            <a:ext cx="266400" cy="29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30"/>
          <p:cNvSpPr txBox="1"/>
          <p:nvPr/>
        </p:nvSpPr>
        <p:spPr>
          <a:xfrm>
            <a:off x="1443960" y="4190400"/>
            <a:ext cx="448596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need more guidance and expertise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1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719640" y="1707480"/>
            <a:ext cx="7119360" cy="3231000"/>
          </a:xfrm>
          <a:custGeom>
            <a:rect b="b" l="l" r="r" t="t"/>
            <a:pathLst>
              <a:path extrusionOk="0" h="8975" w="19776">
                <a:moveTo>
                  <a:pt x="0" y="0"/>
                </a:moveTo>
                <a:lnTo>
                  <a:pt x="19776" y="0"/>
                </a:lnTo>
                <a:lnTo>
                  <a:pt x="19776" y="8975"/>
                </a:lnTo>
                <a:lnTo>
                  <a:pt x="0" y="89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31"/>
          <p:cNvSpPr txBox="1"/>
          <p:nvPr/>
        </p:nvSpPr>
        <p:spPr>
          <a:xfrm>
            <a:off x="3466440" y="659880"/>
            <a:ext cx="22287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785880" y="18417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31"/>
          <p:cNvSpPr txBox="1"/>
          <p:nvPr/>
        </p:nvSpPr>
        <p:spPr>
          <a:xfrm>
            <a:off x="1076760" y="1824840"/>
            <a:ext cx="6758280" cy="4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Scores are evaluated based on 3 types of tests: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1235160" y="235944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31"/>
          <p:cNvSpPr txBox="1"/>
          <p:nvPr/>
        </p:nvSpPr>
        <p:spPr>
          <a:xfrm>
            <a:off x="1533960" y="2345040"/>
            <a:ext cx="14292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3" name="Google Shape;713;p31"/>
          <p:cNvSpPr txBox="1"/>
          <p:nvPr/>
        </p:nvSpPr>
        <p:spPr>
          <a:xfrm>
            <a:off x="1235160" y="281916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31"/>
          <p:cNvSpPr txBox="1"/>
          <p:nvPr/>
        </p:nvSpPr>
        <p:spPr>
          <a:xfrm>
            <a:off x="1533960" y="2804760"/>
            <a:ext cx="19375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Quizzes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31"/>
          <p:cNvSpPr txBox="1"/>
          <p:nvPr/>
        </p:nvSpPr>
        <p:spPr>
          <a:xfrm>
            <a:off x="1235160" y="327312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31"/>
          <p:cNvSpPr txBox="1"/>
          <p:nvPr/>
        </p:nvSpPr>
        <p:spPr>
          <a:xfrm>
            <a:off x="1533960" y="3259080"/>
            <a:ext cx="20955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 Assignments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31"/>
          <p:cNvSpPr txBox="1"/>
          <p:nvPr/>
        </p:nvSpPr>
        <p:spPr>
          <a:xfrm>
            <a:off x="1235160" y="372780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1533960" y="3713760"/>
            <a:ext cx="59040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 Project or Guided Project (not for 11-485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31"/>
          <p:cNvSpPr txBox="1"/>
          <p:nvPr/>
        </p:nvSpPr>
        <p:spPr>
          <a:xfrm>
            <a:off x="1533960" y="4079520"/>
            <a:ext cx="11678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students)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2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32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32"/>
          <p:cNvSpPr/>
          <p:nvPr/>
        </p:nvSpPr>
        <p:spPr>
          <a:xfrm>
            <a:off x="685440" y="1420200"/>
            <a:ext cx="7711200" cy="5270040"/>
          </a:xfrm>
          <a:custGeom>
            <a:rect b="b" l="l" r="r" t="t"/>
            <a:pathLst>
              <a:path extrusionOk="0" h="14639" w="21420">
                <a:moveTo>
                  <a:pt x="0" y="0"/>
                </a:moveTo>
                <a:lnTo>
                  <a:pt x="21420" y="0"/>
                </a:lnTo>
                <a:lnTo>
                  <a:pt x="21420" y="14639"/>
                </a:lnTo>
                <a:lnTo>
                  <a:pt x="0" y="1463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7" name="Google Shape;727;p32"/>
          <p:cNvSpPr txBox="1"/>
          <p:nvPr/>
        </p:nvSpPr>
        <p:spPr>
          <a:xfrm>
            <a:off x="1820520" y="659880"/>
            <a:ext cx="55087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Lecture Attendance: Rules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32"/>
          <p:cNvSpPr txBox="1"/>
          <p:nvPr/>
        </p:nvSpPr>
        <p:spPr>
          <a:xfrm>
            <a:off x="715320" y="15577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32"/>
          <p:cNvSpPr txBox="1"/>
          <p:nvPr/>
        </p:nvSpPr>
        <p:spPr>
          <a:xfrm>
            <a:off x="1030320" y="1546200"/>
            <a:ext cx="63478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must either attend the lectures in person, or watch via zoom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32"/>
          <p:cNvSpPr txBox="1"/>
          <p:nvPr/>
        </p:nvSpPr>
        <p:spPr>
          <a:xfrm>
            <a:off x="1165680" y="184500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32"/>
          <p:cNvSpPr txBox="1"/>
          <p:nvPr/>
        </p:nvSpPr>
        <p:spPr>
          <a:xfrm>
            <a:off x="1487520" y="1835280"/>
            <a:ext cx="276228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some exceptions: see below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32"/>
          <p:cNvSpPr txBox="1"/>
          <p:nvPr/>
        </p:nvSpPr>
        <p:spPr>
          <a:xfrm>
            <a:off x="1165680" y="208872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32"/>
          <p:cNvSpPr txBox="1"/>
          <p:nvPr/>
        </p:nvSpPr>
        <p:spPr>
          <a:xfrm>
            <a:off x="1487520" y="2079360"/>
            <a:ext cx="57524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We get attendance stats from your participation during in-class polls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p32"/>
          <p:cNvSpPr txBox="1"/>
          <p:nvPr/>
        </p:nvSpPr>
        <p:spPr>
          <a:xfrm>
            <a:off x="1165680" y="233280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32"/>
          <p:cNvSpPr txBox="1"/>
          <p:nvPr/>
        </p:nvSpPr>
        <p:spPr>
          <a:xfrm>
            <a:off x="1487520" y="2323080"/>
            <a:ext cx="673560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Polls will be conducted via Piazza for in-person lectures. It is recommended to use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6" name="Google Shape;736;p32"/>
          <p:cNvSpPr txBox="1"/>
          <p:nvPr/>
        </p:nvSpPr>
        <p:spPr>
          <a:xfrm>
            <a:off x="1487520" y="2566800"/>
            <a:ext cx="408492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Piazza app available both on Android and iOS.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1165680" y="282024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p32"/>
          <p:cNvSpPr txBox="1"/>
          <p:nvPr/>
        </p:nvSpPr>
        <p:spPr>
          <a:xfrm>
            <a:off x="1487520" y="2810880"/>
            <a:ext cx="412956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Lectures conducted over zoom will use zoom polls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32"/>
          <p:cNvSpPr txBox="1"/>
          <p:nvPr/>
        </p:nvSpPr>
        <p:spPr>
          <a:xfrm>
            <a:off x="1165680" y="306432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0" name="Google Shape;740;p32"/>
          <p:cNvSpPr txBox="1"/>
          <p:nvPr/>
        </p:nvSpPr>
        <p:spPr>
          <a:xfrm>
            <a:off x="1487520" y="3054600"/>
            <a:ext cx="683280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Use of electronic devices during in-person lectures is not permitted except during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1" name="Google Shape;741;p32"/>
          <p:cNvSpPr txBox="1"/>
          <p:nvPr/>
        </p:nvSpPr>
        <p:spPr>
          <a:xfrm>
            <a:off x="1487520" y="3298320"/>
            <a:ext cx="39888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polls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p32"/>
          <p:cNvSpPr txBox="1"/>
          <p:nvPr/>
        </p:nvSpPr>
        <p:spPr>
          <a:xfrm>
            <a:off x="715320" y="36669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32"/>
          <p:cNvSpPr txBox="1"/>
          <p:nvPr/>
        </p:nvSpPr>
        <p:spPr>
          <a:xfrm>
            <a:off x="1030320" y="3655800"/>
            <a:ext cx="69840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Students in SV, and in other time zones where your local time is before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32"/>
          <p:cNvSpPr txBox="1"/>
          <p:nvPr/>
        </p:nvSpPr>
        <p:spPr>
          <a:xfrm>
            <a:off x="1030320" y="3945240"/>
            <a:ext cx="73890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8am or after 5pm for the class, may alternately watch recorded lectures on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5" name="Google Shape;745;p32"/>
          <p:cNvSpPr txBox="1"/>
          <p:nvPr/>
        </p:nvSpPr>
        <p:spPr>
          <a:xfrm>
            <a:off x="1030320" y="4234680"/>
            <a:ext cx="181152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mediatech instead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32"/>
          <p:cNvSpPr txBox="1"/>
          <p:nvPr/>
        </p:nvSpPr>
        <p:spPr>
          <a:xfrm>
            <a:off x="1144080" y="453348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32"/>
          <p:cNvSpPr txBox="1"/>
          <p:nvPr/>
        </p:nvSpPr>
        <p:spPr>
          <a:xfrm>
            <a:off x="1465920" y="4524120"/>
            <a:ext cx="685152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Mediatech records who watched and for how long. Entire lectures must be viewed.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1144080" y="482472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32"/>
          <p:cNvSpPr txBox="1"/>
          <p:nvPr/>
        </p:nvSpPr>
        <p:spPr>
          <a:xfrm>
            <a:off x="1465920" y="4815000"/>
            <a:ext cx="678492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viewed on mediatech, the lectures of each week must be viewed before 8AM of 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32"/>
          <p:cNvSpPr txBox="1"/>
          <p:nvPr/>
        </p:nvSpPr>
        <p:spPr>
          <a:xfrm>
            <a:off x="1465920" y="5106240"/>
            <a:ext cx="342504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Monday following the following week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32"/>
          <p:cNvSpPr txBox="1"/>
          <p:nvPr/>
        </p:nvSpPr>
        <p:spPr>
          <a:xfrm>
            <a:off x="1600560" y="540684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2057040" y="5397120"/>
            <a:ext cx="2246760" cy="24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Otherwise, it doesn’t count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32"/>
          <p:cNvSpPr txBox="1"/>
          <p:nvPr/>
        </p:nvSpPr>
        <p:spPr>
          <a:xfrm>
            <a:off x="715320" y="577800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32"/>
          <p:cNvSpPr txBox="1"/>
          <p:nvPr/>
        </p:nvSpPr>
        <p:spPr>
          <a:xfrm>
            <a:off x="1030320" y="5766480"/>
            <a:ext cx="71046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precise mechanism for computing the class participation score from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32"/>
          <p:cNvSpPr txBox="1"/>
          <p:nvPr/>
        </p:nvSpPr>
        <p:spPr>
          <a:xfrm>
            <a:off x="1030320" y="6055920"/>
            <a:ext cx="72892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attendance will be decided at the end of the semester. </a:t>
            </a:r>
            <a:r>
              <a:rPr b="1" lang="en-US" sz="19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Our advice to you: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32"/>
          <p:cNvSpPr txBox="1"/>
          <p:nvPr/>
        </p:nvSpPr>
        <p:spPr>
          <a:xfrm>
            <a:off x="1030320" y="6345720"/>
            <a:ext cx="10818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just attend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33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3" name="Google Shape;763;p33"/>
          <p:cNvSpPr/>
          <p:nvPr/>
        </p:nvSpPr>
        <p:spPr>
          <a:xfrm>
            <a:off x="719640" y="1809360"/>
            <a:ext cx="7433640" cy="3814920"/>
          </a:xfrm>
          <a:custGeom>
            <a:rect b="b" l="l" r="r" t="t"/>
            <a:pathLst>
              <a:path extrusionOk="0" h="10597" w="20649">
                <a:moveTo>
                  <a:pt x="0" y="0"/>
                </a:moveTo>
                <a:lnTo>
                  <a:pt x="20649" y="0"/>
                </a:lnTo>
                <a:lnTo>
                  <a:pt x="20649" y="10597"/>
                </a:lnTo>
                <a:lnTo>
                  <a:pt x="0" y="1059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33"/>
          <p:cNvSpPr txBox="1"/>
          <p:nvPr/>
        </p:nvSpPr>
        <p:spPr>
          <a:xfrm>
            <a:off x="2932920" y="659880"/>
            <a:ext cx="330156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Weekly Quizzes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33"/>
          <p:cNvSpPr txBox="1"/>
          <p:nvPr/>
        </p:nvSpPr>
        <p:spPr>
          <a:xfrm>
            <a:off x="785160" y="18385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6" name="Google Shape;766;p33"/>
          <p:cNvSpPr txBox="1"/>
          <p:nvPr/>
        </p:nvSpPr>
        <p:spPr>
          <a:xfrm>
            <a:off x="1076760" y="1870200"/>
            <a:ext cx="60307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Slides often contain a lot more information than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33"/>
          <p:cNvSpPr txBox="1"/>
          <p:nvPr/>
        </p:nvSpPr>
        <p:spPr>
          <a:xfrm>
            <a:off x="1076760" y="2284200"/>
            <a:ext cx="31680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presented in class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8" name="Google Shape;768;p33"/>
          <p:cNvSpPr txBox="1"/>
          <p:nvPr/>
        </p:nvSpPr>
        <p:spPr>
          <a:xfrm>
            <a:off x="785160" y="282276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strike="noStrike">
                <a:solidFill>
                  <a:srgbClr val="BE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33"/>
          <p:cNvSpPr txBox="1"/>
          <p:nvPr/>
        </p:nvSpPr>
        <p:spPr>
          <a:xfrm>
            <a:off x="1076760" y="2854440"/>
            <a:ext cx="71236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Quizzes will contain questions from topics that are on the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33"/>
          <p:cNvSpPr txBox="1"/>
          <p:nvPr/>
        </p:nvSpPr>
        <p:spPr>
          <a:xfrm>
            <a:off x="1076760" y="3267720"/>
            <a:ext cx="39808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strike="noStrike">
                <a:solidFill>
                  <a:srgbClr val="BE0000"/>
                </a:solidFill>
                <a:latin typeface="Calibri"/>
                <a:ea typeface="Calibri"/>
                <a:cs typeface="Calibri"/>
                <a:sym typeface="Calibri"/>
              </a:rPr>
              <a:t>slides, but not presented in class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33"/>
          <p:cNvSpPr txBox="1"/>
          <p:nvPr/>
        </p:nvSpPr>
        <p:spPr>
          <a:xfrm>
            <a:off x="785880" y="37483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33"/>
          <p:cNvSpPr txBox="1"/>
          <p:nvPr/>
        </p:nvSpPr>
        <p:spPr>
          <a:xfrm>
            <a:off x="1076760" y="3780000"/>
            <a:ext cx="70495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Will also include topics covered in class, but not on online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33"/>
          <p:cNvSpPr txBox="1"/>
          <p:nvPr/>
        </p:nvSpPr>
        <p:spPr>
          <a:xfrm>
            <a:off x="1076760" y="4158720"/>
            <a:ext cx="7794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slides!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33"/>
          <p:cNvSpPr txBox="1"/>
          <p:nvPr/>
        </p:nvSpPr>
        <p:spPr>
          <a:xfrm>
            <a:off x="785160" y="4606920"/>
            <a:ext cx="355320" cy="3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33"/>
          <p:cNvSpPr txBox="1"/>
          <p:nvPr/>
        </p:nvSpPr>
        <p:spPr>
          <a:xfrm>
            <a:off x="1076760" y="4638600"/>
            <a:ext cx="553356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Sometimes there will be questions based on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33"/>
          <p:cNvSpPr txBox="1"/>
          <p:nvPr/>
        </p:nvSpPr>
        <p:spPr>
          <a:xfrm>
            <a:off x="1076760" y="4941360"/>
            <a:ext cx="58352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latest research papers in the quiz – the links to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33"/>
          <p:cNvSpPr txBox="1"/>
          <p:nvPr/>
        </p:nvSpPr>
        <p:spPr>
          <a:xfrm>
            <a:off x="1076760" y="5234400"/>
            <a:ext cx="33800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papers will be provided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34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4" name="Google Shape;784;p34"/>
          <p:cNvSpPr/>
          <p:nvPr/>
        </p:nvSpPr>
        <p:spPr>
          <a:xfrm>
            <a:off x="725760" y="1589400"/>
            <a:ext cx="7365960" cy="4535640"/>
          </a:xfrm>
          <a:custGeom>
            <a:rect b="b" l="l" r="r" t="t"/>
            <a:pathLst>
              <a:path extrusionOk="0" h="12599" w="20461">
                <a:moveTo>
                  <a:pt x="0" y="0"/>
                </a:moveTo>
                <a:lnTo>
                  <a:pt x="20461" y="0"/>
                </a:lnTo>
                <a:lnTo>
                  <a:pt x="20461" y="12599"/>
                </a:lnTo>
                <a:lnTo>
                  <a:pt x="0" y="12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2658600" y="659880"/>
            <a:ext cx="38404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Homework: Part 1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34"/>
          <p:cNvSpPr txBox="1"/>
          <p:nvPr/>
        </p:nvSpPr>
        <p:spPr>
          <a:xfrm>
            <a:off x="774000" y="16124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34"/>
          <p:cNvSpPr txBox="1"/>
          <p:nvPr/>
        </p:nvSpPr>
        <p:spPr>
          <a:xfrm>
            <a:off x="1077120" y="1601280"/>
            <a:ext cx="64544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 Part-1s evaluate your ability to code neural nets on your own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34"/>
          <p:cNvSpPr txBox="1"/>
          <p:nvPr/>
        </p:nvSpPr>
        <p:spPr>
          <a:xfrm>
            <a:off x="1077120" y="1890720"/>
            <a:ext cx="12362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scratch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34"/>
          <p:cNvSpPr txBox="1"/>
          <p:nvPr/>
        </p:nvSpPr>
        <p:spPr>
          <a:xfrm>
            <a:off x="1182240" y="22316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34"/>
          <p:cNvSpPr txBox="1"/>
          <p:nvPr/>
        </p:nvSpPr>
        <p:spPr>
          <a:xfrm>
            <a:off x="1476360" y="2220120"/>
            <a:ext cx="66492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implement all mandatory and bonus questions of part 1 of all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34"/>
          <p:cNvSpPr txBox="1"/>
          <p:nvPr/>
        </p:nvSpPr>
        <p:spPr>
          <a:xfrm>
            <a:off x="1476360" y="2509920"/>
            <a:ext cx="65336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homeworks, you will, hopefully, have all components necessary to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34"/>
          <p:cNvSpPr txBox="1"/>
          <p:nvPr/>
        </p:nvSpPr>
        <p:spPr>
          <a:xfrm>
            <a:off x="1476360" y="2799360"/>
            <a:ext cx="506772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a little neural network toolkit of your own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34"/>
          <p:cNvSpPr txBox="1"/>
          <p:nvPr/>
        </p:nvSpPr>
        <p:spPr>
          <a:xfrm>
            <a:off x="1689120" y="31521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34"/>
          <p:cNvSpPr txBox="1"/>
          <p:nvPr/>
        </p:nvSpPr>
        <p:spPr>
          <a:xfrm>
            <a:off x="1875960" y="3141000"/>
            <a:ext cx="10234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“mytorch”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34"/>
          <p:cNvSpPr txBox="1"/>
          <p:nvPr/>
        </p:nvSpPr>
        <p:spPr>
          <a:xfrm>
            <a:off x="774720" y="34905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p34"/>
          <p:cNvSpPr txBox="1"/>
          <p:nvPr/>
        </p:nvSpPr>
        <p:spPr>
          <a:xfrm>
            <a:off x="1077120" y="3479040"/>
            <a:ext cx="31341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homeworks are autograded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34"/>
          <p:cNvSpPr txBox="1"/>
          <p:nvPr/>
        </p:nvSpPr>
        <p:spPr>
          <a:xfrm>
            <a:off x="1182240" y="383220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34"/>
          <p:cNvSpPr txBox="1"/>
          <p:nvPr/>
        </p:nvSpPr>
        <p:spPr>
          <a:xfrm>
            <a:off x="1476360" y="3820680"/>
            <a:ext cx="46720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 careful about following instructions carefully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34"/>
          <p:cNvSpPr txBox="1"/>
          <p:nvPr/>
        </p:nvSpPr>
        <p:spPr>
          <a:xfrm>
            <a:off x="1689120" y="41979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34"/>
          <p:cNvSpPr txBox="1"/>
          <p:nvPr/>
        </p:nvSpPr>
        <p:spPr>
          <a:xfrm>
            <a:off x="1875960" y="4186440"/>
            <a:ext cx="619704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autograder is setup on a computer with specific versions of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34"/>
          <p:cNvSpPr txBox="1"/>
          <p:nvPr/>
        </p:nvSpPr>
        <p:spPr>
          <a:xfrm>
            <a:off x="1875960" y="4503240"/>
            <a:ext cx="16617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various packages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34"/>
          <p:cNvSpPr txBox="1"/>
          <p:nvPr/>
        </p:nvSpPr>
        <p:spPr>
          <a:xfrm>
            <a:off x="1689120" y="485928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34"/>
          <p:cNvSpPr txBox="1"/>
          <p:nvPr/>
        </p:nvSpPr>
        <p:spPr>
          <a:xfrm>
            <a:off x="1875960" y="4848120"/>
            <a:ext cx="542592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code must conform to their restrictions, if not the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34"/>
          <p:cNvSpPr txBox="1"/>
          <p:nvPr/>
        </p:nvSpPr>
        <p:spPr>
          <a:xfrm>
            <a:off x="1875960" y="5137560"/>
            <a:ext cx="62722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autograder will often fail and give you errors or 0 marks, even if 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34"/>
          <p:cNvSpPr txBox="1"/>
          <p:nvPr/>
        </p:nvSpPr>
        <p:spPr>
          <a:xfrm>
            <a:off x="1875960" y="5427000"/>
            <a:ext cx="45234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code is functional on your own computer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34"/>
          <p:cNvSpPr txBox="1"/>
          <p:nvPr/>
        </p:nvSpPr>
        <p:spPr>
          <a:xfrm>
            <a:off x="1182240" y="58010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34"/>
          <p:cNvSpPr/>
          <p:nvPr/>
        </p:nvSpPr>
        <p:spPr>
          <a:xfrm>
            <a:off x="2961720" y="3184560"/>
            <a:ext cx="249840" cy="249120"/>
          </a:xfrm>
          <a:custGeom>
            <a:rect b="b" l="l" r="r" t="t"/>
            <a:pathLst>
              <a:path extrusionOk="0" h="692" w="694">
                <a:moveTo>
                  <a:pt x="0" y="0"/>
                </a:moveTo>
                <a:lnTo>
                  <a:pt x="694" y="0"/>
                </a:lnTo>
                <a:lnTo>
                  <a:pt x="694" y="692"/>
                </a:lnTo>
                <a:lnTo>
                  <a:pt x="0" y="69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8" name="Google Shape;8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2080" y="3184560"/>
            <a:ext cx="249120" cy="2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34"/>
          <p:cNvSpPr txBox="1"/>
          <p:nvPr/>
        </p:nvSpPr>
        <p:spPr>
          <a:xfrm>
            <a:off x="1476360" y="5789880"/>
            <a:ext cx="66024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you get some bonus points if you submit the homework early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5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707040" y="1567080"/>
            <a:ext cx="7710480" cy="2464560"/>
          </a:xfrm>
          <a:custGeom>
            <a:rect b="b" l="l" r="r" t="t"/>
            <a:pathLst>
              <a:path extrusionOk="0" h="6846" w="21418">
                <a:moveTo>
                  <a:pt x="0" y="0"/>
                </a:moveTo>
                <a:lnTo>
                  <a:pt x="21418" y="0"/>
                </a:lnTo>
                <a:lnTo>
                  <a:pt x="21418" y="6846"/>
                </a:lnTo>
                <a:lnTo>
                  <a:pt x="0" y="684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35"/>
          <p:cNvSpPr txBox="1"/>
          <p:nvPr/>
        </p:nvSpPr>
        <p:spPr>
          <a:xfrm>
            <a:off x="2658600" y="659880"/>
            <a:ext cx="38404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Homework: Part 2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35"/>
          <p:cNvSpPr txBox="1"/>
          <p:nvPr/>
        </p:nvSpPr>
        <p:spPr>
          <a:xfrm>
            <a:off x="765720" y="159372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35"/>
          <p:cNvSpPr txBox="1"/>
          <p:nvPr/>
        </p:nvSpPr>
        <p:spPr>
          <a:xfrm>
            <a:off x="947160" y="1579320"/>
            <a:ext cx="72673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 Part-2s test your ability to solve complex problems on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35"/>
          <p:cNvSpPr txBox="1"/>
          <p:nvPr/>
        </p:nvSpPr>
        <p:spPr>
          <a:xfrm>
            <a:off x="947160" y="1976040"/>
            <a:ext cx="24670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real-world data sets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35"/>
          <p:cNvSpPr txBox="1"/>
          <p:nvPr/>
        </p:nvSpPr>
        <p:spPr>
          <a:xfrm>
            <a:off x="1222920" y="246600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35"/>
          <p:cNvSpPr txBox="1"/>
          <p:nvPr/>
        </p:nvSpPr>
        <p:spPr>
          <a:xfrm>
            <a:off x="1404360" y="2451600"/>
            <a:ext cx="70308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Unlike part-1s, initial early submissions are required and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35"/>
          <p:cNvSpPr txBox="1"/>
          <p:nvPr/>
        </p:nvSpPr>
        <p:spPr>
          <a:xfrm>
            <a:off x="1404360" y="2817360"/>
            <a:ext cx="68184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worth 10/100 points (to show you have gotten started)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35"/>
          <p:cNvSpPr txBox="1"/>
          <p:nvPr/>
        </p:nvSpPr>
        <p:spPr>
          <a:xfrm>
            <a:off x="1222200" y="325908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35"/>
          <p:cNvSpPr txBox="1"/>
          <p:nvPr/>
        </p:nvSpPr>
        <p:spPr>
          <a:xfrm>
            <a:off x="1403640" y="3244680"/>
            <a:ext cx="66499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remaining 90/100 points are determined by your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35"/>
          <p:cNvSpPr txBox="1"/>
          <p:nvPr/>
        </p:nvSpPr>
        <p:spPr>
          <a:xfrm>
            <a:off x="1403640" y="3640680"/>
            <a:ext cx="40082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score relative to the cutoffs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6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36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p36"/>
          <p:cNvSpPr/>
          <p:nvPr/>
        </p:nvSpPr>
        <p:spPr>
          <a:xfrm>
            <a:off x="707040" y="1551240"/>
            <a:ext cx="4662360" cy="330120"/>
          </a:xfrm>
          <a:custGeom>
            <a:rect b="b" l="l" r="r" t="t"/>
            <a:pathLst>
              <a:path extrusionOk="0" h="917" w="12951">
                <a:moveTo>
                  <a:pt x="0" y="0"/>
                </a:moveTo>
                <a:lnTo>
                  <a:pt x="12951" y="0"/>
                </a:lnTo>
                <a:lnTo>
                  <a:pt x="12951" y="917"/>
                </a:lnTo>
                <a:lnTo>
                  <a:pt x="0" y="9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4" name="Google Shape;834;p36"/>
          <p:cNvSpPr txBox="1"/>
          <p:nvPr/>
        </p:nvSpPr>
        <p:spPr>
          <a:xfrm>
            <a:off x="2658600" y="659880"/>
            <a:ext cx="38404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Homework: Part 2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36"/>
          <p:cNvSpPr txBox="1"/>
          <p:nvPr/>
        </p:nvSpPr>
        <p:spPr>
          <a:xfrm>
            <a:off x="758160" y="157500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6" name="Google Shape;836;p36"/>
          <p:cNvSpPr/>
          <p:nvPr/>
        </p:nvSpPr>
        <p:spPr>
          <a:xfrm>
            <a:off x="1164240" y="1853280"/>
            <a:ext cx="1796760" cy="2023200"/>
          </a:xfrm>
          <a:custGeom>
            <a:rect b="b" l="l" r="r" t="t"/>
            <a:pathLst>
              <a:path extrusionOk="0" h="5620" w="4991">
                <a:moveTo>
                  <a:pt x="0" y="0"/>
                </a:moveTo>
                <a:lnTo>
                  <a:pt x="4991" y="0"/>
                </a:lnTo>
                <a:lnTo>
                  <a:pt x="4991" y="5620"/>
                </a:lnTo>
                <a:lnTo>
                  <a:pt x="0" y="562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36"/>
          <p:cNvSpPr txBox="1"/>
          <p:nvPr/>
        </p:nvSpPr>
        <p:spPr>
          <a:xfrm>
            <a:off x="947880" y="1563120"/>
            <a:ext cx="440028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standard cutoffs are (After 10 pts ESD)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36"/>
          <p:cNvSpPr txBox="1"/>
          <p:nvPr/>
        </p:nvSpPr>
        <p:spPr>
          <a:xfrm>
            <a:off x="1215360" y="191484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36"/>
          <p:cNvSpPr txBox="1"/>
          <p:nvPr/>
        </p:nvSpPr>
        <p:spPr>
          <a:xfrm>
            <a:off x="1405080" y="1902960"/>
            <a:ext cx="11379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cutoff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36"/>
          <p:cNvSpPr txBox="1"/>
          <p:nvPr/>
        </p:nvSpPr>
        <p:spPr>
          <a:xfrm>
            <a:off x="1215360" y="225972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36"/>
          <p:cNvSpPr txBox="1"/>
          <p:nvPr/>
        </p:nvSpPr>
        <p:spPr>
          <a:xfrm>
            <a:off x="1405080" y="2247840"/>
            <a:ext cx="1540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Medium cutoff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36"/>
          <p:cNvSpPr txBox="1"/>
          <p:nvPr/>
        </p:nvSpPr>
        <p:spPr>
          <a:xfrm>
            <a:off x="1215360" y="25887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36"/>
          <p:cNvSpPr txBox="1"/>
          <p:nvPr/>
        </p:nvSpPr>
        <p:spPr>
          <a:xfrm>
            <a:off x="1405080" y="2576880"/>
            <a:ext cx="1090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cutoff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36"/>
          <p:cNvSpPr txBox="1"/>
          <p:nvPr/>
        </p:nvSpPr>
        <p:spPr>
          <a:xfrm>
            <a:off x="1214640" y="293040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36"/>
          <p:cNvSpPr txBox="1"/>
          <p:nvPr/>
        </p:nvSpPr>
        <p:spPr>
          <a:xfrm>
            <a:off x="1405800" y="2918520"/>
            <a:ext cx="10137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Low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36"/>
          <p:cNvSpPr txBox="1"/>
          <p:nvPr/>
        </p:nvSpPr>
        <p:spPr>
          <a:xfrm>
            <a:off x="1405800" y="3223080"/>
            <a:ext cx="610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cutoff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36"/>
          <p:cNvSpPr txBox="1"/>
          <p:nvPr/>
        </p:nvSpPr>
        <p:spPr>
          <a:xfrm>
            <a:off x="1215360" y="35679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36"/>
          <p:cNvSpPr/>
          <p:nvPr/>
        </p:nvSpPr>
        <p:spPr>
          <a:xfrm>
            <a:off x="3451320" y="1853280"/>
            <a:ext cx="782640" cy="1718640"/>
          </a:xfrm>
          <a:custGeom>
            <a:rect b="b" l="l" r="r" t="t"/>
            <a:pathLst>
              <a:path extrusionOk="0" h="4774" w="2174">
                <a:moveTo>
                  <a:pt x="0" y="0"/>
                </a:moveTo>
                <a:lnTo>
                  <a:pt x="2174" y="0"/>
                </a:lnTo>
                <a:lnTo>
                  <a:pt x="2174" y="4774"/>
                </a:lnTo>
                <a:lnTo>
                  <a:pt x="0" y="47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36"/>
          <p:cNvSpPr txBox="1"/>
          <p:nvPr/>
        </p:nvSpPr>
        <p:spPr>
          <a:xfrm>
            <a:off x="1405080" y="3556080"/>
            <a:ext cx="15109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submission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0" name="Google Shape;850;p36"/>
          <p:cNvSpPr txBox="1"/>
          <p:nvPr/>
        </p:nvSpPr>
        <p:spPr>
          <a:xfrm>
            <a:off x="3463920" y="1902960"/>
            <a:ext cx="7603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90 pts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36"/>
          <p:cNvSpPr txBox="1"/>
          <p:nvPr/>
        </p:nvSpPr>
        <p:spPr>
          <a:xfrm>
            <a:off x="3463920" y="2247840"/>
            <a:ext cx="7603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70 pts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36"/>
          <p:cNvSpPr txBox="1"/>
          <p:nvPr/>
        </p:nvSpPr>
        <p:spPr>
          <a:xfrm>
            <a:off x="3463920" y="2576880"/>
            <a:ext cx="7603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50 pts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36"/>
          <p:cNvSpPr txBox="1"/>
          <p:nvPr/>
        </p:nvSpPr>
        <p:spPr>
          <a:xfrm>
            <a:off x="3463920" y="2918520"/>
            <a:ext cx="7603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30 pts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36"/>
          <p:cNvSpPr/>
          <p:nvPr/>
        </p:nvSpPr>
        <p:spPr>
          <a:xfrm>
            <a:off x="673200" y="3859560"/>
            <a:ext cx="7710840" cy="2724840"/>
          </a:xfrm>
          <a:custGeom>
            <a:rect b="b" l="l" r="r" t="t"/>
            <a:pathLst>
              <a:path extrusionOk="0" h="7569" w="21419">
                <a:moveTo>
                  <a:pt x="0" y="0"/>
                </a:moveTo>
                <a:lnTo>
                  <a:pt x="21419" y="0"/>
                </a:lnTo>
                <a:lnTo>
                  <a:pt x="21419" y="7569"/>
                </a:lnTo>
                <a:lnTo>
                  <a:pt x="0" y="756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36"/>
          <p:cNvSpPr txBox="1"/>
          <p:nvPr/>
        </p:nvSpPr>
        <p:spPr>
          <a:xfrm>
            <a:off x="3463920" y="3250440"/>
            <a:ext cx="63144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0 pts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36"/>
          <p:cNvSpPr txBox="1"/>
          <p:nvPr/>
        </p:nvSpPr>
        <p:spPr>
          <a:xfrm>
            <a:off x="723600" y="39117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7" name="Google Shape;857;p36"/>
          <p:cNvSpPr txBox="1"/>
          <p:nvPr/>
        </p:nvSpPr>
        <p:spPr>
          <a:xfrm>
            <a:off x="914760" y="3899880"/>
            <a:ext cx="6694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score is linearly interpolated between cutoffs. Ex, if an 85%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36"/>
          <p:cNvSpPr txBox="1"/>
          <p:nvPr/>
        </p:nvSpPr>
        <p:spPr>
          <a:xfrm>
            <a:off x="914760" y="4228920"/>
            <a:ext cx="645804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 model is for the high cutoff and 75% model is for the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36"/>
          <p:cNvSpPr txBox="1"/>
          <p:nvPr/>
        </p:nvSpPr>
        <p:spPr>
          <a:xfrm>
            <a:off x="914760" y="4558320"/>
            <a:ext cx="58377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medium, a model with 80% accuracy will get 82.5/90 pts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0" name="Google Shape;860;p36"/>
          <p:cNvSpPr txBox="1"/>
          <p:nvPr/>
        </p:nvSpPr>
        <p:spPr>
          <a:xfrm>
            <a:off x="724320" y="50385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36"/>
          <p:cNvSpPr txBox="1"/>
          <p:nvPr/>
        </p:nvSpPr>
        <p:spPr>
          <a:xfrm>
            <a:off x="914760" y="5026680"/>
            <a:ext cx="68925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a 5th bonus cutoff for extra credits (10 pts) determined by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36"/>
          <p:cNvSpPr txBox="1"/>
          <p:nvPr/>
        </p:nvSpPr>
        <p:spPr>
          <a:xfrm>
            <a:off x="914760" y="5347080"/>
            <a:ext cx="28159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highest scoring student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36"/>
          <p:cNvSpPr txBox="1"/>
          <p:nvPr/>
        </p:nvSpPr>
        <p:spPr>
          <a:xfrm>
            <a:off x="1180800" y="571572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36"/>
          <p:cNvSpPr txBox="1"/>
          <p:nvPr/>
        </p:nvSpPr>
        <p:spPr>
          <a:xfrm>
            <a:off x="1369440" y="5703840"/>
            <a:ext cx="64317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 If the highest accuracy is 92%, the scoring student will get 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36"/>
          <p:cNvSpPr txBox="1"/>
          <p:nvPr/>
        </p:nvSpPr>
        <p:spPr>
          <a:xfrm>
            <a:off x="1369440" y="5978160"/>
            <a:ext cx="630468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110/100 and anyone between 85% to 92% will get 100+/100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36"/>
          <p:cNvSpPr txBox="1"/>
          <p:nvPr/>
        </p:nvSpPr>
        <p:spPr>
          <a:xfrm>
            <a:off x="1369440" y="6252480"/>
            <a:ext cx="62499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(assuming they have 10 bonus points from early submission)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7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37"/>
          <p:cNvSpPr/>
          <p:nvPr/>
        </p:nvSpPr>
        <p:spPr>
          <a:xfrm>
            <a:off x="3033360" y="413280"/>
            <a:ext cx="3096000" cy="636480"/>
          </a:xfrm>
          <a:custGeom>
            <a:rect b="b" l="l" r="r" t="t"/>
            <a:pathLst>
              <a:path extrusionOk="0" h="1768" w="8600">
                <a:moveTo>
                  <a:pt x="0" y="0"/>
                </a:moveTo>
                <a:lnTo>
                  <a:pt x="8600" y="0"/>
                </a:lnTo>
                <a:lnTo>
                  <a:pt x="8600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37"/>
          <p:cNvSpPr/>
          <p:nvPr/>
        </p:nvSpPr>
        <p:spPr>
          <a:xfrm>
            <a:off x="716040" y="1307160"/>
            <a:ext cx="7412760" cy="5294160"/>
          </a:xfrm>
          <a:custGeom>
            <a:rect b="b" l="l" r="r" t="t"/>
            <a:pathLst>
              <a:path extrusionOk="0" h="14706" w="20591">
                <a:moveTo>
                  <a:pt x="0" y="0"/>
                </a:moveTo>
                <a:lnTo>
                  <a:pt x="20591" y="0"/>
                </a:lnTo>
                <a:lnTo>
                  <a:pt x="20591" y="14706"/>
                </a:lnTo>
                <a:lnTo>
                  <a:pt x="0" y="147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37"/>
          <p:cNvSpPr txBox="1"/>
          <p:nvPr/>
        </p:nvSpPr>
        <p:spPr>
          <a:xfrm>
            <a:off x="3046320" y="426960"/>
            <a:ext cx="30643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Course Project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37"/>
          <p:cNvSpPr txBox="1"/>
          <p:nvPr/>
        </p:nvSpPr>
        <p:spPr>
          <a:xfrm>
            <a:off x="723960" y="137160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37"/>
          <p:cNvSpPr txBox="1"/>
          <p:nvPr/>
        </p:nvSpPr>
        <p:spPr>
          <a:xfrm>
            <a:off x="948240" y="1357560"/>
            <a:ext cx="66247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Teams: think about forming project teams as soon as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7" name="Google Shape;877;p37"/>
          <p:cNvSpPr txBox="1"/>
          <p:nvPr/>
        </p:nvSpPr>
        <p:spPr>
          <a:xfrm>
            <a:off x="948240" y="1723320"/>
            <a:ext cx="34106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 (we may help, too)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8" name="Google Shape;878;p37"/>
          <p:cNvSpPr txBox="1"/>
          <p:nvPr/>
        </p:nvSpPr>
        <p:spPr>
          <a:xfrm>
            <a:off x="1203480" y="21441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9" name="Google Shape;879;p37"/>
          <p:cNvSpPr txBox="1"/>
          <p:nvPr/>
        </p:nvSpPr>
        <p:spPr>
          <a:xfrm>
            <a:off x="1405440" y="2133000"/>
            <a:ext cx="42786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11-785 teams are of 3-4 students maximum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37"/>
          <p:cNvSpPr txBox="1"/>
          <p:nvPr/>
        </p:nvSpPr>
        <p:spPr>
          <a:xfrm>
            <a:off x="1203480" y="24782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37"/>
          <p:cNvSpPr txBox="1"/>
          <p:nvPr/>
        </p:nvSpPr>
        <p:spPr>
          <a:xfrm>
            <a:off x="1405440" y="2467080"/>
            <a:ext cx="427860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11-685 teams are of 2-3 students maximum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37"/>
          <p:cNvSpPr txBox="1"/>
          <p:nvPr/>
        </p:nvSpPr>
        <p:spPr>
          <a:xfrm>
            <a:off x="723960" y="281268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p37"/>
          <p:cNvSpPr txBox="1"/>
          <p:nvPr/>
        </p:nvSpPr>
        <p:spPr>
          <a:xfrm>
            <a:off x="948240" y="2798280"/>
            <a:ext cx="27136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requirements: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37"/>
          <p:cNvSpPr txBox="1"/>
          <p:nvPr/>
        </p:nvSpPr>
        <p:spPr>
          <a:xfrm>
            <a:off x="1203480" y="32191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37"/>
          <p:cNvSpPr txBox="1"/>
          <p:nvPr/>
        </p:nvSpPr>
        <p:spPr>
          <a:xfrm>
            <a:off x="1405440" y="3207960"/>
            <a:ext cx="73368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Report: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37"/>
          <p:cNvSpPr txBox="1"/>
          <p:nvPr/>
        </p:nvSpPr>
        <p:spPr>
          <a:xfrm>
            <a:off x="1788120" y="350676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" name="Google Shape;887;p37"/>
          <p:cNvSpPr txBox="1"/>
          <p:nvPr/>
        </p:nvSpPr>
        <p:spPr>
          <a:xfrm>
            <a:off x="2088000" y="3503160"/>
            <a:ext cx="579996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a project proposal by the proposal deadline listed on the website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37"/>
          <p:cNvSpPr txBox="1"/>
          <p:nvPr/>
        </p:nvSpPr>
        <p:spPr>
          <a:xfrm>
            <a:off x="1788120" y="375048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37"/>
          <p:cNvSpPr txBox="1"/>
          <p:nvPr/>
        </p:nvSpPr>
        <p:spPr>
          <a:xfrm>
            <a:off x="2088000" y="3747240"/>
            <a:ext cx="421704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an initial report 3⁄4 way through the semester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37"/>
          <p:cNvSpPr txBox="1"/>
          <p:nvPr/>
        </p:nvSpPr>
        <p:spPr>
          <a:xfrm>
            <a:off x="1788120" y="399456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37"/>
          <p:cNvSpPr txBox="1"/>
          <p:nvPr/>
        </p:nvSpPr>
        <p:spPr>
          <a:xfrm>
            <a:off x="2088000" y="3990960"/>
            <a:ext cx="5823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an updated report draft 3 days </a:t>
            </a:r>
            <a:r>
              <a:rPr b="1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the presentation due date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37"/>
          <p:cNvSpPr txBox="1"/>
          <p:nvPr/>
        </p:nvSpPr>
        <p:spPr>
          <a:xfrm>
            <a:off x="1788120" y="423828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37"/>
          <p:cNvSpPr txBox="1"/>
          <p:nvPr/>
        </p:nvSpPr>
        <p:spPr>
          <a:xfrm>
            <a:off x="2088000" y="4234680"/>
            <a:ext cx="5362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a final report during finals week, at the end of the semester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4" name="Google Shape;894;p37"/>
          <p:cNvSpPr txBox="1"/>
          <p:nvPr/>
        </p:nvSpPr>
        <p:spPr>
          <a:xfrm>
            <a:off x="1203480" y="452232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37"/>
          <p:cNvSpPr txBox="1"/>
          <p:nvPr/>
        </p:nvSpPr>
        <p:spPr>
          <a:xfrm>
            <a:off x="1405440" y="4510800"/>
            <a:ext cx="630360" cy="2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37"/>
          <p:cNvSpPr txBox="1"/>
          <p:nvPr/>
        </p:nvSpPr>
        <p:spPr>
          <a:xfrm>
            <a:off x="1788120" y="480996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7" name="Google Shape;897;p37"/>
          <p:cNvSpPr txBox="1"/>
          <p:nvPr/>
        </p:nvSpPr>
        <p:spPr>
          <a:xfrm>
            <a:off x="2088000" y="4806360"/>
            <a:ext cx="594324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 a </a:t>
            </a:r>
            <a:r>
              <a:rPr b="1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min </a:t>
            </a: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presentation of the project at the end of the semester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37"/>
          <p:cNvSpPr txBox="1"/>
          <p:nvPr/>
        </p:nvSpPr>
        <p:spPr>
          <a:xfrm>
            <a:off x="1788120" y="505368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37"/>
          <p:cNvSpPr txBox="1"/>
          <p:nvPr/>
        </p:nvSpPr>
        <p:spPr>
          <a:xfrm>
            <a:off x="2088000" y="5050080"/>
            <a:ext cx="508212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video can be presented by one, some, or all team members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37"/>
          <p:cNvSpPr txBox="1"/>
          <p:nvPr/>
        </p:nvSpPr>
        <p:spPr>
          <a:xfrm>
            <a:off x="1788120" y="529740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37"/>
          <p:cNvSpPr txBox="1"/>
          <p:nvPr/>
        </p:nvSpPr>
        <p:spPr>
          <a:xfrm>
            <a:off x="2088000" y="5293800"/>
            <a:ext cx="551772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should explain the problem, proposed solution, and evaluation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37"/>
          <p:cNvSpPr txBox="1"/>
          <p:nvPr/>
        </p:nvSpPr>
        <p:spPr>
          <a:xfrm>
            <a:off x="1788120" y="5541480"/>
            <a:ext cx="202680" cy="2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6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3" name="Google Shape;903;p37"/>
          <p:cNvSpPr txBox="1"/>
          <p:nvPr/>
        </p:nvSpPr>
        <p:spPr>
          <a:xfrm>
            <a:off x="2088000" y="5537880"/>
            <a:ext cx="577116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Defend your project by answering questions about your video, on Piazza</a:t>
            </a:r>
            <a:endParaRPr b="0" sz="15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4" name="Google Shape;904;p37"/>
          <p:cNvSpPr txBox="1"/>
          <p:nvPr/>
        </p:nvSpPr>
        <p:spPr>
          <a:xfrm>
            <a:off x="723960" y="583200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5" name="Google Shape;905;p37"/>
          <p:cNvSpPr txBox="1"/>
          <p:nvPr/>
        </p:nvSpPr>
        <p:spPr>
          <a:xfrm>
            <a:off x="948240" y="5817600"/>
            <a:ext cx="67183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project is often the most enjoyable portion of the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6" name="Google Shape;906;p37"/>
          <p:cNvSpPr txBox="1"/>
          <p:nvPr/>
        </p:nvSpPr>
        <p:spPr>
          <a:xfrm>
            <a:off x="948240" y="6183360"/>
            <a:ext cx="8276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8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2" name="Google Shape;912;p38"/>
          <p:cNvSpPr/>
          <p:nvPr/>
        </p:nvSpPr>
        <p:spPr>
          <a:xfrm>
            <a:off x="3731400" y="413280"/>
            <a:ext cx="1692720" cy="636480"/>
          </a:xfrm>
          <a:custGeom>
            <a:rect b="b" l="l" r="r" t="t"/>
            <a:pathLst>
              <a:path extrusionOk="0" h="1768" w="4702">
                <a:moveTo>
                  <a:pt x="0" y="0"/>
                </a:moveTo>
                <a:lnTo>
                  <a:pt x="4702" y="0"/>
                </a:lnTo>
                <a:lnTo>
                  <a:pt x="4702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3" name="Google Shape;913;p38"/>
          <p:cNvSpPr/>
          <p:nvPr/>
        </p:nvSpPr>
        <p:spPr>
          <a:xfrm>
            <a:off x="841320" y="5797800"/>
            <a:ext cx="4099680" cy="320400"/>
          </a:xfrm>
          <a:custGeom>
            <a:rect b="b" l="l" r="r" t="t"/>
            <a:pathLst>
              <a:path extrusionOk="0" h="890" w="11388">
                <a:moveTo>
                  <a:pt x="0" y="0"/>
                </a:moveTo>
                <a:lnTo>
                  <a:pt x="11388" y="0"/>
                </a:lnTo>
                <a:lnTo>
                  <a:pt x="11388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4" name="Google Shape;914;p38"/>
          <p:cNvSpPr txBox="1"/>
          <p:nvPr/>
        </p:nvSpPr>
        <p:spPr>
          <a:xfrm>
            <a:off x="3744360" y="426960"/>
            <a:ext cx="1665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Grading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38"/>
          <p:cNvSpPr/>
          <p:nvPr/>
        </p:nvSpPr>
        <p:spPr>
          <a:xfrm>
            <a:off x="954000" y="1365480"/>
            <a:ext cx="7754400" cy="4431960"/>
          </a:xfrm>
          <a:custGeom>
            <a:rect b="b" l="l" r="r" t="t"/>
            <a:pathLst>
              <a:path extrusionOk="0" h="12311" w="21540">
                <a:moveTo>
                  <a:pt x="0" y="0"/>
                </a:moveTo>
                <a:lnTo>
                  <a:pt x="21540" y="0"/>
                </a:lnTo>
                <a:lnTo>
                  <a:pt x="21540" y="12311"/>
                </a:lnTo>
                <a:lnTo>
                  <a:pt x="0" y="1231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6" name="Google Shape;916;p38"/>
          <p:cNvSpPr txBox="1"/>
          <p:nvPr/>
        </p:nvSpPr>
        <p:spPr>
          <a:xfrm>
            <a:off x="853920" y="5809680"/>
            <a:ext cx="406764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 Note: There is 1 mark for attendance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enerated image: Syllabus Grade Breakdown Table" id="917" name="Google Shape;9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788" y="1251857"/>
            <a:ext cx="7980241" cy="424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9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743400" y="646200"/>
            <a:ext cx="7710480" cy="637200"/>
          </a:xfrm>
          <a:custGeom>
            <a:rect b="b" l="l" r="r" t="t"/>
            <a:pathLst>
              <a:path extrusionOk="0" h="1770" w="21418">
                <a:moveTo>
                  <a:pt x="0" y="0"/>
                </a:moveTo>
                <a:lnTo>
                  <a:pt x="21418" y="0"/>
                </a:lnTo>
                <a:lnTo>
                  <a:pt x="21418" y="1770"/>
                </a:lnTo>
                <a:lnTo>
                  <a:pt x="0" y="17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39"/>
          <p:cNvSpPr/>
          <p:nvPr/>
        </p:nvSpPr>
        <p:spPr>
          <a:xfrm>
            <a:off x="704160" y="1284840"/>
            <a:ext cx="7632720" cy="5199120"/>
          </a:xfrm>
          <a:custGeom>
            <a:rect b="b" l="l" r="r" t="t"/>
            <a:pathLst>
              <a:path extrusionOk="0" h="14442" w="21202">
                <a:moveTo>
                  <a:pt x="0" y="0"/>
                </a:moveTo>
                <a:lnTo>
                  <a:pt x="21202" y="0"/>
                </a:lnTo>
                <a:lnTo>
                  <a:pt x="21202" y="14442"/>
                </a:lnTo>
                <a:lnTo>
                  <a:pt x="0" y="1444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39"/>
          <p:cNvSpPr txBox="1"/>
          <p:nvPr/>
        </p:nvSpPr>
        <p:spPr>
          <a:xfrm>
            <a:off x="2308320" y="659880"/>
            <a:ext cx="452952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Homework Deadlines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39"/>
          <p:cNvSpPr txBox="1"/>
          <p:nvPr/>
        </p:nvSpPr>
        <p:spPr>
          <a:xfrm>
            <a:off x="720720" y="1309680"/>
            <a:ext cx="279000" cy="31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39"/>
          <p:cNvSpPr txBox="1"/>
          <p:nvPr/>
        </p:nvSpPr>
        <p:spPr>
          <a:xfrm>
            <a:off x="947880" y="1296720"/>
            <a:ext cx="591192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are separate deadlines for Part-1s and Part-2s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39"/>
          <p:cNvSpPr txBox="1"/>
          <p:nvPr/>
        </p:nvSpPr>
        <p:spPr>
          <a:xfrm>
            <a:off x="720720" y="1711080"/>
            <a:ext cx="279000" cy="31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39"/>
          <p:cNvSpPr txBox="1"/>
          <p:nvPr/>
        </p:nvSpPr>
        <p:spPr>
          <a:xfrm>
            <a:off x="947880" y="1697760"/>
            <a:ext cx="404964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HW Part-2s have multiple deadlines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39"/>
          <p:cNvSpPr txBox="1"/>
          <p:nvPr/>
        </p:nvSpPr>
        <p:spPr>
          <a:xfrm>
            <a:off x="1199520" y="2119680"/>
            <a:ext cx="21564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39"/>
          <p:cNvSpPr txBox="1"/>
          <p:nvPr/>
        </p:nvSpPr>
        <p:spPr>
          <a:xfrm>
            <a:off x="1405080" y="2109240"/>
            <a:ext cx="610992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Early Submission D</a:t>
            </a: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eadline: worth 10% of Part-2 and affirms you have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39"/>
          <p:cNvSpPr txBox="1"/>
          <p:nvPr/>
        </p:nvSpPr>
        <p:spPr>
          <a:xfrm>
            <a:off x="1405080" y="2418480"/>
            <a:ext cx="202752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started the assignment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39"/>
          <p:cNvSpPr txBox="1"/>
          <p:nvPr/>
        </p:nvSpPr>
        <p:spPr>
          <a:xfrm>
            <a:off x="1199520" y="2738160"/>
            <a:ext cx="21564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39"/>
          <p:cNvSpPr txBox="1"/>
          <p:nvPr/>
        </p:nvSpPr>
        <p:spPr>
          <a:xfrm>
            <a:off x="1405080" y="2727720"/>
            <a:ext cx="675396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On-time Submission Deadline: </a:t>
            </a: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determines your eligibility for full cutoff marks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39"/>
          <p:cNvSpPr txBox="1"/>
          <p:nvPr/>
        </p:nvSpPr>
        <p:spPr>
          <a:xfrm>
            <a:off x="1199520" y="3040920"/>
            <a:ext cx="21564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39"/>
          <p:cNvSpPr txBox="1"/>
          <p:nvPr/>
        </p:nvSpPr>
        <p:spPr>
          <a:xfrm>
            <a:off x="1405080" y="3030840"/>
            <a:ext cx="624132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Late/Slack Deadline:  </a:t>
            </a: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everyone gets up to 10 total slack days </a:t>
            </a:r>
            <a:r>
              <a:rPr b="1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(does not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39"/>
          <p:cNvSpPr txBox="1"/>
          <p:nvPr/>
        </p:nvSpPr>
        <p:spPr>
          <a:xfrm>
            <a:off x="1405080" y="3290040"/>
            <a:ext cx="611856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apply to initial submissions, all bonus points, nor HW Part</a:t>
            </a: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1s) </a:t>
            </a: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-- you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39"/>
          <p:cNvSpPr txBox="1"/>
          <p:nvPr/>
        </p:nvSpPr>
        <p:spPr>
          <a:xfrm>
            <a:off x="1405080" y="3549600"/>
            <a:ext cx="631152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distribute them as you want across your HWs, and once you use up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39"/>
          <p:cNvSpPr txBox="1"/>
          <p:nvPr/>
        </p:nvSpPr>
        <p:spPr>
          <a:xfrm>
            <a:off x="1405080" y="3808800"/>
            <a:ext cx="581472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slack days, all subsequent late submissions will accrue a 10%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39"/>
          <p:cNvSpPr txBox="1"/>
          <p:nvPr/>
        </p:nvSpPr>
        <p:spPr>
          <a:xfrm>
            <a:off x="1405080" y="4068000"/>
            <a:ext cx="339264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penalty (on top of any other penalties)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39"/>
          <p:cNvSpPr txBox="1"/>
          <p:nvPr/>
        </p:nvSpPr>
        <p:spPr>
          <a:xfrm>
            <a:off x="720720" y="4341240"/>
            <a:ext cx="279000" cy="31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39"/>
          <p:cNvSpPr txBox="1"/>
          <p:nvPr/>
        </p:nvSpPr>
        <p:spPr>
          <a:xfrm>
            <a:off x="947880" y="4327920"/>
            <a:ext cx="684828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Kaggle: Kaggle leaderboards stop showing updates on 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39"/>
          <p:cNvSpPr txBox="1"/>
          <p:nvPr/>
        </p:nvSpPr>
        <p:spPr>
          <a:xfrm>
            <a:off x="947880" y="4729320"/>
            <a:ext cx="2752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full-submission deadline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39"/>
          <p:cNvSpPr txBox="1"/>
          <p:nvPr/>
        </p:nvSpPr>
        <p:spPr>
          <a:xfrm>
            <a:off x="1199520" y="5141520"/>
            <a:ext cx="21564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39"/>
          <p:cNvSpPr txBox="1"/>
          <p:nvPr/>
        </p:nvSpPr>
        <p:spPr>
          <a:xfrm>
            <a:off x="1405080" y="5131440"/>
            <a:ext cx="65916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will continue to accept submissions until you run out of slack days (the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39"/>
          <p:cNvSpPr txBox="1"/>
          <p:nvPr/>
        </p:nvSpPr>
        <p:spPr>
          <a:xfrm>
            <a:off x="1405080" y="5441400"/>
            <a:ext cx="1845720" cy="26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drop-dead deadline) </a:t>
            </a:r>
            <a:endParaRPr b="0" sz="1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39"/>
          <p:cNvSpPr txBox="1"/>
          <p:nvPr/>
        </p:nvSpPr>
        <p:spPr>
          <a:xfrm>
            <a:off x="720720" y="5772600"/>
            <a:ext cx="279000" cy="31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39"/>
          <p:cNvSpPr txBox="1"/>
          <p:nvPr/>
        </p:nvSpPr>
        <p:spPr>
          <a:xfrm>
            <a:off x="947880" y="5774040"/>
            <a:ext cx="694224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Please refer to the course webpage for a complete set of 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39"/>
          <p:cNvSpPr txBox="1"/>
          <p:nvPr/>
        </p:nvSpPr>
        <p:spPr>
          <a:xfrm>
            <a:off x="947874" y="6109200"/>
            <a:ext cx="113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policies</a:t>
            </a:r>
            <a:endParaRPr b="0" sz="2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0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40"/>
          <p:cNvSpPr/>
          <p:nvPr/>
        </p:nvSpPr>
        <p:spPr>
          <a:xfrm>
            <a:off x="1303200" y="435960"/>
            <a:ext cx="6537600" cy="629640"/>
          </a:xfrm>
          <a:custGeom>
            <a:rect b="b" l="l" r="r" t="t"/>
            <a:pathLst>
              <a:path extrusionOk="0" h="1749" w="18160">
                <a:moveTo>
                  <a:pt x="0" y="0"/>
                </a:moveTo>
                <a:lnTo>
                  <a:pt x="18160" y="0"/>
                </a:lnTo>
                <a:lnTo>
                  <a:pt x="18160" y="1749"/>
                </a:lnTo>
                <a:lnTo>
                  <a:pt x="0" y="17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40"/>
          <p:cNvSpPr/>
          <p:nvPr/>
        </p:nvSpPr>
        <p:spPr>
          <a:xfrm>
            <a:off x="651600" y="1235160"/>
            <a:ext cx="7840800" cy="5437080"/>
          </a:xfrm>
          <a:custGeom>
            <a:rect b="b" l="l" r="r" t="t"/>
            <a:pathLst>
              <a:path extrusionOk="0" h="15103" w="21780">
                <a:moveTo>
                  <a:pt x="0" y="0"/>
                </a:moveTo>
                <a:lnTo>
                  <a:pt x="21780" y="0"/>
                </a:lnTo>
                <a:lnTo>
                  <a:pt x="21780" y="15103"/>
                </a:lnTo>
                <a:lnTo>
                  <a:pt x="0" y="151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7" name="Google Shape;957;p40"/>
          <p:cNvSpPr txBox="1"/>
          <p:nvPr/>
        </p:nvSpPr>
        <p:spPr>
          <a:xfrm>
            <a:off x="1633320" y="450000"/>
            <a:ext cx="5905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Common Sense Piazza Posts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8" name="Google Shape;958;p40"/>
          <p:cNvSpPr txBox="1"/>
          <p:nvPr/>
        </p:nvSpPr>
        <p:spPr>
          <a:xfrm>
            <a:off x="795960" y="133776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9" name="Google Shape;959;p40"/>
          <p:cNvSpPr txBox="1"/>
          <p:nvPr/>
        </p:nvSpPr>
        <p:spPr>
          <a:xfrm>
            <a:off x="1094400" y="1323720"/>
            <a:ext cx="69760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Feel free to post on piazza for any clarification or doubts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0" name="Google Shape;960;p40"/>
          <p:cNvSpPr txBox="1"/>
          <p:nvPr/>
        </p:nvSpPr>
        <p:spPr>
          <a:xfrm>
            <a:off x="795960" y="170352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1" name="Google Shape;961;p40"/>
          <p:cNvSpPr txBox="1"/>
          <p:nvPr/>
        </p:nvSpPr>
        <p:spPr>
          <a:xfrm>
            <a:off x="1094400" y="1689480"/>
            <a:ext cx="65574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strive to respond to student queries immediately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40"/>
          <p:cNvSpPr txBox="1"/>
          <p:nvPr/>
        </p:nvSpPr>
        <p:spPr>
          <a:xfrm>
            <a:off x="795960" y="206928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40"/>
          <p:cNvSpPr txBox="1"/>
          <p:nvPr/>
        </p:nvSpPr>
        <p:spPr>
          <a:xfrm>
            <a:off x="1094400" y="2069280"/>
            <a:ext cx="65034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With Regards to Code-Related Questions on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40"/>
          <p:cNvSpPr txBox="1"/>
          <p:nvPr/>
        </p:nvSpPr>
        <p:spPr>
          <a:xfrm>
            <a:off x="1094400" y="2435040"/>
            <a:ext cx="11019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Piazza..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40"/>
          <p:cNvSpPr txBox="1"/>
          <p:nvPr/>
        </p:nvSpPr>
        <p:spPr>
          <a:xfrm>
            <a:off x="1281960" y="279828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6" name="Google Shape;966;p40"/>
          <p:cNvSpPr txBox="1"/>
          <p:nvPr/>
        </p:nvSpPr>
        <p:spPr>
          <a:xfrm>
            <a:off x="1652040" y="2798280"/>
            <a:ext cx="529236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a good title to your question, on the post.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7" name="Google Shape;967;p40"/>
          <p:cNvSpPr txBox="1"/>
          <p:nvPr/>
        </p:nvSpPr>
        <p:spPr>
          <a:xfrm>
            <a:off x="1281960" y="310284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p40"/>
          <p:cNvSpPr txBox="1"/>
          <p:nvPr/>
        </p:nvSpPr>
        <p:spPr>
          <a:xfrm>
            <a:off x="1652040" y="3102840"/>
            <a:ext cx="490932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the problem concisely and clearly.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40"/>
          <p:cNvSpPr txBox="1"/>
          <p:nvPr/>
        </p:nvSpPr>
        <p:spPr>
          <a:xfrm>
            <a:off x="1281960" y="34077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40"/>
          <p:cNvSpPr txBox="1"/>
          <p:nvPr/>
        </p:nvSpPr>
        <p:spPr>
          <a:xfrm>
            <a:off x="1652040" y="3407760"/>
            <a:ext cx="647892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 relevant, short code blocks if necessary...</a:t>
            </a:r>
            <a:r>
              <a:rPr b="0" lang="en-US" sz="20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0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 not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40"/>
          <p:cNvSpPr txBox="1"/>
          <p:nvPr/>
        </p:nvSpPr>
        <p:spPr>
          <a:xfrm>
            <a:off x="1652040" y="3712680"/>
            <a:ext cx="562932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paste entire notebooks or python files, please!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40"/>
          <p:cNvSpPr txBox="1"/>
          <p:nvPr/>
        </p:nvSpPr>
        <p:spPr>
          <a:xfrm>
            <a:off x="1281960" y="401724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40"/>
          <p:cNvSpPr txBox="1"/>
          <p:nvPr/>
        </p:nvSpPr>
        <p:spPr>
          <a:xfrm>
            <a:off x="1652040" y="4017240"/>
            <a:ext cx="36936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your debugging process: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40"/>
          <p:cNvSpPr txBox="1"/>
          <p:nvPr/>
        </p:nvSpPr>
        <p:spPr>
          <a:xfrm>
            <a:off x="1727280" y="43221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40"/>
          <p:cNvSpPr txBox="1"/>
          <p:nvPr/>
        </p:nvSpPr>
        <p:spPr>
          <a:xfrm>
            <a:off x="2109240" y="4322160"/>
            <a:ext cx="418716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you tried, initially (prior to error)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40"/>
          <p:cNvSpPr txBox="1"/>
          <p:nvPr/>
        </p:nvSpPr>
        <p:spPr>
          <a:xfrm>
            <a:off x="1727280" y="462708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7" name="Google Shape;977;p40"/>
          <p:cNvSpPr txBox="1"/>
          <p:nvPr/>
        </p:nvSpPr>
        <p:spPr>
          <a:xfrm>
            <a:off x="2109240" y="4627080"/>
            <a:ext cx="216504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results you got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40"/>
          <p:cNvSpPr txBox="1"/>
          <p:nvPr/>
        </p:nvSpPr>
        <p:spPr>
          <a:xfrm>
            <a:off x="1727280" y="493164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9" name="Google Shape;979;p40"/>
          <p:cNvSpPr txBox="1"/>
          <p:nvPr/>
        </p:nvSpPr>
        <p:spPr>
          <a:xfrm>
            <a:off x="2109240" y="4931640"/>
            <a:ext cx="447084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errors and </a:t>
            </a:r>
            <a:r>
              <a:rPr b="1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expanded stack traces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0" name="Google Shape;980;p40"/>
          <p:cNvSpPr txBox="1"/>
          <p:nvPr/>
        </p:nvSpPr>
        <p:spPr>
          <a:xfrm>
            <a:off x="1727280" y="523656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1" name="Google Shape;981;p40"/>
          <p:cNvSpPr txBox="1"/>
          <p:nvPr/>
        </p:nvSpPr>
        <p:spPr>
          <a:xfrm>
            <a:off x="2109240" y="5236560"/>
            <a:ext cx="506484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you tried, subsequently (after the error)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40"/>
          <p:cNvSpPr txBox="1"/>
          <p:nvPr/>
        </p:nvSpPr>
        <p:spPr>
          <a:xfrm>
            <a:off x="1727280" y="554148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40"/>
          <p:cNvSpPr txBox="1"/>
          <p:nvPr/>
        </p:nvSpPr>
        <p:spPr>
          <a:xfrm>
            <a:off x="2109240" y="5541480"/>
            <a:ext cx="582912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roadblock are you stuck at now / what do you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40"/>
          <p:cNvSpPr txBox="1"/>
          <p:nvPr/>
        </p:nvSpPr>
        <p:spPr>
          <a:xfrm>
            <a:off x="2109240" y="5846040"/>
            <a:ext cx="294408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help understanding?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1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41"/>
          <p:cNvSpPr/>
          <p:nvPr/>
        </p:nvSpPr>
        <p:spPr>
          <a:xfrm>
            <a:off x="680040" y="413280"/>
            <a:ext cx="7783920" cy="629280"/>
          </a:xfrm>
          <a:custGeom>
            <a:rect b="b" l="l" r="r" t="t"/>
            <a:pathLst>
              <a:path extrusionOk="0" h="1748" w="21622">
                <a:moveTo>
                  <a:pt x="0" y="0"/>
                </a:moveTo>
                <a:lnTo>
                  <a:pt x="21622" y="0"/>
                </a:lnTo>
                <a:lnTo>
                  <a:pt x="21622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41"/>
          <p:cNvSpPr/>
          <p:nvPr/>
        </p:nvSpPr>
        <p:spPr>
          <a:xfrm>
            <a:off x="680040" y="1501200"/>
            <a:ext cx="7379280" cy="4030560"/>
          </a:xfrm>
          <a:custGeom>
            <a:rect b="b" l="l" r="r" t="t"/>
            <a:pathLst>
              <a:path extrusionOk="0" h="11196" w="20498">
                <a:moveTo>
                  <a:pt x="0" y="0"/>
                </a:moveTo>
                <a:lnTo>
                  <a:pt x="20498" y="0"/>
                </a:lnTo>
                <a:lnTo>
                  <a:pt x="20498" y="11196"/>
                </a:lnTo>
                <a:lnTo>
                  <a:pt x="0" y="1119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41"/>
          <p:cNvSpPr txBox="1"/>
          <p:nvPr/>
        </p:nvSpPr>
        <p:spPr>
          <a:xfrm>
            <a:off x="1180800" y="426960"/>
            <a:ext cx="681804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Personal and Academic Integrity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41"/>
          <p:cNvSpPr txBox="1"/>
          <p:nvPr/>
        </p:nvSpPr>
        <p:spPr>
          <a:xfrm>
            <a:off x="687960" y="154692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41"/>
          <p:cNvSpPr txBox="1"/>
          <p:nvPr/>
        </p:nvSpPr>
        <p:spPr>
          <a:xfrm>
            <a:off x="1040400" y="1532520"/>
            <a:ext cx="67096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are here to learn DL yourself, not to demonstrate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41"/>
          <p:cNvSpPr txBox="1"/>
          <p:nvPr/>
        </p:nvSpPr>
        <p:spPr>
          <a:xfrm>
            <a:off x="1040400" y="1898280"/>
            <a:ext cx="42451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well you can pretend to learn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41"/>
          <p:cNvSpPr txBox="1"/>
          <p:nvPr/>
        </p:nvSpPr>
        <p:spPr>
          <a:xfrm>
            <a:off x="687960" y="2587680"/>
            <a:ext cx="30456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41"/>
          <p:cNvSpPr txBox="1"/>
          <p:nvPr/>
        </p:nvSpPr>
        <p:spPr>
          <a:xfrm>
            <a:off x="1040400" y="2573280"/>
            <a:ext cx="633852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are at CMU – which means you are among the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41"/>
          <p:cNvSpPr txBox="1"/>
          <p:nvPr/>
        </p:nvSpPr>
        <p:spPr>
          <a:xfrm>
            <a:off x="1040400" y="2939040"/>
            <a:ext cx="49528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brightest and best students in the </a:t>
            </a:r>
            <a:r>
              <a:rPr b="0" i="1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world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41"/>
          <p:cNvSpPr txBox="1"/>
          <p:nvPr/>
        </p:nvSpPr>
        <p:spPr>
          <a:xfrm>
            <a:off x="1130400" y="338904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41"/>
          <p:cNvSpPr txBox="1"/>
          <p:nvPr/>
        </p:nvSpPr>
        <p:spPr>
          <a:xfrm>
            <a:off x="1491120" y="3353400"/>
            <a:ext cx="614124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probably were among the top students in your peer 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1" name="Google Shape;1001;p41"/>
          <p:cNvSpPr txBox="1"/>
          <p:nvPr/>
        </p:nvSpPr>
        <p:spPr>
          <a:xfrm>
            <a:off x="1491120" y="3673440"/>
            <a:ext cx="441648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all your life, before you came here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2" name="Google Shape;1002;p41"/>
          <p:cNvSpPr txBox="1"/>
          <p:nvPr/>
        </p:nvSpPr>
        <p:spPr>
          <a:xfrm>
            <a:off x="1129680" y="4080960"/>
            <a:ext cx="240840" cy="2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9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3" name="Google Shape;1003;p41"/>
          <p:cNvSpPr txBox="1"/>
          <p:nvPr/>
        </p:nvSpPr>
        <p:spPr>
          <a:xfrm>
            <a:off x="1490400" y="4045320"/>
            <a:ext cx="5697720" cy="3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will be an insult to yourself, to lower your integrity</a:t>
            </a:r>
            <a:endParaRPr b="0" sz="2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41"/>
          <p:cNvSpPr txBox="1"/>
          <p:nvPr/>
        </p:nvSpPr>
        <p:spPr>
          <a:xfrm>
            <a:off x="674640" y="4678560"/>
            <a:ext cx="342720" cy="3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41"/>
          <p:cNvSpPr txBox="1"/>
          <p:nvPr/>
        </p:nvSpPr>
        <p:spPr>
          <a:xfrm>
            <a:off x="1040400" y="4662720"/>
            <a:ext cx="67712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Try your best, honestly. </a:t>
            </a: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are unsure about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6" name="Google Shape;1006;p41"/>
          <p:cNvSpPr txBox="1"/>
          <p:nvPr/>
        </p:nvSpPr>
        <p:spPr>
          <a:xfrm>
            <a:off x="1040400" y="5074200"/>
            <a:ext cx="37364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something, reach out to us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2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2" name="Google Shape;1012;p42"/>
          <p:cNvSpPr/>
          <p:nvPr/>
        </p:nvSpPr>
        <p:spPr>
          <a:xfrm>
            <a:off x="1421280" y="435960"/>
            <a:ext cx="6301440" cy="629640"/>
          </a:xfrm>
          <a:custGeom>
            <a:rect b="b" l="l" r="r" t="t"/>
            <a:pathLst>
              <a:path extrusionOk="0" h="1749" w="17504">
                <a:moveTo>
                  <a:pt x="0" y="0"/>
                </a:moveTo>
                <a:lnTo>
                  <a:pt x="17504" y="0"/>
                </a:lnTo>
                <a:lnTo>
                  <a:pt x="17504" y="1749"/>
                </a:lnTo>
                <a:lnTo>
                  <a:pt x="0" y="17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42"/>
          <p:cNvSpPr/>
          <p:nvPr/>
        </p:nvSpPr>
        <p:spPr>
          <a:xfrm>
            <a:off x="649800" y="1383120"/>
            <a:ext cx="7629120" cy="3387960"/>
          </a:xfrm>
          <a:custGeom>
            <a:rect b="b" l="l" r="r" t="t"/>
            <a:pathLst>
              <a:path extrusionOk="0" h="9411" w="21192">
                <a:moveTo>
                  <a:pt x="0" y="0"/>
                </a:moveTo>
                <a:lnTo>
                  <a:pt x="21192" y="0"/>
                </a:lnTo>
                <a:lnTo>
                  <a:pt x="21192" y="9411"/>
                </a:lnTo>
                <a:lnTo>
                  <a:pt x="0" y="941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4" name="Google Shape;1014;p42"/>
          <p:cNvSpPr txBox="1"/>
          <p:nvPr/>
        </p:nvSpPr>
        <p:spPr>
          <a:xfrm>
            <a:off x="1753200" y="450000"/>
            <a:ext cx="566568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Integrity and Study Groups</a:t>
            </a:r>
            <a:endParaRPr b="0" sz="4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42"/>
          <p:cNvSpPr txBox="1"/>
          <p:nvPr/>
        </p:nvSpPr>
        <p:spPr>
          <a:xfrm>
            <a:off x="675360" y="149364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" name="Google Shape;1016;p42"/>
          <p:cNvSpPr txBox="1"/>
          <p:nvPr/>
        </p:nvSpPr>
        <p:spPr>
          <a:xfrm>
            <a:off x="1006920" y="1433520"/>
            <a:ext cx="65818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student must solve their quizzes by themselves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42"/>
          <p:cNvSpPr txBox="1"/>
          <p:nvPr/>
        </p:nvSpPr>
        <p:spPr>
          <a:xfrm>
            <a:off x="1107000" y="18730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42"/>
          <p:cNvSpPr txBox="1"/>
          <p:nvPr/>
        </p:nvSpPr>
        <p:spPr>
          <a:xfrm>
            <a:off x="1460880" y="1838160"/>
            <a:ext cx="64623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may discuss the questions with your study groups/friends,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42"/>
          <p:cNvSpPr txBox="1"/>
          <p:nvPr/>
        </p:nvSpPr>
        <p:spPr>
          <a:xfrm>
            <a:off x="1461600" y="2143440"/>
            <a:ext cx="62917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when you solve the quiz</a:t>
            </a:r>
            <a:r>
              <a:rPr b="1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isolate yourself and do it alone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42"/>
          <p:cNvSpPr txBox="1"/>
          <p:nvPr/>
        </p:nvSpPr>
        <p:spPr>
          <a:xfrm>
            <a:off x="675360" y="280512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42"/>
          <p:cNvSpPr txBox="1"/>
          <p:nvPr/>
        </p:nvSpPr>
        <p:spPr>
          <a:xfrm>
            <a:off x="1010160" y="2744640"/>
            <a:ext cx="71146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student must solve every homework by themselves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42"/>
          <p:cNvSpPr txBox="1"/>
          <p:nvPr/>
        </p:nvSpPr>
        <p:spPr>
          <a:xfrm>
            <a:off x="1106280" y="319644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42"/>
          <p:cNvSpPr txBox="1"/>
          <p:nvPr/>
        </p:nvSpPr>
        <p:spPr>
          <a:xfrm>
            <a:off x="1460160" y="3161520"/>
            <a:ext cx="630864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may discuss the homeworks with your friends, and even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42"/>
          <p:cNvSpPr txBox="1"/>
          <p:nvPr/>
        </p:nvSpPr>
        <p:spPr>
          <a:xfrm>
            <a:off x="1460160" y="3466080"/>
            <a:ext cx="66456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help them debug their code, but when you finally solve it, every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5" name="Google Shape;1025;p42"/>
          <p:cNvSpPr txBox="1"/>
          <p:nvPr/>
        </p:nvSpPr>
        <p:spPr>
          <a:xfrm>
            <a:off x="1564200" y="3771000"/>
            <a:ext cx="62388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 of your code (except libraries that have been okayed by 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42"/>
          <p:cNvSpPr txBox="1"/>
          <p:nvPr/>
        </p:nvSpPr>
        <p:spPr>
          <a:xfrm>
            <a:off x="1460160" y="4075920"/>
            <a:ext cx="373392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 staff) must be written by you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42"/>
          <p:cNvSpPr txBox="1"/>
          <p:nvPr/>
        </p:nvSpPr>
        <p:spPr>
          <a:xfrm>
            <a:off x="1107000" y="44650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42"/>
          <p:cNvSpPr/>
          <p:nvPr/>
        </p:nvSpPr>
        <p:spPr>
          <a:xfrm>
            <a:off x="649800" y="4947120"/>
            <a:ext cx="8293320" cy="1199520"/>
          </a:xfrm>
          <a:custGeom>
            <a:rect b="b" l="l" r="r" t="t"/>
            <a:pathLst>
              <a:path extrusionOk="0" h="3332" w="23037">
                <a:moveTo>
                  <a:pt x="0" y="0"/>
                </a:moveTo>
                <a:lnTo>
                  <a:pt x="23037" y="0"/>
                </a:lnTo>
                <a:lnTo>
                  <a:pt x="23037" y="3332"/>
                </a:lnTo>
                <a:lnTo>
                  <a:pt x="0" y="333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42"/>
          <p:cNvSpPr txBox="1"/>
          <p:nvPr/>
        </p:nvSpPr>
        <p:spPr>
          <a:xfrm>
            <a:off x="1464120" y="4430160"/>
            <a:ext cx="290088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solution must be yours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42"/>
          <p:cNvSpPr txBox="1"/>
          <p:nvPr/>
        </p:nvSpPr>
        <p:spPr>
          <a:xfrm>
            <a:off x="674640" y="5019480"/>
            <a:ext cx="253800" cy="283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42"/>
          <p:cNvSpPr txBox="1"/>
          <p:nvPr/>
        </p:nvSpPr>
        <p:spPr>
          <a:xfrm>
            <a:off x="1006920" y="4959000"/>
            <a:ext cx="761400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Plagiarizing code from the web or your friends constitutes an 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42"/>
          <p:cNvSpPr txBox="1"/>
          <p:nvPr/>
        </p:nvSpPr>
        <p:spPr>
          <a:xfrm>
            <a:off x="1006920" y="5354640"/>
            <a:ext cx="343224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academic integrity violation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p42"/>
          <p:cNvSpPr txBox="1"/>
          <p:nvPr/>
        </p:nvSpPr>
        <p:spPr>
          <a:xfrm>
            <a:off x="1119960" y="5863680"/>
            <a:ext cx="2282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42"/>
          <p:cNvSpPr txBox="1"/>
          <p:nvPr/>
        </p:nvSpPr>
        <p:spPr>
          <a:xfrm>
            <a:off x="1564200" y="5828760"/>
            <a:ext cx="661356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Submitting any solutions not obtained by you constitutes an AIV</a:t>
            </a:r>
            <a:endParaRPr b="0" sz="20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19050" w="25400">
                <a:moveTo>
                  <a:pt x="0" y="0"/>
                </a:moveTo>
                <a:lnTo>
                  <a:pt x="25400" y="0"/>
                </a:lnTo>
                <a:lnTo>
                  <a:pt x="25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0" name="Google Shape;1040;p43"/>
          <p:cNvSpPr/>
          <p:nvPr/>
        </p:nvSpPr>
        <p:spPr>
          <a:xfrm>
            <a:off x="1730160" y="2103840"/>
            <a:ext cx="5683680" cy="844200"/>
          </a:xfrm>
          <a:custGeom>
            <a:rect b="b" l="l" r="r" t="t"/>
            <a:pathLst>
              <a:path extrusionOk="0" h="2345" w="15788">
                <a:moveTo>
                  <a:pt x="0" y="0"/>
                </a:moveTo>
                <a:lnTo>
                  <a:pt x="15788" y="0"/>
                </a:lnTo>
                <a:lnTo>
                  <a:pt x="15788" y="2345"/>
                </a:lnTo>
                <a:lnTo>
                  <a:pt x="0" y="23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1" name="Google Shape;1041;p43"/>
          <p:cNvSpPr txBox="1"/>
          <p:nvPr/>
        </p:nvSpPr>
        <p:spPr>
          <a:xfrm>
            <a:off x="2124000" y="2116080"/>
            <a:ext cx="501228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Thank you for deciding to take this 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43"/>
          <p:cNvSpPr/>
          <p:nvPr/>
        </p:nvSpPr>
        <p:spPr>
          <a:xfrm>
            <a:off x="3105360" y="3726360"/>
            <a:ext cx="2933280" cy="382680"/>
          </a:xfrm>
          <a:custGeom>
            <a:rect b="b" l="l" r="r" t="t"/>
            <a:pathLst>
              <a:path extrusionOk="0" h="1063" w="8148">
                <a:moveTo>
                  <a:pt x="0" y="0"/>
                </a:moveTo>
                <a:lnTo>
                  <a:pt x="8148" y="0"/>
                </a:lnTo>
                <a:lnTo>
                  <a:pt x="8148" y="1063"/>
                </a:lnTo>
                <a:lnTo>
                  <a:pt x="0" y="10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43"/>
          <p:cNvSpPr txBox="1"/>
          <p:nvPr/>
        </p:nvSpPr>
        <p:spPr>
          <a:xfrm>
            <a:off x="2225160" y="2527560"/>
            <a:ext cx="4710240" cy="41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journey of Deep Learning with us</a:t>
            </a:r>
            <a:endParaRPr b="0" sz="27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43"/>
          <p:cNvSpPr txBox="1"/>
          <p:nvPr/>
        </p:nvSpPr>
        <p:spPr>
          <a:xfrm>
            <a:off x="3118320" y="3738600"/>
            <a:ext cx="2908080" cy="37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0400CC"/>
                </a:solidFill>
                <a:latin typeface="Calibri"/>
                <a:ea typeface="Calibri"/>
                <a:cs typeface="Calibri"/>
                <a:sym typeface="Calibri"/>
              </a:rPr>
              <a:t>- Prof. Bhiksha and TAs</a:t>
            </a:r>
            <a:endParaRPr b="0" sz="2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