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6" r:id="rId7"/>
    <p:sldId id="284" r:id="rId8"/>
    <p:sldId id="285" r:id="rId9"/>
    <p:sldId id="298" r:id="rId10"/>
    <p:sldId id="280" r:id="rId11"/>
    <p:sldId id="281" r:id="rId12"/>
    <p:sldId id="292" r:id="rId13"/>
    <p:sldId id="293" r:id="rId14"/>
    <p:sldId id="290" r:id="rId15"/>
    <p:sldId id="291" r:id="rId16"/>
    <p:sldId id="282" r:id="rId17"/>
    <p:sldId id="289" r:id="rId18"/>
    <p:sldId id="283" r:id="rId19"/>
    <p:sldId id="287" r:id="rId20"/>
    <p:sldId id="278" r:id="rId21"/>
    <p:sldId id="286" r:id="rId22"/>
    <p:sldId id="279" r:id="rId23"/>
    <p:sldId id="274" r:id="rId24"/>
    <p:sldId id="297" r:id="rId25"/>
    <p:sldId id="295" r:id="rId26"/>
  </p:sldIdLst>
  <p:sldSz cx="9144000" cy="5715000" type="screen16x10"/>
  <p:notesSz cx="6858000" cy="9144000"/>
  <p:embeddedFontLst>
    <p:embeddedFont>
      <p:font typeface="Open Sans" panose="020B0606030504020204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pos="180" userDrawn="1">
          <p15:clr>
            <a:srgbClr val="747775"/>
          </p15:clr>
        </p15:guide>
        <p15:guide id="2" pos="5616" userDrawn="1">
          <p15:clr>
            <a:srgbClr val="747775"/>
          </p15:clr>
        </p15:guide>
        <p15:guide id="3" orient="horz" pos="432" userDrawn="1">
          <p15:clr>
            <a:srgbClr val="747775"/>
          </p15:clr>
        </p15:guide>
        <p15:guide id="4" orient="horz" pos="3168" userDrawn="1">
          <p15:clr>
            <a:srgbClr val="747775"/>
          </p15:clr>
        </p15:guide>
        <p15:guide id="5" orient="horz" pos="68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32"/>
    <p:restoredTop sz="94646"/>
  </p:normalViewPr>
  <p:slideViewPr>
    <p:cSldViewPr snapToGrid="0" showGuides="1">
      <p:cViewPr varScale="1">
        <p:scale>
          <a:sx n="130" d="100"/>
          <a:sy n="130" d="100"/>
        </p:scale>
        <p:origin x="1048" y="184"/>
      </p:cViewPr>
      <p:guideLst>
        <p:guide pos="180"/>
        <p:guide pos="5616"/>
        <p:guide orient="horz" pos="432"/>
        <p:guide orient="horz" pos="3168"/>
        <p:guide orient="horz" pos="6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1.fntdata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686098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244c5c05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b244c5c05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61db03692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61db03692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61db03692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61db03692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90838fa7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90838fa7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827306"/>
            <a:ext cx="8520600" cy="22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149028"/>
            <a:ext cx="8520600" cy="8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804528"/>
            <a:ext cx="3837000" cy="410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29028"/>
            <a:ext cx="8520600" cy="21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3.xml"/><Relationship Id="rId4" Type="http://schemas.openxmlformats.org/officeDocument/2006/relationships/hyperlink" Target="http://flaticon.com" TargetMode="Externa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://flaticon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marketplace.visualstudio.com/items?itemName=ms-vscode-remote.remote-ssh" TargetMode="External"/><Relationship Id="rId1" Type="http://schemas.openxmlformats.org/officeDocument/2006/relationships/hyperlink" Target="https://code.visualstudio.com/docs/remote/ssh-tutorial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13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grpSp>
        <p:nvGrpSpPr>
          <p:cNvPr id="4" name="Group 3"/>
          <p:cNvGrpSpPr/>
          <p:nvPr/>
        </p:nvGrpSpPr>
        <p:grpSpPr>
          <a:xfrm>
            <a:off x="444910" y="972595"/>
            <a:ext cx="4343325" cy="739200"/>
            <a:chOff x="228600" y="1088825"/>
            <a:chExt cx="4343325" cy="739200"/>
          </a:xfrm>
        </p:grpSpPr>
        <p:sp>
          <p:nvSpPr>
            <p:cNvPr id="56" name="Google Shape;56;p13"/>
            <p:cNvSpPr/>
            <p:nvPr/>
          </p:nvSpPr>
          <p:spPr>
            <a:xfrm>
              <a:off x="758325" y="1088825"/>
              <a:ext cx="3813600" cy="739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dirty="0">
                  <a:solidFill>
                    <a:schemeClr val="dk1"/>
                  </a:solidFill>
                </a:rPr>
                <a:t>   What is PSC? </a:t>
              </a: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228600" y="1181238"/>
              <a:ext cx="673200" cy="554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1</a:t>
              </a:r>
              <a:endParaRPr lang="en-GB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44910" y="2008864"/>
            <a:ext cx="4343325" cy="739200"/>
            <a:chOff x="228600" y="2202764"/>
            <a:chExt cx="4343325" cy="739200"/>
          </a:xfrm>
        </p:grpSpPr>
        <p:sp>
          <p:nvSpPr>
            <p:cNvPr id="58" name="Google Shape;58;p13"/>
            <p:cNvSpPr/>
            <p:nvPr/>
          </p:nvSpPr>
          <p:spPr>
            <a:xfrm>
              <a:off x="758325" y="2202764"/>
              <a:ext cx="3813600" cy="739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</a:rPr>
                <a:t>   How to connect via terminal</a:t>
              </a: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228600" y="2295187"/>
              <a:ext cx="673200" cy="554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/>
                <a:t>2</a:t>
              </a:r>
              <a:endParaRPr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44910" y="3045133"/>
            <a:ext cx="4343325" cy="739200"/>
            <a:chOff x="228600" y="3316704"/>
            <a:chExt cx="4343325" cy="739200"/>
          </a:xfrm>
        </p:grpSpPr>
        <p:sp>
          <p:nvSpPr>
            <p:cNvPr id="60" name="Google Shape;60;p13"/>
            <p:cNvSpPr/>
            <p:nvPr/>
          </p:nvSpPr>
          <p:spPr>
            <a:xfrm>
              <a:off x="758325" y="3316704"/>
              <a:ext cx="3813600" cy="739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GB" dirty="0">
                  <a:solidFill>
                    <a:schemeClr val="dk1"/>
                  </a:solidFill>
                </a:rPr>
                <a:t>   How to connect via </a:t>
              </a:r>
              <a:r>
                <a:rPr lang="en-GB" dirty="0" err="1">
                  <a:solidFill>
                    <a:schemeClr val="dk1"/>
                  </a:solidFill>
                </a:rPr>
                <a:t>VSCode</a:t>
              </a: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28600" y="3409137"/>
              <a:ext cx="673200" cy="554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3</a:t>
              </a:r>
              <a:endParaRPr lang="en-GB"/>
            </a:p>
          </p:txBody>
        </p:sp>
      </p:grpSp>
      <p:sp>
        <p:nvSpPr>
          <p:cNvPr id="62" name="Google Shape;62;p13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</a:rPr>
              <a:t>Recitation 12: Pittsburgh Supercomputing Cluster</a:t>
            </a: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412150" y="972595"/>
            <a:ext cx="2830051" cy="10004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412150" y="2296486"/>
            <a:ext cx="2830050" cy="1061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412150" y="3681176"/>
            <a:ext cx="2830050" cy="106126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9" name="Group 8"/>
          <p:cNvGrpSpPr/>
          <p:nvPr/>
        </p:nvGrpSpPr>
        <p:grpSpPr>
          <a:xfrm>
            <a:off x="444910" y="4081403"/>
            <a:ext cx="4343325" cy="739200"/>
            <a:chOff x="228600" y="4197633"/>
            <a:chExt cx="4343325" cy="739200"/>
          </a:xfrm>
        </p:grpSpPr>
        <p:sp>
          <p:nvSpPr>
            <p:cNvPr id="2" name="Google Shape;60;p13"/>
            <p:cNvSpPr/>
            <p:nvPr/>
          </p:nvSpPr>
          <p:spPr>
            <a:xfrm>
              <a:off x="758325" y="4197633"/>
              <a:ext cx="3813600" cy="739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solidFill>
                    <a:schemeClr val="dk1"/>
                  </a:solidFill>
                </a:rPr>
                <a:t>   PSC tips</a:t>
              </a: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3" name="Google Shape;61;p13"/>
            <p:cNvSpPr/>
            <p:nvPr/>
          </p:nvSpPr>
          <p:spPr>
            <a:xfrm>
              <a:off x="228600" y="4290066"/>
              <a:ext cx="673200" cy="554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/>
                <a:t>4</a:t>
              </a:r>
              <a:endParaRPr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/>
        </p:nvSpPr>
        <p:spPr>
          <a:xfrm>
            <a:off x="6172200" y="1607312"/>
            <a:ext cx="2743200" cy="16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Empowering the next gen of research</a:t>
            </a: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Provides grants and resources</a:t>
            </a: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From a few hundred to few thousand GPU hours of grants available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78" name="Google Shape;78;p14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Pittsburgh Supercomputing Cluster: No more GPU-shy!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79" name="Google Shape;79;p14"/>
          <p:cNvGrpSpPr/>
          <p:nvPr/>
        </p:nvGrpSpPr>
        <p:grpSpPr>
          <a:xfrm>
            <a:off x="228600" y="1088820"/>
            <a:ext cx="2743200" cy="475500"/>
            <a:chOff x="228600" y="1300275"/>
            <a:chExt cx="2743200" cy="475500"/>
          </a:xfrm>
        </p:grpSpPr>
        <p:sp>
          <p:nvSpPr>
            <p:cNvPr id="80" name="Google Shape;80;p14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A bit of trivia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82" name="Google Shape;82;p14"/>
          <p:cNvGrpSpPr/>
          <p:nvPr/>
        </p:nvGrpSpPr>
        <p:grpSpPr>
          <a:xfrm>
            <a:off x="3200400" y="1088820"/>
            <a:ext cx="2743200" cy="475500"/>
            <a:chOff x="228600" y="1300275"/>
            <a:chExt cx="2743200" cy="475500"/>
          </a:xfrm>
        </p:grpSpPr>
        <p:sp>
          <p:nvSpPr>
            <p:cNvPr id="83" name="Google Shape;83;p14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It’s a computational research center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85" name="Google Shape;85;p14"/>
          <p:cNvSpPr txBox="1"/>
          <p:nvPr/>
        </p:nvSpPr>
        <p:spPr>
          <a:xfrm>
            <a:off x="228600" y="1607312"/>
            <a:ext cx="2743200" cy="16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Founded in 1986</a:t>
            </a: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Joint venture between CMU &amp; UPitt</a:t>
            </a: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Supported by many such as NSF, federal agencies and industry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86" name="Google Shape;86;p14"/>
          <p:cNvGrpSpPr/>
          <p:nvPr/>
        </p:nvGrpSpPr>
        <p:grpSpPr>
          <a:xfrm>
            <a:off x="6172200" y="1088820"/>
            <a:ext cx="2743200" cy="475500"/>
            <a:chOff x="228600" y="1300275"/>
            <a:chExt cx="2743200" cy="475500"/>
          </a:xfrm>
        </p:grpSpPr>
        <p:sp>
          <p:nvSpPr>
            <p:cNvPr id="87" name="Google Shape;87;p14"/>
            <p:cNvSpPr txBox="1"/>
            <p:nvPr/>
          </p:nvSpPr>
          <p:spPr>
            <a:xfrm>
              <a:off x="228600" y="1300275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How can it help you: Grants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228600" y="1757475"/>
              <a:ext cx="2743200" cy="18300"/>
            </a:xfrm>
            <a:prstGeom prst="rect">
              <a:avLst/>
            </a:prstGeom>
            <a:solidFill>
              <a:srgbClr val="A8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89" name="Google Shape;89;p14"/>
          <p:cNvSpPr txBox="1"/>
          <p:nvPr/>
        </p:nvSpPr>
        <p:spPr>
          <a:xfrm>
            <a:off x="3200400" y="1607312"/>
            <a:ext cx="2743200" cy="16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Simply put, it’s a HUGE computer!</a:t>
            </a: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Train large-scale research projects</a:t>
            </a: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Multiple GPUs and large storage; </a:t>
            </a:r>
            <a:br>
              <a:rPr lang="en-GB" sz="1200">
                <a:solidFill>
                  <a:schemeClr val="dk1"/>
                </a:solidFill>
              </a:rPr>
            </a:br>
            <a:r>
              <a:rPr lang="en-GB" sz="1200">
                <a:solidFill>
                  <a:schemeClr val="dk1"/>
                </a:solidFill>
              </a:rPr>
              <a:t>undertake large projects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0" name="Google Shape;90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958150" y="3457925"/>
            <a:ext cx="1227700" cy="12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929950" y="3457928"/>
            <a:ext cx="1227700" cy="12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86350" y="3457928"/>
            <a:ext cx="1227700" cy="1227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94" name="Google Shape;94;p14"/>
          <p:cNvSpPr txBox="1"/>
          <p:nvPr/>
        </p:nvSpPr>
        <p:spPr>
          <a:xfrm>
            <a:off x="-54726" y="5550814"/>
            <a:ext cx="38934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Icons from </a:t>
            </a:r>
            <a:r>
              <a:rPr lang="en-GB" sz="800" u="sng">
                <a:solidFill>
                  <a:schemeClr val="hlink"/>
                </a:solidFill>
                <a:hlinkClick r:id="rId4"/>
              </a:rPr>
              <a:t>flaticon.com</a:t>
            </a:r>
            <a:endParaRPr sz="800">
              <a:solidFill>
                <a:schemeClr val="dk2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b="1" dirty="0">
                  <a:solidFill>
                    <a:schemeClr val="lt1"/>
                  </a:solidFill>
                </a:rPr>
                <a:t>What is PSC? </a:t>
              </a:r>
              <a:endParaRPr sz="800" b="1" dirty="0">
                <a:solidFill>
                  <a:schemeClr val="lt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dk1"/>
                  </a:solidFill>
                </a:rPr>
                <a:t>How to connect via terminal</a:t>
              </a:r>
              <a:endParaRPr sz="800" dirty="0">
                <a:solidFill>
                  <a:schemeClr val="dk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dk1"/>
                  </a:solidFill>
                </a:rPr>
                <a:t>How to connect via </a:t>
              </a:r>
              <a:r>
                <a:rPr lang="en-GB" sz="800" dirty="0" err="1">
                  <a:solidFill>
                    <a:schemeClr val="dk1"/>
                  </a:solidFill>
                </a:rPr>
                <a:t>VSCode</a:t>
              </a:r>
              <a:endParaRPr sz="800" dirty="0">
                <a:solidFill>
                  <a:schemeClr val="dk1"/>
                </a:solidFill>
              </a:endParaRPr>
            </a:p>
          </p:txBody>
        </p:sp>
        <p:sp>
          <p:nvSpPr>
            <p:cNvPr id="3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244c5c05e_0_0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8" name="Google Shape;108;g3b244c5c05e_0_0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 panose="020B0604020202090204"/>
              <a:buNone/>
            </a:pPr>
            <a:r>
              <a:rPr lang="en-GB" sz="600" b="1" i="0" u="none" strike="noStrike" cap="none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 b="0" i="0" u="none" strike="noStrike" cap="none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 b="0" i="0" u="none" strike="noStrike" cap="none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 i="0" u="none" strike="noStrike" cap="none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 i="0" u="none" strike="noStrike" cap="none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 i="0" u="none" strike="noStrike" cap="none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9" name="Google Shape;109;g3b244c5c05e_0_0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r>
              <a:rPr lang="en-GB" sz="1800">
                <a:solidFill>
                  <a:schemeClr val="dk1"/>
                </a:solidFill>
              </a:rPr>
              <a:t>PSC User Policy</a:t>
            </a:r>
            <a:endParaRPr sz="18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0" name="Google Shape;110;g3b244c5c05e_0_0"/>
          <p:cNvSpPr txBox="1"/>
          <p:nvPr/>
        </p:nvSpPr>
        <p:spPr>
          <a:xfrm>
            <a:off x="228600" y="1303700"/>
            <a:ext cx="8628300" cy="3488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sz="1800" dirty="0">
                <a:solidFill>
                  <a:schemeClr val="dk1"/>
                </a:solidFill>
              </a:rPr>
              <a:t>Please only use </a:t>
            </a:r>
            <a:r>
              <a:rPr lang="en-GB" sz="1800" b="1" dirty="0">
                <a:solidFill>
                  <a:schemeClr val="dk1"/>
                </a:solidFill>
              </a:rPr>
              <a:t>V-100</a:t>
            </a:r>
            <a:r>
              <a:rPr lang="en-GB" sz="1800" dirty="0">
                <a:solidFill>
                  <a:schemeClr val="dk1"/>
                </a:solidFill>
              </a:rPr>
              <a:t> GPUs.</a:t>
            </a:r>
            <a:endParaRPr lang="en-GB" sz="1800" dirty="0">
              <a:solidFill>
                <a:schemeClr val="dk1"/>
              </a:solidFill>
            </a:endParaRPr>
          </a:p>
          <a:p>
            <a:pPr marL="457200" indent="-34290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90204"/>
              <a:buAutoNum type="arabicPeriod"/>
            </a:pPr>
            <a:r>
              <a:rPr lang="en-US" sz="1800" dirty="0">
                <a:solidFill>
                  <a:schemeClr val="dk1"/>
                </a:solidFill>
              </a:rPr>
              <a:t>Do not download datasets or install environments locally — use shared resources.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sz="1800" dirty="0">
                <a:solidFill>
                  <a:schemeClr val="dk1"/>
                </a:solidFill>
              </a:rPr>
              <a:t>For your </a:t>
            </a:r>
            <a:r>
              <a:rPr lang="en-GB" sz="1800" b="1" dirty="0">
                <a:solidFill>
                  <a:schemeClr val="dk1"/>
                </a:solidFill>
              </a:rPr>
              <a:t>homework</a:t>
            </a:r>
            <a:r>
              <a:rPr lang="en-GB" sz="1800" dirty="0">
                <a:solidFill>
                  <a:schemeClr val="dk1"/>
                </a:solidFill>
              </a:rPr>
              <a:t>, always work under </a:t>
            </a:r>
            <a:r>
              <a:rPr lang="en-GB" sz="1800" b="1" dirty="0">
                <a:solidFill>
                  <a:schemeClr val="dk1"/>
                </a:solidFill>
              </a:rPr>
              <a:t>/jet/home/username</a:t>
            </a:r>
            <a:r>
              <a:rPr lang="en-GB" sz="1800" dirty="0">
                <a:solidFill>
                  <a:schemeClr val="dk1"/>
                </a:solidFill>
              </a:rPr>
              <a:t> directory which has 25 GB of storage.</a:t>
            </a:r>
            <a:endParaRPr lang="en-GB" sz="1800" dirty="0">
              <a:solidFill>
                <a:schemeClr val="dk1"/>
              </a:solidFill>
            </a:endParaRPr>
          </a:p>
          <a:p>
            <a:pPr marL="114300" lvl="0">
              <a:lnSpc>
                <a:spcPct val="150000"/>
              </a:lnSpc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</a:rPr>
              <a:t>     For your project, the directory will be: /ocean/projects/&lt;project id&gt;/&lt;username&gt;, which we will introduce in the next recitation</a:t>
            </a:r>
            <a:r>
              <a:rPr lang="en-US" sz="1800" dirty="0">
                <a:solidFill>
                  <a:schemeClr val="dk1"/>
                </a:solidFill>
                <a:sym typeface="Wingdings" panose="05000000000000000000" pitchFamily="2" charset="2"/>
              </a:rPr>
              <a:t>:)</a:t>
            </a:r>
            <a:endParaRPr lang="en-GB" sz="1800" dirty="0">
              <a:solidFill>
                <a:schemeClr val="dk1"/>
              </a:solidFill>
            </a:endParaRPr>
          </a:p>
          <a:p>
            <a:pPr marL="1143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GB" sz="1800" dirty="0">
                <a:solidFill>
                  <a:schemeClr val="dk1"/>
                </a:solidFill>
              </a:rPr>
              <a:t>	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800" dirty="0">
                <a:solidFill>
                  <a:schemeClr val="dk1"/>
                </a:solidFill>
              </a:rPr>
              <a:t> 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111" name="Google Shape;111;g3b244c5c05e_0_0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2" name="Google Shape;112;g3b244c5c05e_0_0"/>
          <p:cNvSpPr txBox="1"/>
          <p:nvPr/>
        </p:nvSpPr>
        <p:spPr>
          <a:xfrm>
            <a:off x="-54726" y="5550814"/>
            <a:ext cx="38934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90204"/>
              <a:buNone/>
            </a:pPr>
            <a:r>
              <a:rPr lang="en-GB" sz="8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Icons from </a:t>
            </a:r>
            <a:r>
              <a:rPr lang="en-GB" sz="800" b="0" i="0" u="sng" strike="noStrike" cap="none">
                <a:solidFill>
                  <a:schemeClr val="hlink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  <a:hlinkClick r:id="rId1"/>
              </a:rPr>
              <a:t>flaticon.com</a:t>
            </a:r>
            <a:endParaRPr sz="800" b="0" i="0" u="none" strike="noStrike" cap="none">
              <a:solidFill>
                <a:schemeClr val="dk2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13" name="Google Shape;113;g3b244c5c05e_0_0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114" name="Google Shape;114;g3b244c5c05e_0_0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b="1" i="0" u="none" strike="noStrike" cap="none">
                  <a:solidFill>
                    <a:schemeClr val="lt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What is PSC? </a:t>
              </a:r>
              <a:endParaRPr sz="800" b="1" i="0" u="none" strike="noStrik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5" name="Google Shape;115;g3b244c5c05e_0_0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How to connect via terminal</a:t>
              </a:r>
              <a:endParaRPr sz="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6" name="Google Shape;116;g3b244c5c05e_0_0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How to connect via VSCode</a:t>
              </a:r>
              <a:endParaRPr sz="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17" name="Google Shape;117;g3b244c5c05e_0_0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PSC tips</a:t>
              </a:r>
              <a:endParaRPr sz="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78" name="Google Shape;78;p14"/>
          <p:cNvSpPr txBox="1"/>
          <p:nvPr/>
        </p:nvSpPr>
        <p:spPr>
          <a:xfrm>
            <a:off x="2403090" y="2400300"/>
            <a:ext cx="439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dk1"/>
                </a:solidFill>
              </a:rPr>
              <a:t>PSC Connection via Terminal</a:t>
            </a:r>
            <a:endParaRPr sz="2400" dirty="0">
              <a:solidFill>
                <a:schemeClr val="dk1"/>
              </a:solidFill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b="1" dirty="0">
                  <a:solidFill>
                    <a:schemeClr val="bg1"/>
                  </a:solidFill>
                </a:rPr>
                <a:t>How to connect via terminal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dk1"/>
                  </a:solidFill>
                </a:rPr>
                <a:t>How to connect via </a:t>
              </a:r>
              <a:r>
                <a:rPr lang="en-GB" sz="800" dirty="0" err="1">
                  <a:solidFill>
                    <a:schemeClr val="dk1"/>
                  </a:solidFill>
                </a:rPr>
                <a:t>VSCode</a:t>
              </a:r>
              <a:endParaRPr sz="800" dirty="0">
                <a:solidFill>
                  <a:schemeClr val="dk1"/>
                </a:solidFill>
              </a:endParaRPr>
            </a:p>
          </p:txBody>
        </p:sp>
        <p:sp>
          <p:nvSpPr>
            <p:cNvPr id="3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676400" y="5426394"/>
            <a:ext cx="580594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1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78" name="Google Shape;78;p14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</a:rPr>
              <a:t>Connect via Terminal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b="1" dirty="0">
                  <a:solidFill>
                    <a:schemeClr val="bg1"/>
                  </a:solidFill>
                </a:rPr>
                <a:t>How to connect via terminal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dk1"/>
                  </a:solidFill>
                </a:rPr>
                <a:t>How to connect via </a:t>
              </a:r>
              <a:r>
                <a:rPr lang="en-GB" sz="800" dirty="0" err="1">
                  <a:solidFill>
                    <a:schemeClr val="dk1"/>
                  </a:solidFill>
                </a:rPr>
                <a:t>VSCode</a:t>
              </a:r>
              <a:endParaRPr sz="800" dirty="0">
                <a:solidFill>
                  <a:schemeClr val="dk1"/>
                </a:solidFill>
              </a:endParaRPr>
            </a:p>
          </p:txBody>
        </p:sp>
        <p:sp>
          <p:nvSpPr>
            <p:cNvPr id="3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676400" y="5426394"/>
            <a:ext cx="580594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100" dirty="0">
              <a:solidFill>
                <a:schemeClr val="dk2"/>
              </a:solidFill>
            </a:endParaRPr>
          </a:p>
        </p:txBody>
      </p:sp>
      <p:sp>
        <p:nvSpPr>
          <p:cNvPr id="6" name="Google Shape;78;p14"/>
          <p:cNvSpPr txBox="1"/>
          <p:nvPr/>
        </p:nvSpPr>
        <p:spPr>
          <a:xfrm>
            <a:off x="5323849" y="2307406"/>
            <a:ext cx="33577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-GB" sz="1600" b="1" dirty="0">
                <a:solidFill>
                  <a:srgbClr val="A80000"/>
                </a:solidFill>
                <a:sym typeface="Wingdings" panose="05000000000000000000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407" y="814679"/>
            <a:ext cx="4666195" cy="40856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93" name="Google Shape;93;p1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-GB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/>
          <p:cNvSpPr txBox="1"/>
          <p:nvPr/>
        </p:nvSpPr>
        <p:spPr>
          <a:xfrm>
            <a:off x="1546122" y="5350828"/>
            <a:ext cx="688995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10" name="Google Shape;78;p14"/>
          <p:cNvSpPr txBox="1"/>
          <p:nvPr/>
        </p:nvSpPr>
        <p:spPr>
          <a:xfrm>
            <a:off x="2403090" y="2400300"/>
            <a:ext cx="439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dk1"/>
                </a:solidFill>
              </a:rPr>
              <a:t>PSC Connection via </a:t>
            </a:r>
            <a:r>
              <a:rPr lang="en-GB" sz="2400" dirty="0" err="1">
                <a:solidFill>
                  <a:schemeClr val="dk1"/>
                </a:solidFill>
              </a:rPr>
              <a:t>VSCode</a:t>
            </a:r>
            <a:endParaRPr sz="2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dirty="0">
                <a:sym typeface="+mn-ea"/>
              </a:rPr>
              <a:t>PSC Connection via </a:t>
            </a:r>
            <a:r>
              <a:rPr lang="en-GB" dirty="0" err="1">
                <a:sym typeface="+mn-ea"/>
              </a:rPr>
              <a:t>VSCode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An Useful link:</a:t>
            </a:r>
            <a:endParaRPr lang="en-US"/>
          </a:p>
          <a:p>
            <a:r>
              <a:rPr lang="en-US" altLang="en-US"/>
              <a:t>https://www.psc.edu/resources/bridges-2/user-guide/#vscode</a:t>
            </a:r>
            <a:endParaRPr lang="en-US" altLang="en-US"/>
          </a:p>
          <a:p>
            <a:r>
              <a:rPr lang="en-US" altLang="en-US"/>
              <a:t>It proivides a more direct way of connecting using modifying config files.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147" y="1230861"/>
            <a:ext cx="3130689" cy="3695699"/>
          </a:xfrm>
          <a:prstGeom prst="rect">
            <a:avLst/>
          </a:prstGeom>
        </p:spPr>
      </p:pic>
      <p:sp>
        <p:nvSpPr>
          <p:cNvPr id="76" name="Google Shape;76;p1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78" name="Google Shape;78;p14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</a:rPr>
              <a:t>Connect via </a:t>
            </a:r>
            <a:r>
              <a:rPr lang="en-GB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-GB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/>
          <p:cNvSpPr txBox="1"/>
          <p:nvPr/>
        </p:nvSpPr>
        <p:spPr>
          <a:xfrm>
            <a:off x="1546122" y="5350828"/>
            <a:ext cx="688995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/>
          <p:cNvSpPr txBox="1"/>
          <p:nvPr/>
        </p:nvSpPr>
        <p:spPr>
          <a:xfrm>
            <a:off x="2234381" y="723331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-GB" sz="1600" b="1" dirty="0">
                <a:solidFill>
                  <a:srgbClr val="A80000"/>
                </a:solidFill>
                <a:sym typeface="Wingdings" panose="05000000000000000000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24400" y="1769466"/>
            <a:ext cx="4601497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1. SSH into Bridges2</a:t>
            </a:r>
            <a:endParaRPr lang="en-US" sz="1600" b="1" dirty="0"/>
          </a:p>
          <a:p>
            <a:endParaRPr lang="en-US" sz="1600" dirty="0"/>
          </a:p>
          <a:p>
            <a:r>
              <a:rPr lang="en-US" dirty="0"/>
              <a:t>1) Open VS Code and click on the `Extensions` icon in the left sidebar. </a:t>
            </a:r>
            <a:r>
              <a:rPr lang="en-US" b="1" dirty="0"/>
              <a:t>Make sure the "**Remote - SSH**" extension is installed.</a:t>
            </a:r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666121" y="3431459"/>
            <a:ext cx="342195" cy="383458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116470" y="2158182"/>
            <a:ext cx="2585883" cy="565353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78" name="Google Shape;78;p14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</a:rPr>
              <a:t>Connect via </a:t>
            </a:r>
            <a:r>
              <a:rPr lang="en-GB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-GB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/>
          <p:cNvSpPr txBox="1"/>
          <p:nvPr/>
        </p:nvSpPr>
        <p:spPr>
          <a:xfrm>
            <a:off x="1546122" y="5350828"/>
            <a:ext cx="688995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/>
          <p:cNvSpPr txBox="1"/>
          <p:nvPr/>
        </p:nvSpPr>
        <p:spPr>
          <a:xfrm>
            <a:off x="2234381" y="723331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-GB" sz="1600" b="1" dirty="0">
                <a:solidFill>
                  <a:srgbClr val="A80000"/>
                </a:solidFill>
                <a:sym typeface="Wingdings" panose="05000000000000000000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71054" y="1464460"/>
            <a:ext cx="457169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2）Open the command palette (**</a:t>
            </a:r>
            <a:r>
              <a:rPr lang="en-US" dirty="0" err="1"/>
              <a:t>Shift+Command+P</a:t>
            </a:r>
            <a:r>
              <a:rPr lang="en-US" dirty="0"/>
              <a:t>** on Mac, **</a:t>
            </a:r>
            <a:r>
              <a:rPr lang="en-US" dirty="0" err="1"/>
              <a:t>Ctrl+Shift+P</a:t>
            </a:r>
            <a:r>
              <a:rPr lang="en-US" dirty="0"/>
              <a:t>** on Windows). A search box will appear at the top center. Choose “Remote-SSH: Add New SSH Host”, then enter:</a:t>
            </a:r>
            <a:endParaRPr lang="en-US" dirty="0"/>
          </a:p>
          <a:p>
            <a:endParaRPr lang="en-US" dirty="0"/>
          </a:p>
          <a:p>
            <a:r>
              <a:rPr lang="en-US" dirty="0"/>
              <a:t>ssh &lt;</a:t>
            </a:r>
            <a:r>
              <a:rPr lang="en-US" dirty="0" err="1"/>
              <a:t>your_username</a:t>
            </a:r>
            <a:r>
              <a:rPr lang="en-US" dirty="0"/>
              <a:t>&gt;@bridges2.psc.edu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Next, choose “/Users/&lt;</a:t>
            </a:r>
            <a:r>
              <a:rPr lang="en-US" dirty="0" err="1"/>
              <a:t>your_username</a:t>
            </a:r>
            <a:r>
              <a:rPr lang="en-US" dirty="0"/>
              <a:t>&gt;/.ssh/config” as the config file.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dialog will appear in the bottom right saying “Host Added”. Click “Connect”, and then enter your password.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464460"/>
            <a:ext cx="4085612" cy="462024"/>
          </a:xfrm>
          <a:prstGeom prst="rect">
            <a:avLst/>
          </a:prstGeom>
        </p:spPr>
      </p:pic>
      <p:pic>
        <p:nvPicPr>
          <p:cNvPr id="13" name="Picture 12" descr="A screenshot of a phone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20279"/>
            <a:ext cx="4078310" cy="59797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98" y="3196435"/>
            <a:ext cx="4085612" cy="447181"/>
          </a:xfrm>
          <a:prstGeom prst="rect">
            <a:avLst/>
          </a:prstGeom>
        </p:spPr>
      </p:pic>
      <p:pic>
        <p:nvPicPr>
          <p:cNvPr id="19" name="Picture 18" descr="A black rectangular object with blue and white lines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98" y="3921930"/>
            <a:ext cx="4085612" cy="80092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3522931" y="4188204"/>
            <a:ext cx="783980" cy="447182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78" name="Google Shape;78;p14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</a:rPr>
              <a:t>Connect via </a:t>
            </a:r>
            <a:r>
              <a:rPr lang="en-GB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-GB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/>
          <p:cNvSpPr txBox="1"/>
          <p:nvPr/>
        </p:nvSpPr>
        <p:spPr>
          <a:xfrm>
            <a:off x="1546122" y="5350828"/>
            <a:ext cx="6889955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-GB" sz="1100" dirty="0">
                <a:solidFill>
                  <a:schemeClr val="dk2"/>
                </a:solidFill>
              </a:rPr>
              <a:t>ndrew.cmu.edu) </a:t>
            </a:r>
            <a:r>
              <a:rPr lang="en-US" sz="1100" dirty="0" err="1">
                <a:solidFill>
                  <a:schemeClr val="dk2"/>
                </a:solidFill>
              </a:rPr>
              <a:t>Pengyu</a:t>
            </a:r>
            <a:r>
              <a:rPr lang="en-US" sz="1100" dirty="0">
                <a:solidFill>
                  <a:schemeClr val="dk2"/>
                </a:solidFill>
              </a:rPr>
              <a:t> Chang (</a:t>
            </a:r>
            <a:r>
              <a:rPr lang="en-US" sz="1100" dirty="0" err="1">
                <a:solidFill>
                  <a:schemeClr val="dk2"/>
                </a:solidFill>
              </a:rPr>
              <a:t>pengyuch@andrew.cmu.edu</a:t>
            </a:r>
            <a:r>
              <a:rPr lang="en-US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/>
          <p:cNvSpPr txBox="1"/>
          <p:nvPr/>
        </p:nvSpPr>
        <p:spPr>
          <a:xfrm>
            <a:off x="442141" y="2167790"/>
            <a:ext cx="7993936" cy="378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800" b="1" dirty="0">
                <a:solidFill>
                  <a:srgbClr val="A80000"/>
                </a:solidFill>
              </a:rPr>
              <a:t>SSH keygen and config files</a:t>
            </a:r>
            <a:r>
              <a:rPr lang="en-GB" sz="1800" b="1" dirty="0">
                <a:solidFill>
                  <a:srgbClr val="A80000"/>
                </a:solidFill>
              </a:rPr>
              <a:t>:</a:t>
            </a:r>
            <a:endParaRPr lang="en-GB" sz="1800" b="1" dirty="0">
              <a:solidFill>
                <a:srgbClr val="A8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b="1" dirty="0">
              <a:solidFill>
                <a:srgbClr val="A80000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1800" dirty="0"/>
              <a:t>Visual Studio Code Tutorials: </a:t>
            </a:r>
            <a:r>
              <a:rPr lang="en-US" sz="1800" u="sng" dirty="0">
                <a:hlinkClick r:id="rId1"/>
              </a:rPr>
              <a:t>Remote development over SSH</a:t>
            </a:r>
            <a:r>
              <a:rPr lang="en-US" sz="1800" dirty="0">
                <a:hlinkClick r:id="rId1"/>
              </a:rPr>
              <a:t> </a:t>
            </a:r>
            <a:endParaRPr lang="en-US" sz="1800" dirty="0"/>
          </a:p>
          <a:p>
            <a:endParaRPr lang="en-US" sz="1800" u="sng" dirty="0">
              <a:hlinkClick r:id="rId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1800" u="sng" dirty="0">
                <a:hlinkClick r:id="rId2"/>
              </a:rPr>
              <a:t>Remote - SSH - Visual Studio Marketplace</a:t>
            </a:r>
            <a:r>
              <a:rPr lang="en-US" sz="1800" dirty="0"/>
              <a:t> </a:t>
            </a:r>
            <a:endParaRPr lang="en-US" sz="1800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Config Files would look like this:(ideally, you don’t need to generate this file yourself, the plugin would take care of it. Just use Add New SSH Host and input the command!)</a:t>
            </a:r>
            <a:br>
              <a:rPr lang="en-US" dirty="0"/>
            </a:br>
            <a:r>
              <a:rPr lang="en-US" dirty="0"/>
              <a:t>In C:/Users/&lt;username&gt;/.ssh/config (windows for example)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Host bridges2.psc.edu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    </a:t>
            </a:r>
            <a:r>
              <a:rPr lang="en-US" dirty="0" err="1"/>
              <a:t>HostName</a:t>
            </a:r>
            <a:r>
              <a:rPr lang="en-US" dirty="0"/>
              <a:t> </a:t>
            </a:r>
            <a:r>
              <a:rPr lang="en-US" u="sng" dirty="0"/>
              <a:t>bridges2.psc.edu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    User &lt;your user name&gt;</a:t>
            </a:r>
            <a:endParaRPr lang="en-US" dirty="0"/>
          </a:p>
          <a:p>
            <a:pPr>
              <a:lnSpc>
                <a:spcPct val="150000"/>
              </a:lnSpc>
            </a:pPr>
            <a:br>
              <a:rPr lang="en-US" dirty="0"/>
            </a:br>
            <a:endParaRPr lang="en-US" dirty="0"/>
          </a:p>
          <a:p>
            <a:br>
              <a:rPr lang="en-US" sz="1800" dirty="0"/>
            </a:br>
            <a:endParaRPr lang="en-US" sz="1800" dirty="0"/>
          </a:p>
          <a:p>
            <a:br>
              <a:rPr lang="en-US" sz="1800" dirty="0"/>
            </a:br>
            <a:br>
              <a:rPr lang="en-US" sz="1800" dirty="0"/>
            </a:br>
            <a:endParaRPr lang="en-GB" sz="1800" b="1" dirty="0">
              <a:solidFill>
                <a:srgbClr val="A8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A80000"/>
              </a:solidFill>
            </a:endParaRPr>
          </a:p>
        </p:txBody>
      </p:sp>
      <p:sp>
        <p:nvSpPr>
          <p:cNvPr id="6" name="Google Shape;78;p14"/>
          <p:cNvSpPr txBox="1"/>
          <p:nvPr/>
        </p:nvSpPr>
        <p:spPr>
          <a:xfrm>
            <a:off x="4572000" y="4374251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-GB" sz="1600" b="1" dirty="0">
                <a:solidFill>
                  <a:srgbClr val="A80000"/>
                </a:solidFill>
                <a:sym typeface="Wingdings" panose="05000000000000000000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78" name="Google Shape;78;p14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</a:rPr>
              <a:t>Connect via </a:t>
            </a:r>
            <a:r>
              <a:rPr lang="en-GB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-GB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/>
          <p:cNvSpPr txBox="1"/>
          <p:nvPr/>
        </p:nvSpPr>
        <p:spPr>
          <a:xfrm>
            <a:off x="1546122" y="5350828"/>
            <a:ext cx="6889955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-GB" sz="1100" dirty="0">
                <a:solidFill>
                  <a:schemeClr val="dk2"/>
                </a:solidFill>
              </a:rPr>
              <a:t>ndrew.cmu.edu) </a:t>
            </a:r>
            <a:r>
              <a:rPr lang="en-US" sz="1100" dirty="0" err="1">
                <a:solidFill>
                  <a:schemeClr val="dk2"/>
                </a:solidFill>
              </a:rPr>
              <a:t>Pengyu</a:t>
            </a:r>
            <a:r>
              <a:rPr lang="en-US" sz="1100" dirty="0">
                <a:solidFill>
                  <a:schemeClr val="dk2"/>
                </a:solidFill>
              </a:rPr>
              <a:t> Chang (</a:t>
            </a:r>
            <a:r>
              <a:rPr lang="en-US" sz="1100" dirty="0" err="1">
                <a:solidFill>
                  <a:schemeClr val="dk2"/>
                </a:solidFill>
              </a:rPr>
              <a:t>pengyuch@andrew.cmu.edu</a:t>
            </a:r>
            <a:r>
              <a:rPr lang="en-US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/>
          <p:cNvSpPr txBox="1"/>
          <p:nvPr/>
        </p:nvSpPr>
        <p:spPr>
          <a:xfrm>
            <a:off x="431102" y="2193552"/>
            <a:ext cx="7993936" cy="296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800" b="1" dirty="0">
                <a:solidFill>
                  <a:srgbClr val="A80000"/>
                </a:solidFill>
              </a:rPr>
              <a:t>Trouble shooting for SSH connection in </a:t>
            </a:r>
            <a:r>
              <a:rPr lang="en-US" sz="1800" b="1" dirty="0" err="1">
                <a:solidFill>
                  <a:srgbClr val="A80000"/>
                </a:solidFill>
              </a:rPr>
              <a:t>VSCode</a:t>
            </a:r>
            <a:r>
              <a:rPr lang="en-GB" sz="1800" b="1" dirty="0">
                <a:solidFill>
                  <a:srgbClr val="A80000"/>
                </a:solidFill>
              </a:rPr>
              <a:t>:</a:t>
            </a:r>
            <a:endParaRPr lang="en-GB" sz="1800" b="1" dirty="0">
              <a:solidFill>
                <a:srgbClr val="A8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b="1" dirty="0">
              <a:solidFill>
                <a:srgbClr val="A8000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Try ssh command in bash terminal (For Windows Users). If ssh isn’t found, install </a:t>
            </a:r>
            <a:r>
              <a:rPr lang="en-US" b="1" dirty="0"/>
              <a:t>OpenSSH Client</a:t>
            </a:r>
            <a:r>
              <a:rPr lang="en-US" dirty="0"/>
              <a:t> (Windows Settings → Optional features)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Make sure you have the correct username and password (which might not be the same as ACCESS ID  &amp; password and of course not the same as Andrew ID &amp; password).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sz="1800" dirty="0"/>
          </a:p>
          <a:p>
            <a:br>
              <a:rPr lang="en-US" sz="1800" dirty="0"/>
            </a:br>
            <a:endParaRPr lang="en-US" sz="1800" dirty="0"/>
          </a:p>
          <a:p>
            <a:br>
              <a:rPr lang="en-US" sz="1800" dirty="0"/>
            </a:br>
            <a:br>
              <a:rPr lang="en-US" sz="1800" dirty="0"/>
            </a:br>
            <a:endParaRPr lang="en-GB" sz="1800" b="1" dirty="0">
              <a:solidFill>
                <a:srgbClr val="A8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A80000"/>
              </a:solidFill>
            </a:endParaRPr>
          </a:p>
        </p:txBody>
      </p:sp>
      <p:sp>
        <p:nvSpPr>
          <p:cNvPr id="6" name="Google Shape;78;p14"/>
          <p:cNvSpPr txBox="1"/>
          <p:nvPr/>
        </p:nvSpPr>
        <p:spPr>
          <a:xfrm>
            <a:off x="2089222" y="902676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-GB" sz="1600" b="1" dirty="0">
                <a:solidFill>
                  <a:srgbClr val="A80000"/>
                </a:solidFill>
                <a:sym typeface="Wingdings" panose="05000000000000000000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78" name="Google Shape;78;p14"/>
          <p:cNvSpPr txBox="1"/>
          <p:nvPr/>
        </p:nvSpPr>
        <p:spPr>
          <a:xfrm>
            <a:off x="228600" y="228601"/>
            <a:ext cx="49038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</a:rPr>
              <a:t>Connect via </a:t>
            </a:r>
            <a:r>
              <a:rPr lang="en-GB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-GB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/>
          <p:cNvSpPr txBox="1"/>
          <p:nvPr/>
        </p:nvSpPr>
        <p:spPr>
          <a:xfrm>
            <a:off x="1546122" y="5350828"/>
            <a:ext cx="6889955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-GB" sz="1100" dirty="0">
                <a:solidFill>
                  <a:schemeClr val="dk2"/>
                </a:solidFill>
              </a:rPr>
              <a:t>ndrew.cmu.edu) </a:t>
            </a:r>
            <a:r>
              <a:rPr lang="en-US" sz="1100" dirty="0" err="1">
                <a:solidFill>
                  <a:schemeClr val="dk2"/>
                </a:solidFill>
              </a:rPr>
              <a:t>Pengyu</a:t>
            </a:r>
            <a:r>
              <a:rPr lang="en-US" sz="1100" dirty="0">
                <a:solidFill>
                  <a:schemeClr val="dk2"/>
                </a:solidFill>
              </a:rPr>
              <a:t> Chang (</a:t>
            </a:r>
            <a:r>
              <a:rPr lang="en-US" sz="1100" dirty="0" err="1">
                <a:solidFill>
                  <a:schemeClr val="dk2"/>
                </a:solidFill>
              </a:rPr>
              <a:t>pengyuch@andrew.cmu.edu</a:t>
            </a:r>
            <a:r>
              <a:rPr lang="en-US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/>
          <p:cNvSpPr txBox="1"/>
          <p:nvPr/>
        </p:nvSpPr>
        <p:spPr>
          <a:xfrm>
            <a:off x="2234381" y="723331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-GB" sz="1600" b="1" dirty="0">
                <a:solidFill>
                  <a:srgbClr val="A80000"/>
                </a:solidFill>
                <a:sym typeface="Wingdings" panose="05000000000000000000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7717" y="1399230"/>
            <a:ext cx="83217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Useful shortcut</a:t>
            </a:r>
            <a:r>
              <a:rPr lang="zh-CN" altLang="en-US" sz="1800" dirty="0"/>
              <a:t> </a:t>
            </a:r>
            <a:r>
              <a:rPr lang="en-US" altLang="zh-CN" sz="1800" dirty="0"/>
              <a:t>for</a:t>
            </a:r>
            <a:r>
              <a:rPr lang="zh-CN" altLang="en-US" sz="1800" dirty="0"/>
              <a:t> </a:t>
            </a:r>
            <a:r>
              <a:rPr lang="en-US" altLang="zh-CN" sz="1800" dirty="0"/>
              <a:t>connection: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717" y="2077361"/>
            <a:ext cx="3431399" cy="2317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477" y="2077361"/>
            <a:ext cx="3137718" cy="2317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ight Arrow 5"/>
          <p:cNvSpPr/>
          <p:nvPr/>
        </p:nvSpPr>
        <p:spPr>
          <a:xfrm>
            <a:off x="4306526" y="3126658"/>
            <a:ext cx="412955" cy="285136"/>
          </a:xfrm>
          <a:prstGeom prst="rightArrow">
            <a:avLst/>
          </a:prstGeom>
          <a:solidFill>
            <a:srgbClr val="A8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78" name="Google Shape;78;p14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</a:rPr>
              <a:t>Connect via </a:t>
            </a:r>
            <a:r>
              <a:rPr lang="en-GB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-GB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/>
          <p:cNvSpPr txBox="1"/>
          <p:nvPr/>
        </p:nvSpPr>
        <p:spPr>
          <a:xfrm>
            <a:off x="1546122" y="5350828"/>
            <a:ext cx="6889955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-GB" sz="1100" dirty="0">
                <a:solidFill>
                  <a:schemeClr val="dk2"/>
                </a:solidFill>
              </a:rPr>
              <a:t>ndrew.cmu.edu) </a:t>
            </a:r>
            <a:r>
              <a:rPr lang="en-US" sz="1100" dirty="0" err="1">
                <a:solidFill>
                  <a:schemeClr val="dk2"/>
                </a:solidFill>
              </a:rPr>
              <a:t>Pengyu</a:t>
            </a:r>
            <a:r>
              <a:rPr lang="en-US" sz="1100" dirty="0">
                <a:solidFill>
                  <a:schemeClr val="dk2"/>
                </a:solidFill>
              </a:rPr>
              <a:t> Chang (</a:t>
            </a:r>
            <a:r>
              <a:rPr lang="en-US" sz="1100" dirty="0" err="1">
                <a:solidFill>
                  <a:schemeClr val="dk2"/>
                </a:solidFill>
              </a:rPr>
              <a:t>pengyuch@andrew.cmu.edu</a:t>
            </a:r>
            <a:r>
              <a:rPr lang="en-US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/>
          <p:cNvSpPr txBox="1"/>
          <p:nvPr/>
        </p:nvSpPr>
        <p:spPr>
          <a:xfrm>
            <a:off x="2234381" y="723331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-GB" sz="1600" b="1" dirty="0">
                <a:solidFill>
                  <a:srgbClr val="A80000"/>
                </a:solidFill>
                <a:sym typeface="Wingdings" panose="05000000000000000000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762" y="1274326"/>
            <a:ext cx="74626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Also, you can use "Remote-SSH: Connect to Host" and select "bridges2.psc.edu" from the list after adding the host once.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822" y="2068352"/>
            <a:ext cx="3531752" cy="277895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263587" y="4618705"/>
            <a:ext cx="2285857" cy="228600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263586" y="2457575"/>
            <a:ext cx="7801756" cy="1550621"/>
            <a:chOff x="1263586" y="2457575"/>
            <a:chExt cx="7801756" cy="1550621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74081" y="2509113"/>
              <a:ext cx="4783105" cy="484774"/>
            </a:xfrm>
            <a:prstGeom prst="rect">
              <a:avLst/>
            </a:prstGeom>
          </p:spPr>
        </p:pic>
        <p:sp>
          <p:nvSpPr>
            <p:cNvPr id="11" name="Rounded Rectangle 10"/>
            <p:cNvSpPr/>
            <p:nvPr/>
          </p:nvSpPr>
          <p:spPr>
            <a:xfrm>
              <a:off x="1263586" y="3779596"/>
              <a:ext cx="2285857" cy="228600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74081" y="3205806"/>
              <a:ext cx="4768651" cy="524630"/>
            </a:xfrm>
            <a:prstGeom prst="rect">
              <a:avLst/>
            </a:prstGeom>
          </p:spPr>
        </p:pic>
        <p:sp>
          <p:nvSpPr>
            <p:cNvPr id="13" name="Right Arrow 12"/>
            <p:cNvSpPr/>
            <p:nvPr/>
          </p:nvSpPr>
          <p:spPr>
            <a:xfrm rot="19815097">
              <a:off x="3576747" y="3665484"/>
              <a:ext cx="531088" cy="285136"/>
            </a:xfrm>
            <a:prstGeom prst="rightArrow">
              <a:avLst/>
            </a:prstGeom>
            <a:solidFill>
              <a:srgbClr val="A8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124400" y="2457575"/>
              <a:ext cx="4940942" cy="1349239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800" y="2330158"/>
            <a:ext cx="7772400" cy="232269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98157" y="2473586"/>
            <a:ext cx="1178643" cy="364803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 flipV="1">
            <a:off x="469799" y="2582417"/>
            <a:ext cx="339498" cy="334802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 flipV="1">
            <a:off x="1265038" y="3308334"/>
            <a:ext cx="1178642" cy="237985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Google Shape;76;p1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78" name="Google Shape;78;p14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</a:rPr>
              <a:t>Connect via </a:t>
            </a:r>
            <a:r>
              <a:rPr lang="en-GB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-GB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/>
          <p:cNvSpPr txBox="1"/>
          <p:nvPr/>
        </p:nvSpPr>
        <p:spPr>
          <a:xfrm>
            <a:off x="1546122" y="5350828"/>
            <a:ext cx="6889955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-GB" sz="1100" dirty="0">
                <a:solidFill>
                  <a:schemeClr val="dk2"/>
                </a:solidFill>
              </a:rPr>
              <a:t>ndrew.cmu.edu) </a:t>
            </a:r>
            <a:r>
              <a:rPr lang="en-US" sz="1100" dirty="0" err="1">
                <a:solidFill>
                  <a:schemeClr val="dk2"/>
                </a:solidFill>
              </a:rPr>
              <a:t>Pengyu</a:t>
            </a:r>
            <a:r>
              <a:rPr lang="en-US" sz="1100" dirty="0">
                <a:solidFill>
                  <a:schemeClr val="dk2"/>
                </a:solidFill>
              </a:rPr>
              <a:t> Chang (</a:t>
            </a:r>
            <a:r>
              <a:rPr lang="en-US" sz="1100" dirty="0" err="1">
                <a:solidFill>
                  <a:schemeClr val="dk2"/>
                </a:solidFill>
              </a:rPr>
              <a:t>pengyuch@andrew.cmu.edu</a:t>
            </a:r>
            <a:r>
              <a:rPr lang="en-US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/>
          <p:cNvSpPr txBox="1"/>
          <p:nvPr/>
        </p:nvSpPr>
        <p:spPr>
          <a:xfrm>
            <a:off x="2234381" y="723331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-GB" sz="1600" b="1" dirty="0">
                <a:solidFill>
                  <a:srgbClr val="A80000"/>
                </a:solidFill>
                <a:sym typeface="Wingdings" panose="05000000000000000000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9798" y="1376051"/>
            <a:ext cx="79662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3）Once connected, click “Explorer” in the left sidebar &gt; “Open Folder”, and navigate to your home directory under the project grant:</a:t>
            </a:r>
            <a:endParaRPr lang="en-US" sz="1600" dirty="0"/>
          </a:p>
          <a:p>
            <a:r>
              <a:rPr lang="en-US" sz="1600" dirty="0"/>
              <a:t>/jet/home/&lt;</a:t>
            </a:r>
            <a:r>
              <a:rPr lang="en-US" sz="1600" dirty="0" err="1"/>
              <a:t>your_username</a:t>
            </a:r>
            <a:r>
              <a:rPr lang="en-US" sz="1600" dirty="0"/>
              <a:t>&gt;</a:t>
            </a:r>
            <a:endParaRPr lang="en-US" sz="1600" dirty="0"/>
          </a:p>
          <a:p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78" name="Google Shape;78;p14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</a:rPr>
              <a:t>Connect via </a:t>
            </a:r>
            <a:r>
              <a:rPr lang="en-GB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-GB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/>
          <p:cNvSpPr txBox="1"/>
          <p:nvPr/>
        </p:nvSpPr>
        <p:spPr>
          <a:xfrm>
            <a:off x="1546122" y="5350828"/>
            <a:ext cx="6889955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-GB" sz="1100" dirty="0">
                <a:solidFill>
                  <a:schemeClr val="dk2"/>
                </a:solidFill>
              </a:rPr>
              <a:t>ndrew.cmu.edu) </a:t>
            </a:r>
            <a:r>
              <a:rPr lang="en-US" sz="1100" dirty="0" err="1">
                <a:solidFill>
                  <a:schemeClr val="dk2"/>
                </a:solidFill>
              </a:rPr>
              <a:t>Pengyu</a:t>
            </a:r>
            <a:r>
              <a:rPr lang="en-US" sz="1100" dirty="0">
                <a:solidFill>
                  <a:schemeClr val="dk2"/>
                </a:solidFill>
              </a:rPr>
              <a:t> Chang (</a:t>
            </a:r>
            <a:r>
              <a:rPr lang="en-US" sz="1100" dirty="0" err="1">
                <a:solidFill>
                  <a:schemeClr val="dk2"/>
                </a:solidFill>
              </a:rPr>
              <a:t>pengyuch@andrew.cmu.edu</a:t>
            </a:r>
            <a:r>
              <a:rPr lang="en-US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/>
          <p:cNvSpPr txBox="1"/>
          <p:nvPr/>
        </p:nvSpPr>
        <p:spPr>
          <a:xfrm>
            <a:off x="2234381" y="723331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-GB" sz="1600" b="1" dirty="0">
                <a:solidFill>
                  <a:srgbClr val="A80000"/>
                </a:solidFill>
                <a:sym typeface="Wingdings" panose="05000000000000000000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34347" y="1551073"/>
            <a:ext cx="4097129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4）You can now </a:t>
            </a:r>
            <a:r>
              <a:rPr lang="en-US" b="1" dirty="0"/>
              <a:t>drag</a:t>
            </a:r>
            <a:r>
              <a:rPr lang="en-US" dirty="0"/>
              <a:t> your notebook files directly into the right-hand pane (your remote home directory), or </a:t>
            </a:r>
            <a:r>
              <a:rPr lang="en-US" b="1" dirty="0"/>
              <a:t>upload</a:t>
            </a:r>
            <a:r>
              <a:rPr lang="en-US" dirty="0"/>
              <a:t> them using ‘</a:t>
            </a:r>
            <a:r>
              <a:rPr lang="en-US" dirty="0" err="1"/>
              <a:t>scp</a:t>
            </a:r>
            <a:r>
              <a:rPr lang="en-US" dirty="0"/>
              <a:t>’ into your folder.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Right click the file(Mouse2), you can </a:t>
            </a:r>
            <a:r>
              <a:rPr lang="en-US" b="1" dirty="0"/>
              <a:t>download </a:t>
            </a:r>
            <a:r>
              <a:rPr lang="en-US" dirty="0"/>
              <a:t>your file from PSC, which is useful when you try to </a:t>
            </a:r>
            <a:r>
              <a:rPr lang="en-US" dirty="0" err="1"/>
              <a:t>handin</a:t>
            </a:r>
            <a:r>
              <a:rPr lang="en-US" dirty="0"/>
              <a:t> your code.</a:t>
            </a:r>
            <a:endParaRPr lang="en-US" dirty="0"/>
          </a:p>
          <a:p>
            <a:pPr>
              <a:lnSpc>
                <a:spcPct val="150000"/>
              </a:lnSpc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422400" y="1309105"/>
            <a:ext cx="3702000" cy="3682564"/>
            <a:chOff x="4876800" y="714415"/>
            <a:chExt cx="3702000" cy="3682564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714415"/>
              <a:ext cx="3702000" cy="36825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Rounded Rectangle 17"/>
            <p:cNvSpPr/>
            <p:nvPr/>
          </p:nvSpPr>
          <p:spPr>
            <a:xfrm flipV="1">
              <a:off x="5855492" y="3168244"/>
              <a:ext cx="2723308" cy="184444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78" name="Google Shape;78;p14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</a:rPr>
              <a:t>Connect via </a:t>
            </a:r>
            <a:r>
              <a:rPr lang="en-GB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-GB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/>
          <p:cNvSpPr txBox="1"/>
          <p:nvPr/>
        </p:nvSpPr>
        <p:spPr>
          <a:xfrm>
            <a:off x="1546122" y="5350828"/>
            <a:ext cx="6889955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-GB" sz="1100" dirty="0">
                <a:solidFill>
                  <a:schemeClr val="dk2"/>
                </a:solidFill>
              </a:rPr>
              <a:t>ndrew.cmu.edu) </a:t>
            </a:r>
            <a:r>
              <a:rPr lang="en-US" sz="1100" dirty="0" err="1">
                <a:solidFill>
                  <a:schemeClr val="dk2"/>
                </a:solidFill>
              </a:rPr>
              <a:t>Pengyu</a:t>
            </a:r>
            <a:r>
              <a:rPr lang="en-US" sz="1100" dirty="0">
                <a:solidFill>
                  <a:schemeClr val="dk2"/>
                </a:solidFill>
              </a:rPr>
              <a:t> Chang (</a:t>
            </a:r>
            <a:r>
              <a:rPr lang="en-US" sz="1100" dirty="0" err="1">
                <a:solidFill>
                  <a:schemeClr val="dk2"/>
                </a:solidFill>
              </a:rPr>
              <a:t>pengyuch@andrew.cmu.edu</a:t>
            </a:r>
            <a:r>
              <a:rPr lang="en-US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/>
          <p:cNvSpPr txBox="1"/>
          <p:nvPr/>
        </p:nvSpPr>
        <p:spPr>
          <a:xfrm>
            <a:off x="2234381" y="723331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-GB" sz="1600" b="1" dirty="0">
                <a:solidFill>
                  <a:srgbClr val="A80000"/>
                </a:solidFill>
                <a:sym typeface="Wingdings" panose="05000000000000000000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3676" y="1158609"/>
            <a:ext cx="900002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*You can simply enter the following commands which are given for each HWs in the terminal for operation.</a:t>
            </a:r>
            <a:endParaRPr lang="en-US" b="1" dirty="0"/>
          </a:p>
          <a:p>
            <a:endParaRPr lang="en-US" b="1" dirty="0"/>
          </a:p>
          <a:p>
            <a:r>
              <a:rPr lang="en-US" sz="1200" b="1" dirty="0"/>
              <a:t>2. Navigate to Your Directory</a:t>
            </a:r>
            <a:endParaRPr lang="en-US" sz="1200" dirty="0"/>
          </a:p>
          <a:p>
            <a:r>
              <a:rPr lang="en-US" sz="1200" dirty="0">
                <a:solidFill>
                  <a:srgbClr val="A80000"/>
                </a:solidFill>
              </a:rPr>
              <a:t>cd /jet/home/&lt;</a:t>
            </a:r>
            <a:r>
              <a:rPr lang="en-US" sz="1200" dirty="0" err="1">
                <a:solidFill>
                  <a:srgbClr val="A80000"/>
                </a:solidFill>
              </a:rPr>
              <a:t>your_username</a:t>
            </a:r>
            <a:r>
              <a:rPr lang="en-US" sz="1200" dirty="0">
                <a:solidFill>
                  <a:srgbClr val="A80000"/>
                </a:solidFill>
              </a:rPr>
              <a:t>&gt; </a:t>
            </a:r>
            <a:r>
              <a:rPr lang="en-US" sz="1200" dirty="0"/>
              <a:t>#change &lt;</a:t>
            </a:r>
            <a:r>
              <a:rPr lang="en-US" sz="1200" dirty="0" err="1"/>
              <a:t>your_username</a:t>
            </a:r>
            <a:r>
              <a:rPr lang="en-US" sz="1200" dirty="0"/>
              <a:t>&gt; to your username</a:t>
            </a:r>
            <a:endParaRPr lang="en-US" sz="1200" dirty="0"/>
          </a:p>
          <a:p>
            <a:endParaRPr lang="en-US" sz="1200" dirty="0"/>
          </a:p>
          <a:p>
            <a:r>
              <a:rPr lang="en-US" sz="1200" b="1" dirty="0"/>
              <a:t>3. Request a Compute Node</a:t>
            </a:r>
            <a:endParaRPr lang="en-US" sz="1200" dirty="0"/>
          </a:p>
          <a:p>
            <a:r>
              <a:rPr lang="en-US" sz="1200" dirty="0">
                <a:solidFill>
                  <a:srgbClr val="A80000"/>
                </a:solidFill>
              </a:rPr>
              <a:t>interact -p GPU-shared --</a:t>
            </a:r>
            <a:r>
              <a:rPr lang="en-US" sz="1200" dirty="0" err="1">
                <a:solidFill>
                  <a:srgbClr val="A80000"/>
                </a:solidFill>
              </a:rPr>
              <a:t>gres</a:t>
            </a:r>
            <a:r>
              <a:rPr lang="en-US" sz="1200" dirty="0">
                <a:solidFill>
                  <a:srgbClr val="A80000"/>
                </a:solidFill>
              </a:rPr>
              <a:t>=gpu:v100-32:1 -t 8:00:00 -A cis250019p</a:t>
            </a:r>
            <a:endParaRPr lang="en-US" sz="1200" dirty="0">
              <a:solidFill>
                <a:srgbClr val="A80000"/>
              </a:solidFill>
            </a:endParaRPr>
          </a:p>
          <a:p>
            <a:endParaRPr lang="en-US" dirty="0"/>
          </a:p>
          <a:p>
            <a:r>
              <a:rPr lang="en-US" sz="1200" b="1" dirty="0"/>
              <a:t>4. Load the Anaconda Module</a:t>
            </a:r>
            <a:endParaRPr lang="en-US" sz="1200" dirty="0"/>
          </a:p>
          <a:p>
            <a:r>
              <a:rPr lang="en-US" sz="1200" dirty="0">
                <a:solidFill>
                  <a:srgbClr val="A80000"/>
                </a:solidFill>
              </a:rPr>
              <a:t>module load anaconda3</a:t>
            </a:r>
            <a:endParaRPr lang="en-US" sz="1200" dirty="0">
              <a:solidFill>
                <a:srgbClr val="A80000"/>
              </a:solidFill>
            </a:endParaRPr>
          </a:p>
          <a:p>
            <a:endParaRPr lang="en-US" sz="1200" dirty="0"/>
          </a:p>
          <a:p>
            <a:r>
              <a:rPr lang="en-US" sz="1200" b="1" dirty="0"/>
              <a:t>5. Activate the provided HW Environment**</a:t>
            </a:r>
            <a:endParaRPr lang="en-US" sz="1200" dirty="0"/>
          </a:p>
          <a:p>
            <a:r>
              <a:rPr lang="en-US" sz="1200" dirty="0" err="1">
                <a:solidFill>
                  <a:srgbClr val="A80000"/>
                </a:solidFill>
              </a:rPr>
              <a:t>conda</a:t>
            </a:r>
            <a:r>
              <a:rPr lang="en-US" sz="1200" dirty="0">
                <a:solidFill>
                  <a:srgbClr val="A80000"/>
                </a:solidFill>
              </a:rPr>
              <a:t> deactivate </a:t>
            </a:r>
            <a:r>
              <a:rPr lang="en-US" sz="1200" dirty="0"/>
              <a:t># First, deactivate any existing Conda environment</a:t>
            </a:r>
            <a:endParaRPr lang="en-US" sz="1200" dirty="0"/>
          </a:p>
          <a:p>
            <a:r>
              <a:rPr lang="en-US" sz="1200" dirty="0" err="1">
                <a:solidFill>
                  <a:srgbClr val="A80000"/>
                </a:solidFill>
              </a:rPr>
              <a:t>conda</a:t>
            </a:r>
            <a:r>
              <a:rPr lang="en-US" sz="1200" dirty="0">
                <a:solidFill>
                  <a:srgbClr val="A80000"/>
                </a:solidFill>
              </a:rPr>
              <a:t> activate /ocean/projects/cis250019p/mzhang23/TA/HW1P2/</a:t>
            </a:r>
            <a:r>
              <a:rPr lang="en-US" sz="1200" dirty="0" err="1">
                <a:solidFill>
                  <a:srgbClr val="A80000"/>
                </a:solidFill>
              </a:rPr>
              <a:t>envs</a:t>
            </a:r>
            <a:r>
              <a:rPr lang="en-US" sz="1200" dirty="0">
                <a:solidFill>
                  <a:srgbClr val="A80000"/>
                </a:solidFill>
              </a:rPr>
              <a:t>/hw1p2_env &amp;&amp; export PYTHONNOUSERSITE=1</a:t>
            </a:r>
            <a:endParaRPr lang="en-US" sz="1200" dirty="0">
              <a:solidFill>
                <a:srgbClr val="A80000"/>
              </a:solidFill>
            </a:endParaRPr>
          </a:p>
          <a:p>
            <a:endParaRPr lang="en-US" sz="1200" dirty="0">
              <a:solidFill>
                <a:srgbClr val="A80000"/>
              </a:solidFill>
            </a:endParaRPr>
          </a:p>
          <a:p>
            <a:r>
              <a:rPr lang="en-US" sz="1200" b="1" dirty="0"/>
              <a:t>6. Start </a:t>
            </a:r>
            <a:r>
              <a:rPr lang="en-US" sz="1200" b="1" dirty="0" err="1"/>
              <a:t>Jupyter</a:t>
            </a:r>
            <a:r>
              <a:rPr lang="en-US" sz="1200" b="1" dirty="0"/>
              <a:t> Notebook</a:t>
            </a:r>
            <a:endParaRPr lang="en-US" sz="1200" dirty="0"/>
          </a:p>
          <a:p>
            <a:r>
              <a:rPr lang="en-US" sz="1200" dirty="0" err="1">
                <a:solidFill>
                  <a:srgbClr val="A80000"/>
                </a:solidFill>
              </a:rPr>
              <a:t>jupyter</a:t>
            </a:r>
            <a:r>
              <a:rPr lang="en-US" sz="1200" dirty="0">
                <a:solidFill>
                  <a:srgbClr val="A80000"/>
                </a:solidFill>
              </a:rPr>
              <a:t> notebook --no-browser --</a:t>
            </a:r>
            <a:r>
              <a:rPr lang="en-US" sz="1200" dirty="0" err="1">
                <a:solidFill>
                  <a:srgbClr val="A80000"/>
                </a:solidFill>
              </a:rPr>
              <a:t>ip</a:t>
            </a:r>
            <a:r>
              <a:rPr lang="en-US" sz="1200" dirty="0">
                <a:solidFill>
                  <a:srgbClr val="A80000"/>
                </a:solidFill>
              </a:rPr>
              <a:t>=0.0.0.0</a:t>
            </a:r>
            <a:endParaRPr lang="en-US" sz="1200" dirty="0">
              <a:solidFill>
                <a:srgbClr val="A80000"/>
              </a:solidFill>
            </a:endParaRPr>
          </a:p>
          <a:p>
            <a:endParaRPr lang="en-US" sz="1200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005" y="1106535"/>
            <a:ext cx="6900096" cy="4040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Google Shape;76;p1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78" name="Google Shape;78;p14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</a:rPr>
              <a:t>Connect via </a:t>
            </a:r>
            <a:r>
              <a:rPr lang="en-GB" sz="1800" dirty="0" err="1">
                <a:solidFill>
                  <a:schemeClr val="dk1"/>
                </a:solidFill>
              </a:rPr>
              <a:t>VSCode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b="1" dirty="0">
                  <a:solidFill>
                    <a:schemeClr val="bg1"/>
                  </a:solidFill>
                </a:rPr>
                <a:t>How to connect via </a:t>
              </a:r>
              <a:r>
                <a:rPr lang="en-GB" sz="800" b="1" dirty="0" err="1">
                  <a:solidFill>
                    <a:schemeClr val="bg1"/>
                  </a:solidFill>
                </a:rPr>
                <a:t>VSCode</a:t>
              </a:r>
              <a:endParaRPr sz="800" b="1" dirty="0">
                <a:solidFill>
                  <a:schemeClr val="bg1"/>
                </a:solidFill>
              </a:endParaRPr>
            </a:p>
          </p:txBody>
        </p:sp>
        <p:sp>
          <p:nvSpPr>
            <p:cNvPr id="3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dk1"/>
                  </a:solidFill>
                </a:rPr>
                <a:t>PSC tips</a:t>
              </a:r>
              <a:endParaRPr sz="800" dirty="0">
                <a:solidFill>
                  <a:schemeClr val="dk1"/>
                </a:solidFill>
              </a:endParaRPr>
            </a:p>
          </p:txBody>
        </p:sp>
      </p:grpSp>
      <p:sp>
        <p:nvSpPr>
          <p:cNvPr id="2" name="Google Shape;66;p13"/>
          <p:cNvSpPr txBox="1"/>
          <p:nvPr/>
        </p:nvSpPr>
        <p:spPr>
          <a:xfrm>
            <a:off x="1546122" y="5350828"/>
            <a:ext cx="6889955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-GB" sz="1100" dirty="0">
                <a:solidFill>
                  <a:schemeClr val="dk2"/>
                </a:solidFill>
              </a:rPr>
              <a:t>ndrew.cmu.edu) </a:t>
            </a:r>
            <a:r>
              <a:rPr lang="en-US" sz="1100" dirty="0" err="1">
                <a:solidFill>
                  <a:schemeClr val="dk2"/>
                </a:solidFill>
              </a:rPr>
              <a:t>Pengyu</a:t>
            </a:r>
            <a:r>
              <a:rPr lang="en-US" sz="1100" dirty="0">
                <a:solidFill>
                  <a:schemeClr val="dk2"/>
                </a:solidFill>
              </a:rPr>
              <a:t> Chang (</a:t>
            </a:r>
            <a:r>
              <a:rPr lang="en-US" sz="1100" dirty="0" err="1">
                <a:solidFill>
                  <a:schemeClr val="dk2"/>
                </a:solidFill>
              </a:rPr>
              <a:t>pengyuch@andrew.cmu.edu</a:t>
            </a:r>
            <a:r>
              <a:rPr lang="en-US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Google Shape;78;p14"/>
          <p:cNvSpPr txBox="1"/>
          <p:nvPr/>
        </p:nvSpPr>
        <p:spPr>
          <a:xfrm>
            <a:off x="2234381" y="723331"/>
            <a:ext cx="46776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A80000"/>
                </a:solidFill>
              </a:rPr>
              <a:t>Please watch the video for more details </a:t>
            </a:r>
            <a:r>
              <a:rPr lang="en-GB" sz="1600" b="1" dirty="0">
                <a:solidFill>
                  <a:srgbClr val="A80000"/>
                </a:solidFill>
                <a:sym typeface="Wingdings" panose="05000000000000000000" pitchFamily="2" charset="2"/>
              </a:rPr>
              <a:t>:)</a:t>
            </a:r>
            <a:endParaRPr sz="1600" b="1" dirty="0">
              <a:solidFill>
                <a:srgbClr val="A80000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903405" y="1250389"/>
            <a:ext cx="501447" cy="182401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 flipV="1">
            <a:off x="2015471" y="4763069"/>
            <a:ext cx="2389382" cy="181372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 flipV="1">
            <a:off x="2818535" y="3456563"/>
            <a:ext cx="258962" cy="181371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93" name="Google Shape;93;p1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</a:t>
              </a:r>
              <a:r>
                <a:rPr lang="en-GB" sz="800" dirty="0" err="1">
                  <a:solidFill>
                    <a:schemeClr val="tx1"/>
                  </a:solidFill>
                </a:rPr>
                <a:t>VSCode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3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b="1" dirty="0">
                  <a:solidFill>
                    <a:schemeClr val="bg1"/>
                  </a:solidFill>
                </a:rPr>
                <a:t>PSC tips</a:t>
              </a:r>
              <a:endParaRPr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66;p13"/>
          <p:cNvSpPr txBox="1"/>
          <p:nvPr/>
        </p:nvSpPr>
        <p:spPr>
          <a:xfrm>
            <a:off x="2826219" y="5373628"/>
            <a:ext cx="3054168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-GB" sz="1100" dirty="0" err="1">
                <a:solidFill>
                  <a:schemeClr val="dk2"/>
                </a:solidFill>
              </a:rPr>
              <a:t>ndrew.cmu.edu</a:t>
            </a:r>
            <a:r>
              <a:rPr lang="en-GB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8" name="Google Shape;78;p14"/>
          <p:cNvSpPr txBox="1"/>
          <p:nvPr/>
        </p:nvSpPr>
        <p:spPr>
          <a:xfrm>
            <a:off x="3838599" y="2400300"/>
            <a:ext cx="19231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dk1"/>
                </a:solidFill>
              </a:rPr>
              <a:t>PSC Tips</a:t>
            </a:r>
            <a:endParaRPr sz="2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78" name="Google Shape;78;p14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</a:rPr>
              <a:t>PSC tips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</a:t>
              </a:r>
              <a:r>
                <a:rPr lang="en-GB" sz="800" dirty="0" err="1">
                  <a:solidFill>
                    <a:schemeClr val="tx1"/>
                  </a:solidFill>
                </a:rPr>
                <a:t>VSCode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3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b="1" dirty="0">
                  <a:solidFill>
                    <a:schemeClr val="bg1"/>
                  </a:solidFill>
                </a:rPr>
                <a:t>PSC tips</a:t>
              </a:r>
              <a:endParaRPr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66;p13"/>
          <p:cNvSpPr txBox="1"/>
          <p:nvPr/>
        </p:nvSpPr>
        <p:spPr>
          <a:xfrm>
            <a:off x="2826219" y="5373628"/>
            <a:ext cx="30541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300" y="1983704"/>
            <a:ext cx="761785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- To check your running jobs, use:</a:t>
            </a:r>
            <a:endParaRPr lang="en-US" sz="1600" dirty="0"/>
          </a:p>
          <a:p>
            <a:r>
              <a:rPr lang="en-US" sz="1600" dirty="0"/>
              <a:t>	</a:t>
            </a:r>
            <a:r>
              <a:rPr lang="en-US" sz="1600" dirty="0" err="1"/>
              <a:t>squeue</a:t>
            </a:r>
            <a:r>
              <a:rPr lang="en-US" sz="1600" dirty="0"/>
              <a:t> -u $USER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This shows your current job status. The columns mean:</a:t>
            </a:r>
            <a:endParaRPr lang="en-US" sz="1600" dirty="0"/>
          </a:p>
          <a:p>
            <a:r>
              <a:rPr lang="en-US" sz="1600" b="1" dirty="0"/>
              <a:t>JOBID</a:t>
            </a:r>
            <a:r>
              <a:rPr lang="en-US" sz="1600" dirty="0"/>
              <a:t>: your job ID (unique number)</a:t>
            </a:r>
            <a:endParaRPr lang="en-US" sz="1600" dirty="0"/>
          </a:p>
          <a:p>
            <a:r>
              <a:rPr lang="en-US" sz="1600" b="1" dirty="0"/>
              <a:t>PARTITION</a:t>
            </a:r>
            <a:r>
              <a:rPr lang="en-US" sz="1600" dirty="0"/>
              <a:t>: which queue you are in (e.g. GPU-shared)</a:t>
            </a:r>
            <a:endParaRPr lang="en-US" sz="1600" dirty="0"/>
          </a:p>
          <a:p>
            <a:r>
              <a:rPr lang="en-US" sz="1600" b="1" dirty="0"/>
              <a:t>NAME</a:t>
            </a:r>
            <a:r>
              <a:rPr lang="en-US" sz="1600" dirty="0"/>
              <a:t>: job name (e.g. Interact)</a:t>
            </a:r>
            <a:endParaRPr lang="en-US" sz="1600" dirty="0"/>
          </a:p>
          <a:p>
            <a:r>
              <a:rPr lang="en-US" sz="1600" b="1" dirty="0"/>
              <a:t>USER</a:t>
            </a:r>
            <a:r>
              <a:rPr lang="en-US" sz="1600" dirty="0"/>
              <a:t>: your username</a:t>
            </a:r>
            <a:endParaRPr lang="en-US" sz="1600" dirty="0"/>
          </a:p>
          <a:p>
            <a:r>
              <a:rPr lang="en-US" sz="1600" b="1" dirty="0"/>
              <a:t>ST</a:t>
            </a:r>
            <a:r>
              <a:rPr lang="en-US" sz="1600" dirty="0"/>
              <a:t>: status (R = running, PD = pending, etc.)</a:t>
            </a:r>
            <a:endParaRPr lang="en-US" sz="1600" dirty="0"/>
          </a:p>
          <a:p>
            <a:r>
              <a:rPr lang="en-US" sz="1600" b="1" dirty="0"/>
              <a:t>TIME</a:t>
            </a:r>
            <a:r>
              <a:rPr lang="en-US" sz="1600" dirty="0"/>
              <a:t>: how long the job has been running</a:t>
            </a:r>
            <a:endParaRPr lang="en-US" sz="1600" dirty="0"/>
          </a:p>
          <a:p>
            <a:r>
              <a:rPr lang="en-US" sz="1600" b="1" dirty="0"/>
              <a:t>NODELIST</a:t>
            </a:r>
            <a:r>
              <a:rPr lang="en-US" sz="1600" dirty="0"/>
              <a:t>: which compute node you are on (e.g. v002)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1046203"/>
            <a:ext cx="7581900" cy="558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971731" y="1043473"/>
            <a:ext cx="1479391" cy="215057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78" name="Google Shape;78;p14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</a:rPr>
              <a:t>PSC tips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</a:t>
              </a:r>
              <a:r>
                <a:rPr lang="en-GB" sz="800" dirty="0" err="1">
                  <a:solidFill>
                    <a:schemeClr val="tx1"/>
                  </a:solidFill>
                </a:rPr>
                <a:t>VSCode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3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b="1" dirty="0">
                  <a:solidFill>
                    <a:schemeClr val="bg1"/>
                  </a:solidFill>
                </a:rPr>
                <a:t>PSC tips</a:t>
              </a:r>
              <a:endParaRPr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66;p13"/>
          <p:cNvSpPr txBox="1"/>
          <p:nvPr/>
        </p:nvSpPr>
        <p:spPr>
          <a:xfrm>
            <a:off x="2826219" y="5373628"/>
            <a:ext cx="30541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9100" y="2368145"/>
            <a:ext cx="76178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-If you </a:t>
            </a:r>
            <a:r>
              <a:rPr lang="en-US" sz="1600" b="1" dirty="0"/>
              <a:t>get disconnected </a:t>
            </a:r>
            <a:r>
              <a:rPr lang="en-US" sz="1600" dirty="0"/>
              <a:t>(e.g. network drop, terminal crash), your GPU job is still running in the background. Since you cannot start another GPU job before finishing the previous one, you can reattach by: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	ssh &lt;node&gt;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For example, if </a:t>
            </a:r>
            <a:r>
              <a:rPr lang="en-US" sz="1600" dirty="0" err="1"/>
              <a:t>squeue</a:t>
            </a:r>
            <a:r>
              <a:rPr lang="en-US" sz="1600" dirty="0"/>
              <a:t> shows v019, then run ssh v019.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0" y="1033502"/>
            <a:ext cx="7645400" cy="1143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18788" y="1386348"/>
            <a:ext cx="648929" cy="218654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035277" y="1555841"/>
            <a:ext cx="943896" cy="218654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800" dirty="0">
                <a:solidFill>
                  <a:schemeClr val="dk1"/>
                </a:solidFill>
              </a:rPr>
              <a:t>PSC tips</a:t>
            </a:r>
            <a:endParaRPr lang="en-US" sz="1800" dirty="0">
              <a:solidFill>
                <a:schemeClr val="dk1"/>
              </a:solidFill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8" name="Google Shape;298;p2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301" name="Google Shape;301;p2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pic>
        <p:nvPicPr>
          <p:cNvPr id="3" name="Picture 2" descr="A black screen with white text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070" y="1179447"/>
            <a:ext cx="8109679" cy="13965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3149" y="2857500"/>
            <a:ext cx="7617851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If you are DONE with your work but still have GPU time left, </a:t>
            </a:r>
            <a:r>
              <a:rPr lang="en-US" sz="1600" dirty="0"/>
              <a:t>please</a:t>
            </a:r>
            <a:r>
              <a:rPr lang="en-US" dirty="0"/>
              <a:t> </a:t>
            </a:r>
            <a:r>
              <a:rPr lang="en-US" b="1" dirty="0"/>
              <a:t>release the resource </a:t>
            </a:r>
            <a:r>
              <a:rPr lang="en-US" dirty="0"/>
              <a:t>with: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scancel</a:t>
            </a:r>
            <a:r>
              <a:rPr lang="en-US" dirty="0"/>
              <a:t> &lt;JOBID&gt;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6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9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</a:t>
              </a:r>
              <a:r>
                <a:rPr lang="en-GB" sz="800" dirty="0" err="1">
                  <a:solidFill>
                    <a:schemeClr val="tx1"/>
                  </a:solidFill>
                </a:rPr>
                <a:t>VSCode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10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b="1" dirty="0">
                  <a:solidFill>
                    <a:schemeClr val="bg1"/>
                  </a:solidFill>
                </a:rPr>
                <a:t>PSC tips</a:t>
              </a:r>
              <a:endParaRPr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1317160" y="1514167"/>
            <a:ext cx="1077360" cy="14748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/>
        </p:nvSpPr>
        <p:spPr>
          <a:xfrm>
            <a:off x="228600" y="228601"/>
            <a:ext cx="779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800" dirty="0">
                <a:solidFill>
                  <a:schemeClr val="dk1"/>
                </a:solidFill>
              </a:rPr>
              <a:t>PSC tips</a:t>
            </a:r>
            <a:endParaRPr lang="en-US" sz="1800" dirty="0">
              <a:solidFill>
                <a:schemeClr val="dk1"/>
              </a:solidFill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8" name="Google Shape;298;p2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301" name="Google Shape;301;p2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8" name="TextBox 7"/>
          <p:cNvSpPr txBox="1"/>
          <p:nvPr/>
        </p:nvSpPr>
        <p:spPr>
          <a:xfrm>
            <a:off x="287264" y="1224280"/>
            <a:ext cx="7617851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you can’t connect with VSCode, it might because the 25GB personal storage quota is full, and vscode server can’t be downloaded on PSC.</a:t>
            </a:r>
            <a:endParaRPr lang="en-US" dirty="0"/>
          </a:p>
          <a:p>
            <a:endParaRPr lang="en-US" dirty="0"/>
          </a:p>
          <a:p>
            <a:r>
              <a:rPr lang="en-US" dirty="0"/>
              <a:t>What we can do is to use Terminal to connect and clean up the space.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6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9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</a:t>
              </a:r>
              <a:r>
                <a:rPr lang="en-GB" sz="800" dirty="0" err="1">
                  <a:solidFill>
                    <a:schemeClr val="tx1"/>
                  </a:solidFill>
                </a:rPr>
                <a:t>VSCode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10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b="1" dirty="0">
                  <a:solidFill>
                    <a:schemeClr val="bg1"/>
                  </a:solidFill>
                </a:rPr>
                <a:t>PSC tips</a:t>
              </a:r>
              <a:endParaRPr sz="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8242200" y="0"/>
            <a:ext cx="673200" cy="672300"/>
          </a:xfrm>
          <a:prstGeom prst="flowChartOffpageConnector">
            <a:avLst/>
          </a:prstGeom>
          <a:noFill/>
          <a:ln w="9525" cap="flat" cmpd="sng">
            <a:solidFill>
              <a:srgbClr val="A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14"/>
          <p:cNvSpPr txBox="1"/>
          <p:nvPr/>
        </p:nvSpPr>
        <p:spPr>
          <a:xfrm>
            <a:off x="8242200" y="0"/>
            <a:ext cx="6732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11-785</a:t>
            </a: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br>
              <a:rPr lang="en-GB" sz="600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Introduction to </a:t>
            </a:r>
            <a:b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</a:br>
            <a:r>
              <a:rPr lang="en-GB" sz="600" b="1">
                <a:solidFill>
                  <a:srgbClr val="A8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Deep Learning</a:t>
            </a:r>
            <a:endParaRPr sz="100"/>
          </a:p>
        </p:txBody>
      </p:sp>
      <p:sp>
        <p:nvSpPr>
          <p:cNvPr id="93" name="Google Shape;93;p14"/>
          <p:cNvSpPr/>
          <p:nvPr/>
        </p:nvSpPr>
        <p:spPr>
          <a:xfrm>
            <a:off x="228600" y="685800"/>
            <a:ext cx="7772400" cy="183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5" name="Group 4"/>
          <p:cNvGrpSpPr/>
          <p:nvPr/>
        </p:nvGrpSpPr>
        <p:grpSpPr>
          <a:xfrm>
            <a:off x="287070" y="5162613"/>
            <a:ext cx="8628330" cy="228600"/>
            <a:chOff x="450302" y="5256435"/>
            <a:chExt cx="8628330" cy="228600"/>
          </a:xfrm>
        </p:grpSpPr>
        <p:sp>
          <p:nvSpPr>
            <p:cNvPr id="73" name="Google Shape;73;p14"/>
            <p:cNvSpPr/>
            <p:nvPr/>
          </p:nvSpPr>
          <p:spPr>
            <a:xfrm>
              <a:off x="450302" y="5256435"/>
              <a:ext cx="2158500" cy="228600"/>
            </a:xfrm>
            <a:prstGeom prst="homePlate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90204"/>
                <a:buNone/>
              </a:pPr>
              <a:r>
                <a:rPr lang="en-GB" sz="800" dirty="0">
                  <a:solidFill>
                    <a:schemeClr val="tx1"/>
                  </a:solidFill>
                </a:rPr>
                <a:t>What is PSC? 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60691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terminal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763522" y="5256435"/>
              <a:ext cx="2158500" cy="228600"/>
            </a:xfrm>
            <a:prstGeom prst="chevron">
              <a:avLst>
                <a:gd name="adj" fmla="val 50000"/>
              </a:avLst>
            </a:prstGeom>
            <a:noFill/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dirty="0">
                  <a:solidFill>
                    <a:schemeClr val="tx1"/>
                  </a:solidFill>
                </a:rPr>
                <a:t>How to connect via </a:t>
              </a:r>
              <a:r>
                <a:rPr lang="en-GB" sz="800" dirty="0" err="1">
                  <a:solidFill>
                    <a:schemeClr val="tx1"/>
                  </a:solidFill>
                </a:rPr>
                <a:t>VSCode</a:t>
              </a:r>
              <a:endParaRPr sz="800" dirty="0">
                <a:solidFill>
                  <a:schemeClr val="tx1"/>
                </a:solidFill>
              </a:endParaRPr>
            </a:p>
          </p:txBody>
        </p:sp>
        <p:sp>
          <p:nvSpPr>
            <p:cNvPr id="3" name="Google Shape;75;p14"/>
            <p:cNvSpPr/>
            <p:nvPr/>
          </p:nvSpPr>
          <p:spPr>
            <a:xfrm>
              <a:off x="6920132" y="5256435"/>
              <a:ext cx="2158500" cy="228600"/>
            </a:xfrm>
            <a:prstGeom prst="chevron">
              <a:avLst>
                <a:gd name="adj" fmla="val 50000"/>
              </a:avLst>
            </a:prstGeom>
            <a:solidFill>
              <a:srgbClr val="A80000"/>
            </a:solidFill>
            <a:ln w="9525" cap="flat" cmpd="sng">
              <a:solidFill>
                <a:srgbClr val="A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sz="800" b="1" dirty="0">
                  <a:solidFill>
                    <a:schemeClr val="bg1"/>
                  </a:solidFill>
                </a:rPr>
                <a:t>PSC tips</a:t>
              </a:r>
              <a:endParaRPr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66;p13"/>
          <p:cNvSpPr txBox="1"/>
          <p:nvPr/>
        </p:nvSpPr>
        <p:spPr>
          <a:xfrm>
            <a:off x="2826219" y="5373628"/>
            <a:ext cx="3054168" cy="36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</a:rPr>
              <a:t>TA: En Zheng (enzheng@</a:t>
            </a:r>
            <a:r>
              <a:rPr lang="en-US" sz="1100" dirty="0">
                <a:solidFill>
                  <a:schemeClr val="dk2"/>
                </a:solidFill>
              </a:rPr>
              <a:t>a</a:t>
            </a:r>
            <a:r>
              <a:rPr lang="en-GB" sz="1100" dirty="0" err="1">
                <a:solidFill>
                  <a:schemeClr val="dk2"/>
                </a:solidFill>
              </a:rPr>
              <a:t>ndrew.cmu.edu</a:t>
            </a:r>
            <a:r>
              <a:rPr lang="en-GB" sz="1100" dirty="0">
                <a:solidFill>
                  <a:schemeClr val="dk2"/>
                </a:solidFill>
              </a:rPr>
              <a:t>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8" name="Google Shape;78;p14"/>
          <p:cNvSpPr txBox="1"/>
          <p:nvPr/>
        </p:nvSpPr>
        <p:spPr>
          <a:xfrm>
            <a:off x="2279650" y="2400300"/>
            <a:ext cx="428117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</a:rPr>
              <a:t>How to connect via Antigravity</a:t>
            </a:r>
            <a:endParaRPr lang="en-US" sz="2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8504</Words>
  <Application>WPS Sheets</Application>
  <PresentationFormat>On-screen Show (16:10)</PresentationFormat>
  <Paragraphs>468</Paragraphs>
  <Slides>23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Arial</vt:lpstr>
      <vt:lpstr>SimSun</vt:lpstr>
      <vt:lpstr>Wingdings</vt:lpstr>
      <vt:lpstr>Arial</vt:lpstr>
      <vt:lpstr>Open Sans</vt:lpstr>
      <vt:lpstr>Microsoft YaHei</vt:lpstr>
      <vt:lpstr>汉仪旗黑</vt:lpstr>
      <vt:lpstr>Arial Unicode MS</vt:lpstr>
      <vt:lpstr>宋体-简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PengYu Chang</cp:lastModifiedBy>
  <cp:revision>16</cp:revision>
  <dcterms:created xsi:type="dcterms:W3CDTF">2026-07-27T02:48:45Z</dcterms:created>
  <dcterms:modified xsi:type="dcterms:W3CDTF">2026-07-27T02:48:45Z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3775C2A6D622D6A34D45656A5CB3A689_42</vt:lpwstr>
  </property>
  <property fmtid="{D5CDD505-2E9C-101B-9397-08002B2CF9AE}" pid="3" name="KSOProductBuildVer">
    <vt:lpwstr>1033-12.1.23155.23155</vt:lpwstr>
  </property>
</Properties>
</file>