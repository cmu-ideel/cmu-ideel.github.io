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2"/>
  </p:notesMasterIdLst>
  <p:sldIdLst>
    <p:sldId id="256" r:id="rId2"/>
    <p:sldId id="257" r:id="rId3"/>
    <p:sldId id="258" r:id="rId4"/>
    <p:sldId id="276" r:id="rId5"/>
    <p:sldId id="284" r:id="rId6"/>
    <p:sldId id="285" r:id="rId7"/>
    <p:sldId id="280" r:id="rId8"/>
    <p:sldId id="281" r:id="rId9"/>
    <p:sldId id="292" r:id="rId10"/>
    <p:sldId id="293" r:id="rId11"/>
    <p:sldId id="290" r:id="rId12"/>
    <p:sldId id="291" r:id="rId13"/>
    <p:sldId id="282" r:id="rId14"/>
    <p:sldId id="289" r:id="rId15"/>
    <p:sldId id="283" r:id="rId16"/>
    <p:sldId id="287" r:id="rId17"/>
    <p:sldId id="278" r:id="rId18"/>
    <p:sldId id="286" r:id="rId19"/>
    <p:sldId id="279" r:id="rId20"/>
    <p:sldId id="274" r:id="rId21"/>
  </p:sldIdLst>
  <p:sldSz cx="9144000" cy="5715000" type="screen16x10"/>
  <p:notesSz cx="6858000" cy="9144000"/>
  <p:embeddedFontLst>
    <p:embeddedFont>
      <p:font typeface="Open Sans" panose="020B0606030504020204" pitchFamily="34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144">
          <p15:clr>
            <a:srgbClr val="747775"/>
          </p15:clr>
        </p15:guide>
        <p15:guide id="2" pos="5616">
          <p15:clr>
            <a:srgbClr val="747775"/>
          </p15:clr>
        </p15:guide>
        <p15:guide id="3" orient="horz" pos="432">
          <p15:clr>
            <a:srgbClr val="747775"/>
          </p15:clr>
        </p15:guide>
        <p15:guide id="4" orient="horz" pos="3168">
          <p15:clr>
            <a:srgbClr val="747775"/>
          </p15:clr>
        </p15:guide>
        <p15:guide id="5" orient="horz" pos="686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8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32"/>
    <p:restoredTop sz="94646"/>
  </p:normalViewPr>
  <p:slideViewPr>
    <p:cSldViewPr snapToGrid="0">
      <p:cViewPr varScale="1">
        <p:scale>
          <a:sx n="130" d="100"/>
          <a:sy n="130" d="100"/>
        </p:scale>
        <p:origin x="1048" y="184"/>
      </p:cViewPr>
      <p:guideLst>
        <p:guide pos="144"/>
        <p:guide pos="5616"/>
        <p:guide orient="horz" pos="432"/>
        <p:guide orient="horz" pos="3168"/>
        <p:guide orient="horz" pos="68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686098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2290838fa7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2290838fa7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b244c5c05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g3b244c5c05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4185A0FF-A134-363F-5D16-A0A9CABBD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2290838fa7_0_207:notes">
            <a:extLst>
              <a:ext uri="{FF2B5EF4-FFF2-40B4-BE49-F238E27FC236}">
                <a16:creationId xmlns:a16="http://schemas.microsoft.com/office/drawing/2014/main" id="{49CFAAB3-8D25-0163-AE0B-C64DE48829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2290838fa7_0_207:notes">
            <a:extLst>
              <a:ext uri="{FF2B5EF4-FFF2-40B4-BE49-F238E27FC236}">
                <a16:creationId xmlns:a16="http://schemas.microsoft.com/office/drawing/2014/main" id="{D1DED278-8587-CE82-79D3-AE55CB7E50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8596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68A13B56-7B31-FE40-E163-B2F17F3B6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2290838fa7_0_207:notes">
            <a:extLst>
              <a:ext uri="{FF2B5EF4-FFF2-40B4-BE49-F238E27FC236}">
                <a16:creationId xmlns:a16="http://schemas.microsoft.com/office/drawing/2014/main" id="{0682DCBD-AED2-E243-EA19-84F080CF52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2290838fa7_0_207:notes">
            <a:extLst>
              <a:ext uri="{FF2B5EF4-FFF2-40B4-BE49-F238E27FC236}">
                <a16:creationId xmlns:a16="http://schemas.microsoft.com/office/drawing/2014/main" id="{DF2FFF17-4D32-CAA0-E77C-2AF2F291A2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23091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2A1E0066-4798-0D73-F76A-A6FE6C2A1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2290838fa7_0_207:notes">
            <a:extLst>
              <a:ext uri="{FF2B5EF4-FFF2-40B4-BE49-F238E27FC236}">
                <a16:creationId xmlns:a16="http://schemas.microsoft.com/office/drawing/2014/main" id="{AD1F7924-E5B1-FB6A-B947-08D40FCD1F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2290838fa7_0_207:notes">
            <a:extLst>
              <a:ext uri="{FF2B5EF4-FFF2-40B4-BE49-F238E27FC236}">
                <a16:creationId xmlns:a16="http://schemas.microsoft.com/office/drawing/2014/main" id="{5F2302A2-D2BB-A4C7-773E-7318BB29FB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20642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D486C2B3-FBE2-EFEA-D3D4-D6CF2C8B7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2290838fa7_0_207:notes">
            <a:extLst>
              <a:ext uri="{FF2B5EF4-FFF2-40B4-BE49-F238E27FC236}">
                <a16:creationId xmlns:a16="http://schemas.microsoft.com/office/drawing/2014/main" id="{16668CA6-EC25-3BF5-189F-AA6BEA12FA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2290838fa7_0_207:notes">
            <a:extLst>
              <a:ext uri="{FF2B5EF4-FFF2-40B4-BE49-F238E27FC236}">
                <a16:creationId xmlns:a16="http://schemas.microsoft.com/office/drawing/2014/main" id="{5C0CA0FA-1CC7-21C9-6DD4-1DD6EF244A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49085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0D0D2B6C-2FDE-0A76-1D34-C7BCE91E6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2290838fa7_0_207:notes">
            <a:extLst>
              <a:ext uri="{FF2B5EF4-FFF2-40B4-BE49-F238E27FC236}">
                <a16:creationId xmlns:a16="http://schemas.microsoft.com/office/drawing/2014/main" id="{20F8DA75-A9A9-AFA6-882D-68904EEF66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2290838fa7_0_207:notes">
            <a:extLst>
              <a:ext uri="{FF2B5EF4-FFF2-40B4-BE49-F238E27FC236}">
                <a16:creationId xmlns:a16="http://schemas.microsoft.com/office/drawing/2014/main" id="{99415FB1-959C-B782-9243-8D13CD5496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055244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A527D6A0-A285-F452-3899-A09743EF0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2290838fa7_0_207:notes">
            <a:extLst>
              <a:ext uri="{FF2B5EF4-FFF2-40B4-BE49-F238E27FC236}">
                <a16:creationId xmlns:a16="http://schemas.microsoft.com/office/drawing/2014/main" id="{CAA64229-FCE0-E0FA-365E-5CE463C103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2290838fa7_0_207:notes">
            <a:extLst>
              <a:ext uri="{FF2B5EF4-FFF2-40B4-BE49-F238E27FC236}">
                <a16:creationId xmlns:a16="http://schemas.microsoft.com/office/drawing/2014/main" id="{D9DEE621-E511-2EBC-4E74-3A02106231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30211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B43A515B-D66C-1C03-E68D-C3CD6D4B9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2290838fa7_0_207:notes">
            <a:extLst>
              <a:ext uri="{FF2B5EF4-FFF2-40B4-BE49-F238E27FC236}">
                <a16:creationId xmlns:a16="http://schemas.microsoft.com/office/drawing/2014/main" id="{F8676121-302E-CBAC-48C7-49B4D05C06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2290838fa7_0_207:notes">
            <a:extLst>
              <a:ext uri="{FF2B5EF4-FFF2-40B4-BE49-F238E27FC236}">
                <a16:creationId xmlns:a16="http://schemas.microsoft.com/office/drawing/2014/main" id="{06D1B1DA-87C3-9597-B5F5-6CE60B324B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473748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3C472858-CAE3-B23C-879E-A00900724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2290838fa7_0_207:notes">
            <a:extLst>
              <a:ext uri="{FF2B5EF4-FFF2-40B4-BE49-F238E27FC236}">
                <a16:creationId xmlns:a16="http://schemas.microsoft.com/office/drawing/2014/main" id="{87B22684-16FA-622C-630A-7CCADB2B39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2290838fa7_0_207:notes">
            <a:extLst>
              <a:ext uri="{FF2B5EF4-FFF2-40B4-BE49-F238E27FC236}">
                <a16:creationId xmlns:a16="http://schemas.microsoft.com/office/drawing/2014/main" id="{CB1E954B-6D89-4EC6-20EB-23EBF602D8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983968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4EF50A6D-C678-243E-33CB-D8AD6FCCD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2290838fa7_0_207:notes">
            <a:extLst>
              <a:ext uri="{FF2B5EF4-FFF2-40B4-BE49-F238E27FC236}">
                <a16:creationId xmlns:a16="http://schemas.microsoft.com/office/drawing/2014/main" id="{F9DC909A-C87B-64FF-615B-372C6CFED2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2290838fa7_0_207:notes">
            <a:extLst>
              <a:ext uri="{FF2B5EF4-FFF2-40B4-BE49-F238E27FC236}">
                <a16:creationId xmlns:a16="http://schemas.microsoft.com/office/drawing/2014/main" id="{6E1AF073-6BCA-4B0A-1FF4-0DF066EC1A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387016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705A6DB9-187D-D89D-4342-A925B3F6A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2290838fa7_0_207:notes">
            <a:extLst>
              <a:ext uri="{FF2B5EF4-FFF2-40B4-BE49-F238E27FC236}">
                <a16:creationId xmlns:a16="http://schemas.microsoft.com/office/drawing/2014/main" id="{D6BEF00F-8F7F-5EB7-8652-F5640472CF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2290838fa7_0_207:notes">
            <a:extLst>
              <a:ext uri="{FF2B5EF4-FFF2-40B4-BE49-F238E27FC236}">
                <a16:creationId xmlns:a16="http://schemas.microsoft.com/office/drawing/2014/main" id="{AFD2C4B0-F124-8D29-5086-091A77AFF6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59400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7B706047-0DF4-494F-DD69-27A810EF8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2290838fa7_0_207:notes">
            <a:extLst>
              <a:ext uri="{FF2B5EF4-FFF2-40B4-BE49-F238E27FC236}">
                <a16:creationId xmlns:a16="http://schemas.microsoft.com/office/drawing/2014/main" id="{516430F8-1181-20F1-D68D-1291E2EA11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2290838fa7_0_207:notes">
            <a:extLst>
              <a:ext uri="{FF2B5EF4-FFF2-40B4-BE49-F238E27FC236}">
                <a16:creationId xmlns:a16="http://schemas.microsoft.com/office/drawing/2014/main" id="{65055336-EC98-08F9-25C8-194E9695D5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750011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162FB60E-C19C-0BC1-F0D2-5FE064527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2290838fa7_0_207:notes">
            <a:extLst>
              <a:ext uri="{FF2B5EF4-FFF2-40B4-BE49-F238E27FC236}">
                <a16:creationId xmlns:a16="http://schemas.microsoft.com/office/drawing/2014/main" id="{06366743-C8CF-935B-534C-B29FA52F14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2290838fa7_0_207:notes">
            <a:extLst>
              <a:ext uri="{FF2B5EF4-FFF2-40B4-BE49-F238E27FC236}">
                <a16:creationId xmlns:a16="http://schemas.microsoft.com/office/drawing/2014/main" id="{89A721F1-2421-62A0-C253-FA9FECD280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488323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A5470886-263E-B452-335D-217435E00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2290838fa7_0_207:notes">
            <a:extLst>
              <a:ext uri="{FF2B5EF4-FFF2-40B4-BE49-F238E27FC236}">
                <a16:creationId xmlns:a16="http://schemas.microsoft.com/office/drawing/2014/main" id="{EF6A9656-5973-2892-9C26-EAAC014C8F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2290838fa7_0_207:notes">
            <a:extLst>
              <a:ext uri="{FF2B5EF4-FFF2-40B4-BE49-F238E27FC236}">
                <a16:creationId xmlns:a16="http://schemas.microsoft.com/office/drawing/2014/main" id="{2C8E4B9D-F87A-7445-EC2C-DF80791D2D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97422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3ABDBF1A-F3A7-8D9A-5148-594F46EB0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2290838fa7_0_207:notes">
            <a:extLst>
              <a:ext uri="{FF2B5EF4-FFF2-40B4-BE49-F238E27FC236}">
                <a16:creationId xmlns:a16="http://schemas.microsoft.com/office/drawing/2014/main" id="{69778AA8-B546-A3DD-278C-D17CF4A670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2290838fa7_0_207:notes">
            <a:extLst>
              <a:ext uri="{FF2B5EF4-FFF2-40B4-BE49-F238E27FC236}">
                <a16:creationId xmlns:a16="http://schemas.microsoft.com/office/drawing/2014/main" id="{85C69BB9-E7F5-A5B4-53DB-26F04001CB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3263329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0B90B97D-232F-21DB-3A21-D8CB31CC4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2290838fa7_0_207:notes">
            <a:extLst>
              <a:ext uri="{FF2B5EF4-FFF2-40B4-BE49-F238E27FC236}">
                <a16:creationId xmlns:a16="http://schemas.microsoft.com/office/drawing/2014/main" id="{425C4F4C-9FAE-1B21-F8DA-ED3502B69A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2290838fa7_0_207:notes">
            <a:extLst>
              <a:ext uri="{FF2B5EF4-FFF2-40B4-BE49-F238E27FC236}">
                <a16:creationId xmlns:a16="http://schemas.microsoft.com/office/drawing/2014/main" id="{FDD52CA7-2ADF-5DEF-B8A3-4BF583B644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2961456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F9559762-0F86-2FB6-8EB9-224E9B80A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2290838fa7_0_207:notes">
            <a:extLst>
              <a:ext uri="{FF2B5EF4-FFF2-40B4-BE49-F238E27FC236}">
                <a16:creationId xmlns:a16="http://schemas.microsoft.com/office/drawing/2014/main" id="{C68DE43B-E109-D886-8748-E5FF19717A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2290838fa7_0_207:notes">
            <a:extLst>
              <a:ext uri="{FF2B5EF4-FFF2-40B4-BE49-F238E27FC236}">
                <a16:creationId xmlns:a16="http://schemas.microsoft.com/office/drawing/2014/main" id="{46E62375-EA49-2968-02EB-A9833C7FB9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0267068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>
          <a:extLst>
            <a:ext uri="{FF2B5EF4-FFF2-40B4-BE49-F238E27FC236}">
              <a16:creationId xmlns:a16="http://schemas.microsoft.com/office/drawing/2014/main" id="{8F2878D4-5D2C-DD53-D4DD-187B2A884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61db036925_0_1:notes">
            <a:extLst>
              <a:ext uri="{FF2B5EF4-FFF2-40B4-BE49-F238E27FC236}">
                <a16:creationId xmlns:a16="http://schemas.microsoft.com/office/drawing/2014/main" id="{BB507C80-7BD8-D4C0-1DE0-E64D84C7B8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61db036925_0_1:notes">
            <a:extLst>
              <a:ext uri="{FF2B5EF4-FFF2-40B4-BE49-F238E27FC236}">
                <a16:creationId xmlns:a16="http://schemas.microsoft.com/office/drawing/2014/main" id="{5ED24C54-DBC2-5EAB-3FA8-7B4F7FE9B1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819135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827306"/>
            <a:ext cx="8520600" cy="228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149028"/>
            <a:ext cx="8520600" cy="88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389833"/>
            <a:ext cx="8520600" cy="93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280528"/>
            <a:ext cx="3999900" cy="37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280528"/>
            <a:ext cx="3999900" cy="37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617333"/>
            <a:ext cx="2808000" cy="83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544000"/>
            <a:ext cx="2808000" cy="353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500167"/>
            <a:ext cx="6367800" cy="454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39"/>
            <a:ext cx="4572000" cy="5715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370194"/>
            <a:ext cx="4045200" cy="164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3114528"/>
            <a:ext cx="4045200" cy="137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804528"/>
            <a:ext cx="3837000" cy="410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700639"/>
            <a:ext cx="5998800" cy="67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29028"/>
            <a:ext cx="8520600" cy="218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502472"/>
            <a:ext cx="8520600" cy="144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://flaticon.com" TargetMode="Externa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flaticon.com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visualstudio.com/docs/remote/ssh-tutorial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marketplace.visualstudio.com/items?itemName=ms-vscode-remote.remote-ssh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8242200" y="0"/>
            <a:ext cx="673200" cy="672300"/>
          </a:xfrm>
          <a:prstGeom prst="flowChartOffpageConnector">
            <a:avLst/>
          </a:prstGeom>
          <a:noFill/>
          <a:ln w="9525" cap="flat" cmpd="sng">
            <a:solidFill>
              <a:srgbClr val="A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8242200" y="0"/>
            <a:ext cx="6732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  <a:t>11-785</a:t>
            </a:r>
            <a:br>
              <a:rPr lang="en" sz="600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br>
              <a:rPr lang="en" sz="600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  <a:t>Introduction to </a:t>
            </a:r>
            <a:b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  <a:t>Deep Learning</a:t>
            </a:r>
            <a:endParaRPr sz="10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4DA010A-2673-93AE-03FB-2C0BAC6C5D5E}"/>
              </a:ext>
            </a:extLst>
          </p:cNvPr>
          <p:cNvGrpSpPr/>
          <p:nvPr/>
        </p:nvGrpSpPr>
        <p:grpSpPr>
          <a:xfrm>
            <a:off x="444910" y="972595"/>
            <a:ext cx="4343325" cy="739200"/>
            <a:chOff x="228600" y="1088825"/>
            <a:chExt cx="4343325" cy="739200"/>
          </a:xfrm>
        </p:grpSpPr>
        <p:sp>
          <p:nvSpPr>
            <p:cNvPr id="56" name="Google Shape;56;p13"/>
            <p:cNvSpPr/>
            <p:nvPr/>
          </p:nvSpPr>
          <p:spPr>
            <a:xfrm>
              <a:off x="758325" y="1088825"/>
              <a:ext cx="3813600" cy="7392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dirty="0">
                  <a:solidFill>
                    <a:schemeClr val="dk1"/>
                  </a:solidFill>
                </a:rPr>
                <a:t>   What is PSC? </a:t>
              </a:r>
              <a:endParaRPr dirty="0">
                <a:solidFill>
                  <a:schemeClr val="dk1"/>
                </a:solidFill>
              </a:endParaRPr>
            </a:p>
          </p:txBody>
        </p:sp>
        <p:sp>
          <p:nvSpPr>
            <p:cNvPr id="57" name="Google Shape;57;p13"/>
            <p:cNvSpPr/>
            <p:nvPr/>
          </p:nvSpPr>
          <p:spPr>
            <a:xfrm>
              <a:off x="228600" y="1181238"/>
              <a:ext cx="673200" cy="5544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lt1"/>
            </a:solidFill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1</a:t>
              </a:r>
              <a:endParaRPr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404A8703-4891-9AD8-7285-6145340E44B5}"/>
              </a:ext>
            </a:extLst>
          </p:cNvPr>
          <p:cNvGrpSpPr/>
          <p:nvPr/>
        </p:nvGrpSpPr>
        <p:grpSpPr>
          <a:xfrm>
            <a:off x="444910" y="2008864"/>
            <a:ext cx="4343325" cy="739200"/>
            <a:chOff x="228600" y="2202764"/>
            <a:chExt cx="4343325" cy="739200"/>
          </a:xfrm>
        </p:grpSpPr>
        <p:sp>
          <p:nvSpPr>
            <p:cNvPr id="58" name="Google Shape;58;p13"/>
            <p:cNvSpPr/>
            <p:nvPr/>
          </p:nvSpPr>
          <p:spPr>
            <a:xfrm>
              <a:off x="758325" y="2202764"/>
              <a:ext cx="3813600" cy="7392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chemeClr val="dk1"/>
                  </a:solidFill>
                </a:rPr>
                <a:t>   How to connect via terminal</a:t>
              </a:r>
              <a:endParaRPr dirty="0">
                <a:solidFill>
                  <a:schemeClr val="dk1"/>
                </a:solidFill>
              </a:endParaRPr>
            </a:p>
          </p:txBody>
        </p:sp>
        <p:sp>
          <p:nvSpPr>
            <p:cNvPr id="59" name="Google Shape;59;p13"/>
            <p:cNvSpPr/>
            <p:nvPr/>
          </p:nvSpPr>
          <p:spPr>
            <a:xfrm>
              <a:off x="228600" y="2295187"/>
              <a:ext cx="673200" cy="5544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lt1"/>
            </a:solidFill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/>
                <a:t>2</a:t>
              </a:r>
              <a:endParaRPr dirty="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B911CAE-1CFF-5854-A518-6735F7BF6B88}"/>
              </a:ext>
            </a:extLst>
          </p:cNvPr>
          <p:cNvGrpSpPr/>
          <p:nvPr/>
        </p:nvGrpSpPr>
        <p:grpSpPr>
          <a:xfrm>
            <a:off x="444910" y="3045133"/>
            <a:ext cx="4343325" cy="739200"/>
            <a:chOff x="228600" y="3316704"/>
            <a:chExt cx="4343325" cy="739200"/>
          </a:xfrm>
        </p:grpSpPr>
        <p:sp>
          <p:nvSpPr>
            <p:cNvPr id="60" name="Google Shape;60;p13"/>
            <p:cNvSpPr/>
            <p:nvPr/>
          </p:nvSpPr>
          <p:spPr>
            <a:xfrm>
              <a:off x="758325" y="3316704"/>
              <a:ext cx="3813600" cy="7392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/>
              <a:r>
                <a:rPr lang="en" dirty="0">
                  <a:solidFill>
                    <a:schemeClr val="dk1"/>
                  </a:solidFill>
                </a:rPr>
                <a:t>   How to connect via </a:t>
              </a:r>
              <a:r>
                <a:rPr lang="en" dirty="0" err="1">
                  <a:solidFill>
                    <a:schemeClr val="dk1"/>
                  </a:solidFill>
                </a:rPr>
                <a:t>VSCode</a:t>
              </a:r>
              <a:endParaRPr dirty="0">
                <a:solidFill>
                  <a:schemeClr val="dk1"/>
                </a:solidFill>
              </a:endParaRPr>
            </a:p>
          </p:txBody>
        </p:sp>
        <p:sp>
          <p:nvSpPr>
            <p:cNvPr id="61" name="Google Shape;61;p13"/>
            <p:cNvSpPr/>
            <p:nvPr/>
          </p:nvSpPr>
          <p:spPr>
            <a:xfrm>
              <a:off x="228600" y="3409137"/>
              <a:ext cx="673200" cy="5544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lt1"/>
            </a:solidFill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3</a:t>
              </a:r>
              <a:endParaRPr/>
            </a:p>
          </p:txBody>
        </p:sp>
      </p:grpSp>
      <p:sp>
        <p:nvSpPr>
          <p:cNvPr id="62" name="Google Shape;62;p13"/>
          <p:cNvSpPr txBox="1"/>
          <p:nvPr/>
        </p:nvSpPr>
        <p:spPr>
          <a:xfrm>
            <a:off x="228600" y="228601"/>
            <a:ext cx="7791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</a:rPr>
              <a:t>Recitation 12: Pittsburgh Supercomputing Cluster</a:t>
            </a:r>
            <a:endParaRPr sz="1800" dirty="0">
              <a:solidFill>
                <a:schemeClr val="dk1"/>
              </a:solidFill>
            </a:endParaRPr>
          </a:p>
        </p:txBody>
      </p:sp>
      <p:pic>
        <p:nvPicPr>
          <p:cNvPr id="63" name="Google Shape;63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2150" y="972595"/>
            <a:ext cx="2830051" cy="10004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64" name="Google Shape;64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12150" y="2296486"/>
            <a:ext cx="2830050" cy="1061269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12150" y="3681176"/>
            <a:ext cx="2830050" cy="1061269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3"/>
          <p:cNvSpPr txBox="1"/>
          <p:nvPr/>
        </p:nvSpPr>
        <p:spPr>
          <a:xfrm>
            <a:off x="444910" y="4991755"/>
            <a:ext cx="4213200" cy="723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2"/>
                </a:solidFill>
              </a:rPr>
              <a:t>TA: En Zheng (enzheng@</a:t>
            </a:r>
            <a:r>
              <a:rPr lang="en-US" sz="1200" dirty="0">
                <a:solidFill>
                  <a:schemeClr val="dk2"/>
                </a:solidFill>
              </a:rPr>
              <a:t>a</a:t>
            </a:r>
            <a:r>
              <a:rPr lang="en" sz="1200" dirty="0" err="1">
                <a:solidFill>
                  <a:schemeClr val="dk2"/>
                </a:solidFill>
              </a:rPr>
              <a:t>ndrew.cmu.edu</a:t>
            </a:r>
            <a:r>
              <a:rPr lang="en" sz="1200" dirty="0">
                <a:solidFill>
                  <a:schemeClr val="dk2"/>
                </a:solidFill>
              </a:rPr>
              <a:t>)</a:t>
            </a:r>
          </a:p>
          <a:p>
            <a:pPr lvl="0">
              <a:lnSpc>
                <a:spcPts val="1440"/>
              </a:lnSpc>
            </a:pPr>
            <a:r>
              <a:rPr lang="en" sz="1200" dirty="0">
                <a:solidFill>
                  <a:schemeClr val="dk2"/>
                </a:solidFill>
              </a:rPr>
              <a:t>       </a:t>
            </a:r>
            <a:r>
              <a:rPr lang="en" sz="1200" dirty="0" err="1">
                <a:solidFill>
                  <a:schemeClr val="dk2"/>
                </a:solidFill>
              </a:rPr>
              <a:t>Yixiong</a:t>
            </a:r>
            <a:r>
              <a:rPr lang="en" sz="1200" dirty="0">
                <a:solidFill>
                  <a:schemeClr val="dk2"/>
                </a:solidFill>
              </a:rPr>
              <a:t> Fang (</a:t>
            </a:r>
            <a:r>
              <a:rPr lang="en-US" sz="1200" dirty="0">
                <a:solidFill>
                  <a:schemeClr val="dk2"/>
                </a:solidFill>
              </a:rPr>
              <a:t>yixiongf@andrew.cmu.edu</a:t>
            </a:r>
            <a:r>
              <a:rPr lang="en" sz="1200" dirty="0">
                <a:solidFill>
                  <a:schemeClr val="dk2"/>
                </a:solidFill>
              </a:rPr>
              <a:t>)</a:t>
            </a:r>
          </a:p>
          <a:p>
            <a:pPr lvl="0">
              <a:lnSpc>
                <a:spcPts val="1440"/>
              </a:lnSpc>
            </a:pPr>
            <a:r>
              <a:rPr lang="en-US" sz="1200" dirty="0">
                <a:solidFill>
                  <a:schemeClr val="dk2"/>
                </a:solidFill>
              </a:rPr>
              <a:t>       </a:t>
            </a:r>
            <a:r>
              <a:rPr lang="en-US" sz="1200" dirty="0" err="1">
                <a:solidFill>
                  <a:schemeClr val="dk2"/>
                </a:solidFill>
              </a:rPr>
              <a:t>Pengyu</a:t>
            </a:r>
            <a:r>
              <a:rPr lang="en-US" sz="1200" dirty="0">
                <a:solidFill>
                  <a:schemeClr val="dk2"/>
                </a:solidFill>
              </a:rPr>
              <a:t> Chang (</a:t>
            </a:r>
            <a:r>
              <a:rPr lang="en-US" sz="1200" dirty="0" err="1">
                <a:solidFill>
                  <a:schemeClr val="dk2"/>
                </a:solidFill>
              </a:rPr>
              <a:t>pengyuch@andrew.cmu.edu</a:t>
            </a:r>
            <a:r>
              <a:rPr lang="en-US" sz="1200" dirty="0">
                <a:solidFill>
                  <a:schemeClr val="dk2"/>
                </a:solidFill>
              </a:rPr>
              <a:t>)</a:t>
            </a:r>
            <a:endParaRPr sz="1200" dirty="0">
              <a:solidFill>
                <a:schemeClr val="dk2"/>
              </a:solidFill>
            </a:endParaRPr>
          </a:p>
        </p:txBody>
      </p:sp>
      <p:sp>
        <p:nvSpPr>
          <p:cNvPr id="67" name="Google Shape;67;p13"/>
          <p:cNvSpPr/>
          <p:nvPr/>
        </p:nvSpPr>
        <p:spPr>
          <a:xfrm>
            <a:off x="228600" y="685800"/>
            <a:ext cx="7772400" cy="18300"/>
          </a:xfrm>
          <a:prstGeom prst="rect">
            <a:avLst/>
          </a:prstGeom>
          <a:solidFill>
            <a:srgbClr val="A8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9BA2A22-8A80-61CA-1DDC-03FADD25D25E}"/>
              </a:ext>
            </a:extLst>
          </p:cNvPr>
          <p:cNvGrpSpPr/>
          <p:nvPr/>
        </p:nvGrpSpPr>
        <p:grpSpPr>
          <a:xfrm>
            <a:off x="444910" y="4081403"/>
            <a:ext cx="4343325" cy="739200"/>
            <a:chOff x="228600" y="4197633"/>
            <a:chExt cx="4343325" cy="739200"/>
          </a:xfrm>
        </p:grpSpPr>
        <p:sp>
          <p:nvSpPr>
            <p:cNvPr id="2" name="Google Shape;60;p13">
              <a:extLst>
                <a:ext uri="{FF2B5EF4-FFF2-40B4-BE49-F238E27FC236}">
                  <a16:creationId xmlns:a16="http://schemas.microsoft.com/office/drawing/2014/main" id="{1DB99FB7-7B68-CB45-3FAA-D9728412F8EF}"/>
                </a:ext>
              </a:extLst>
            </p:cNvPr>
            <p:cNvSpPr/>
            <p:nvPr/>
          </p:nvSpPr>
          <p:spPr>
            <a:xfrm>
              <a:off x="758325" y="4197633"/>
              <a:ext cx="3813600" cy="7392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chemeClr val="dk1"/>
                  </a:solidFill>
                </a:rPr>
                <a:t>   PSC tips</a:t>
              </a:r>
              <a:endParaRPr dirty="0">
                <a:solidFill>
                  <a:schemeClr val="dk1"/>
                </a:solidFill>
              </a:endParaRPr>
            </a:p>
          </p:txBody>
        </p:sp>
        <p:sp>
          <p:nvSpPr>
            <p:cNvPr id="3" name="Google Shape;61;p13">
              <a:extLst>
                <a:ext uri="{FF2B5EF4-FFF2-40B4-BE49-F238E27FC236}">
                  <a16:creationId xmlns:a16="http://schemas.microsoft.com/office/drawing/2014/main" id="{B4606381-85B7-A920-B798-19161B7B7C1D}"/>
                </a:ext>
              </a:extLst>
            </p:cNvPr>
            <p:cNvSpPr/>
            <p:nvPr/>
          </p:nvSpPr>
          <p:spPr>
            <a:xfrm>
              <a:off x="228600" y="4290066"/>
              <a:ext cx="673200" cy="5544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lt1"/>
            </a:solidFill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/>
                <a:t>4</a:t>
              </a:r>
              <a:endParaRPr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/>
        </p:nvSpPr>
        <p:spPr>
          <a:xfrm>
            <a:off x="6172200" y="1607312"/>
            <a:ext cx="2743200" cy="165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Empowering the next gen of research</a:t>
            </a:r>
            <a:endParaRPr sz="12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Provides grants and resources</a:t>
            </a:r>
            <a:endParaRPr sz="12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From a few hundred to few thousand GPU hours of grants available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76" name="Google Shape;76;p14"/>
          <p:cNvSpPr/>
          <p:nvPr/>
        </p:nvSpPr>
        <p:spPr>
          <a:xfrm>
            <a:off x="8242200" y="0"/>
            <a:ext cx="673200" cy="672300"/>
          </a:xfrm>
          <a:prstGeom prst="flowChartOffpageConnector">
            <a:avLst/>
          </a:prstGeom>
          <a:noFill/>
          <a:ln w="9525" cap="flat" cmpd="sng">
            <a:solidFill>
              <a:srgbClr val="A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4"/>
          <p:cNvSpPr txBox="1"/>
          <p:nvPr/>
        </p:nvSpPr>
        <p:spPr>
          <a:xfrm>
            <a:off x="8242200" y="0"/>
            <a:ext cx="6732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  <a:t>11-785</a:t>
            </a:r>
            <a:br>
              <a:rPr lang="en" sz="600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br>
              <a:rPr lang="en" sz="600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  <a:t>Introduction to </a:t>
            </a:r>
            <a:b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  <a:t>Deep Learning</a:t>
            </a:r>
            <a:endParaRPr sz="100"/>
          </a:p>
        </p:txBody>
      </p:sp>
      <p:sp>
        <p:nvSpPr>
          <p:cNvPr id="78" name="Google Shape;78;p14"/>
          <p:cNvSpPr txBox="1"/>
          <p:nvPr/>
        </p:nvSpPr>
        <p:spPr>
          <a:xfrm>
            <a:off x="228600" y="228601"/>
            <a:ext cx="7791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Pittsburgh Supercomputing Cluster: No more GPU-shy!</a:t>
            </a:r>
            <a:endParaRPr sz="1800">
              <a:solidFill>
                <a:schemeClr val="dk1"/>
              </a:solidFill>
            </a:endParaRPr>
          </a:p>
        </p:txBody>
      </p:sp>
      <p:grpSp>
        <p:nvGrpSpPr>
          <p:cNvPr id="79" name="Google Shape;79;p14"/>
          <p:cNvGrpSpPr/>
          <p:nvPr/>
        </p:nvGrpSpPr>
        <p:grpSpPr>
          <a:xfrm>
            <a:off x="228600" y="1088820"/>
            <a:ext cx="2743200" cy="475500"/>
            <a:chOff x="228600" y="1300275"/>
            <a:chExt cx="2743200" cy="475500"/>
          </a:xfrm>
        </p:grpSpPr>
        <p:sp>
          <p:nvSpPr>
            <p:cNvPr id="80" name="Google Shape;80;p14"/>
            <p:cNvSpPr txBox="1"/>
            <p:nvPr/>
          </p:nvSpPr>
          <p:spPr>
            <a:xfrm>
              <a:off x="228600" y="1300275"/>
              <a:ext cx="2743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</a:rPr>
                <a:t>A bit of trivia</a:t>
              </a:r>
              <a:endParaRPr sz="1200">
                <a:solidFill>
                  <a:schemeClr val="dk1"/>
                </a:solidFill>
              </a:endParaRPr>
            </a:p>
          </p:txBody>
        </p:sp>
        <p:sp>
          <p:nvSpPr>
            <p:cNvPr id="81" name="Google Shape;81;p14"/>
            <p:cNvSpPr/>
            <p:nvPr/>
          </p:nvSpPr>
          <p:spPr>
            <a:xfrm>
              <a:off x="228600" y="1757475"/>
              <a:ext cx="2743200" cy="18300"/>
            </a:xfrm>
            <a:prstGeom prst="rect">
              <a:avLst/>
            </a:prstGeom>
            <a:solidFill>
              <a:srgbClr val="A8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</p:grpSp>
      <p:grpSp>
        <p:nvGrpSpPr>
          <p:cNvPr id="82" name="Google Shape;82;p14"/>
          <p:cNvGrpSpPr/>
          <p:nvPr/>
        </p:nvGrpSpPr>
        <p:grpSpPr>
          <a:xfrm>
            <a:off x="3200400" y="1088820"/>
            <a:ext cx="2743200" cy="475500"/>
            <a:chOff x="228600" y="1300275"/>
            <a:chExt cx="2743200" cy="475500"/>
          </a:xfrm>
        </p:grpSpPr>
        <p:sp>
          <p:nvSpPr>
            <p:cNvPr id="83" name="Google Shape;83;p14"/>
            <p:cNvSpPr txBox="1"/>
            <p:nvPr/>
          </p:nvSpPr>
          <p:spPr>
            <a:xfrm>
              <a:off x="228600" y="1300275"/>
              <a:ext cx="2743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</a:rPr>
                <a:t>It’s a computational research center</a:t>
              </a:r>
              <a:endParaRPr sz="1200">
                <a:solidFill>
                  <a:schemeClr val="dk1"/>
                </a:solidFill>
              </a:endParaRPr>
            </a:p>
          </p:txBody>
        </p:sp>
        <p:sp>
          <p:nvSpPr>
            <p:cNvPr id="84" name="Google Shape;84;p14"/>
            <p:cNvSpPr/>
            <p:nvPr/>
          </p:nvSpPr>
          <p:spPr>
            <a:xfrm>
              <a:off x="228600" y="1757475"/>
              <a:ext cx="2743200" cy="18300"/>
            </a:xfrm>
            <a:prstGeom prst="rect">
              <a:avLst/>
            </a:prstGeom>
            <a:solidFill>
              <a:srgbClr val="A8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</p:grpSp>
      <p:sp>
        <p:nvSpPr>
          <p:cNvPr id="85" name="Google Shape;85;p14"/>
          <p:cNvSpPr txBox="1"/>
          <p:nvPr/>
        </p:nvSpPr>
        <p:spPr>
          <a:xfrm>
            <a:off x="228600" y="1607312"/>
            <a:ext cx="2743200" cy="165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Founded in 1986</a:t>
            </a:r>
            <a:endParaRPr sz="12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Joint venture between CMU &amp; UPitt</a:t>
            </a:r>
            <a:endParaRPr sz="12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Supported by many such as NSF, federal agencies and industry</a:t>
            </a:r>
            <a:endParaRPr sz="1200">
              <a:solidFill>
                <a:schemeClr val="dk1"/>
              </a:solidFill>
            </a:endParaRPr>
          </a:p>
        </p:txBody>
      </p:sp>
      <p:grpSp>
        <p:nvGrpSpPr>
          <p:cNvPr id="86" name="Google Shape;86;p14"/>
          <p:cNvGrpSpPr/>
          <p:nvPr/>
        </p:nvGrpSpPr>
        <p:grpSpPr>
          <a:xfrm>
            <a:off x="6172200" y="1088820"/>
            <a:ext cx="2743200" cy="475500"/>
            <a:chOff x="228600" y="1300275"/>
            <a:chExt cx="2743200" cy="475500"/>
          </a:xfrm>
        </p:grpSpPr>
        <p:sp>
          <p:nvSpPr>
            <p:cNvPr id="87" name="Google Shape;87;p14"/>
            <p:cNvSpPr txBox="1"/>
            <p:nvPr/>
          </p:nvSpPr>
          <p:spPr>
            <a:xfrm>
              <a:off x="228600" y="1300275"/>
              <a:ext cx="2743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</a:rPr>
                <a:t>How can it help you: Grants</a:t>
              </a:r>
              <a:endParaRPr sz="1200">
                <a:solidFill>
                  <a:schemeClr val="dk1"/>
                </a:solidFill>
              </a:endParaRPr>
            </a:p>
          </p:txBody>
        </p:sp>
        <p:sp>
          <p:nvSpPr>
            <p:cNvPr id="88" name="Google Shape;88;p14"/>
            <p:cNvSpPr/>
            <p:nvPr/>
          </p:nvSpPr>
          <p:spPr>
            <a:xfrm>
              <a:off x="228600" y="1757475"/>
              <a:ext cx="2743200" cy="18300"/>
            </a:xfrm>
            <a:prstGeom prst="rect">
              <a:avLst/>
            </a:prstGeom>
            <a:solidFill>
              <a:srgbClr val="A8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</p:grpSp>
      <p:sp>
        <p:nvSpPr>
          <p:cNvPr id="89" name="Google Shape;89;p14"/>
          <p:cNvSpPr txBox="1"/>
          <p:nvPr/>
        </p:nvSpPr>
        <p:spPr>
          <a:xfrm>
            <a:off x="3200400" y="1607312"/>
            <a:ext cx="2743200" cy="165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Simply put, it’s a HUGE computer!</a:t>
            </a:r>
            <a:endParaRPr sz="12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Train large-scale research projects</a:t>
            </a:r>
            <a:endParaRPr sz="12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Multiple GPUs and large storage; 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undertake large projects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90" name="Google Shape;9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58150" y="3457925"/>
            <a:ext cx="1227700" cy="122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29950" y="3457928"/>
            <a:ext cx="1227700" cy="122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86350" y="3457928"/>
            <a:ext cx="1227700" cy="12277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/>
          <p:nvPr/>
        </p:nvSpPr>
        <p:spPr>
          <a:xfrm>
            <a:off x="228600" y="685800"/>
            <a:ext cx="7772400" cy="18300"/>
          </a:xfrm>
          <a:prstGeom prst="rect">
            <a:avLst/>
          </a:prstGeom>
          <a:solidFill>
            <a:srgbClr val="A8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94" name="Google Shape;94;p14"/>
          <p:cNvSpPr txBox="1"/>
          <p:nvPr/>
        </p:nvSpPr>
        <p:spPr>
          <a:xfrm>
            <a:off x="-54726" y="5550814"/>
            <a:ext cx="3893400" cy="1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Icons from </a:t>
            </a:r>
            <a:r>
              <a:rPr lang="en" sz="800" u="sng">
                <a:solidFill>
                  <a:schemeClr val="hlink"/>
                </a:solidFill>
                <a:hlinkClick r:id="rId6"/>
              </a:rPr>
              <a:t>flaticon.com</a:t>
            </a:r>
            <a:endParaRPr sz="800">
              <a:solidFill>
                <a:schemeClr val="dk2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DA0B4A4-DEBF-B0BD-0875-6788A1BBB7D8}"/>
              </a:ext>
            </a:extLst>
          </p:cNvPr>
          <p:cNvGrpSpPr/>
          <p:nvPr/>
        </p:nvGrpSpPr>
        <p:grpSpPr>
          <a:xfrm>
            <a:off x="287070" y="5162613"/>
            <a:ext cx="8628330" cy="228600"/>
            <a:chOff x="450302" y="5256435"/>
            <a:chExt cx="8628330" cy="228600"/>
          </a:xfrm>
        </p:grpSpPr>
        <p:sp>
          <p:nvSpPr>
            <p:cNvPr id="73" name="Google Shape;73;p14"/>
            <p:cNvSpPr/>
            <p:nvPr/>
          </p:nvSpPr>
          <p:spPr>
            <a:xfrm>
              <a:off x="450302" y="5256435"/>
              <a:ext cx="2158500" cy="228600"/>
            </a:xfrm>
            <a:prstGeom prst="homePlate">
              <a:avLst>
                <a:gd name="adj" fmla="val 50000"/>
              </a:avLst>
            </a:prstGeom>
            <a:solidFill>
              <a:srgbClr val="A80000"/>
            </a:solidFill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800" b="1" dirty="0">
                  <a:solidFill>
                    <a:schemeClr val="lt1"/>
                  </a:solidFill>
                </a:rPr>
                <a:t>What is PSC? </a:t>
              </a:r>
              <a:endParaRPr sz="800" b="1" dirty="0">
                <a:solidFill>
                  <a:schemeClr val="lt1"/>
                </a:solidFill>
              </a:endParaRPr>
            </a:p>
          </p:txBody>
        </p:sp>
        <p:sp>
          <p:nvSpPr>
            <p:cNvPr id="74" name="Google Shape;74;p14"/>
            <p:cNvSpPr/>
            <p:nvPr/>
          </p:nvSpPr>
          <p:spPr>
            <a:xfrm>
              <a:off x="2606912" y="5256435"/>
              <a:ext cx="2158500" cy="228600"/>
            </a:xfrm>
            <a:prstGeom prst="chevron">
              <a:avLst>
                <a:gd name="adj" fmla="val 50000"/>
              </a:avLst>
            </a:prstGeom>
            <a:solidFill>
              <a:schemeClr val="lt1"/>
            </a:solidFill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" sz="800" dirty="0">
                  <a:solidFill>
                    <a:schemeClr val="dk1"/>
                  </a:solidFill>
                </a:rPr>
                <a:t>How to connect via terminal</a:t>
              </a:r>
              <a:endParaRPr sz="800" dirty="0">
                <a:solidFill>
                  <a:schemeClr val="dk1"/>
                </a:solidFill>
              </a:endParaRPr>
            </a:p>
          </p:txBody>
        </p:sp>
        <p:sp>
          <p:nvSpPr>
            <p:cNvPr id="75" name="Google Shape;75;p14"/>
            <p:cNvSpPr/>
            <p:nvPr/>
          </p:nvSpPr>
          <p:spPr>
            <a:xfrm>
              <a:off x="4763522" y="5256435"/>
              <a:ext cx="2158500" cy="228600"/>
            </a:xfrm>
            <a:prstGeom prst="chevron">
              <a:avLst>
                <a:gd name="adj" fmla="val 50000"/>
              </a:avLst>
            </a:prstGeom>
            <a:solidFill>
              <a:schemeClr val="lt1"/>
            </a:solidFill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" sz="800" dirty="0">
                  <a:solidFill>
                    <a:schemeClr val="dk1"/>
                  </a:solidFill>
                </a:rPr>
                <a:t>How to connect via </a:t>
              </a:r>
              <a:r>
                <a:rPr lang="en" sz="800" dirty="0" err="1">
                  <a:solidFill>
                    <a:schemeClr val="dk1"/>
                  </a:solidFill>
                </a:rPr>
                <a:t>VSCode</a:t>
              </a:r>
              <a:endParaRPr sz="800" dirty="0">
                <a:solidFill>
                  <a:schemeClr val="dk1"/>
                </a:solidFill>
              </a:endParaRPr>
            </a:p>
          </p:txBody>
        </p:sp>
        <p:sp>
          <p:nvSpPr>
            <p:cNvPr id="3" name="Google Shape;75;p14">
              <a:extLst>
                <a:ext uri="{FF2B5EF4-FFF2-40B4-BE49-F238E27FC236}">
                  <a16:creationId xmlns:a16="http://schemas.microsoft.com/office/drawing/2014/main" id="{B4E873AA-9029-1D6D-51A2-287B5DC04BB8}"/>
                </a:ext>
              </a:extLst>
            </p:cNvPr>
            <p:cNvSpPr/>
            <p:nvPr/>
          </p:nvSpPr>
          <p:spPr>
            <a:xfrm>
              <a:off x="6920132" y="5256435"/>
              <a:ext cx="2158500" cy="228600"/>
            </a:xfrm>
            <a:prstGeom prst="chevron">
              <a:avLst>
                <a:gd name="adj" fmla="val 50000"/>
              </a:avLst>
            </a:prstGeom>
            <a:solidFill>
              <a:schemeClr val="lt1"/>
            </a:solidFill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" sz="800" dirty="0">
                  <a:solidFill>
                    <a:schemeClr val="dk1"/>
                  </a:solidFill>
                </a:rPr>
                <a:t>PSC tips</a:t>
              </a:r>
              <a:endParaRPr sz="800" dirty="0">
                <a:solidFill>
                  <a:schemeClr val="dk1"/>
                </a:solidFill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244c5c05e_0_0"/>
          <p:cNvSpPr/>
          <p:nvPr/>
        </p:nvSpPr>
        <p:spPr>
          <a:xfrm>
            <a:off x="8242200" y="0"/>
            <a:ext cx="673200" cy="672300"/>
          </a:xfrm>
          <a:prstGeom prst="flowChartOffpageConnector">
            <a:avLst/>
          </a:prstGeom>
          <a:noFill/>
          <a:ln w="9525" cap="flat" cmpd="sng">
            <a:solidFill>
              <a:srgbClr val="A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g3b244c5c05e_0_0"/>
          <p:cNvSpPr txBox="1"/>
          <p:nvPr/>
        </p:nvSpPr>
        <p:spPr>
          <a:xfrm>
            <a:off x="8242200" y="0"/>
            <a:ext cx="6732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" sz="600" b="1" i="0" u="none" strike="noStrike" cap="none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  <a:t>11-785</a:t>
            </a:r>
            <a:br>
              <a:rPr lang="en" sz="600" b="0" i="0" u="none" strike="noStrike" cap="none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br>
              <a:rPr lang="en" sz="600" b="0" i="0" u="none" strike="noStrike" cap="none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600" b="1" i="0" u="none" strike="noStrike" cap="none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  <a:t>Introduction to </a:t>
            </a:r>
            <a:br>
              <a:rPr lang="en" sz="600" b="1" i="0" u="none" strike="noStrike" cap="none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600" b="1" i="0" u="none" strike="noStrike" cap="none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  <a:t>Deep Learning</a:t>
            </a:r>
            <a:endParaRPr sz="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g3b244c5c05e_0_0"/>
          <p:cNvSpPr txBox="1"/>
          <p:nvPr/>
        </p:nvSpPr>
        <p:spPr>
          <a:xfrm>
            <a:off x="228600" y="228601"/>
            <a:ext cx="7791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PSC User Policy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g3b244c5c05e_0_0"/>
          <p:cNvSpPr txBox="1"/>
          <p:nvPr/>
        </p:nvSpPr>
        <p:spPr>
          <a:xfrm>
            <a:off x="228600" y="1303700"/>
            <a:ext cx="8628300" cy="3488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sz="1800" dirty="0">
                <a:solidFill>
                  <a:schemeClr val="dk1"/>
                </a:solidFill>
              </a:rPr>
              <a:t>Please only use </a:t>
            </a:r>
            <a:r>
              <a:rPr lang="en" sz="1800" b="1" dirty="0">
                <a:solidFill>
                  <a:schemeClr val="dk1"/>
                </a:solidFill>
              </a:rPr>
              <a:t>V-100</a:t>
            </a:r>
            <a:r>
              <a:rPr lang="en" sz="1800" dirty="0">
                <a:solidFill>
                  <a:schemeClr val="dk1"/>
                </a:solidFill>
              </a:rPr>
              <a:t> GPUs.</a:t>
            </a:r>
          </a:p>
          <a:p>
            <a:pPr marL="457200" indent="-342900">
              <a:lnSpc>
                <a:spcPct val="150000"/>
              </a:lnSpc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en-US" sz="1800" dirty="0">
                <a:solidFill>
                  <a:schemeClr val="dk1"/>
                </a:solidFill>
              </a:rPr>
              <a:t>Do not download datasets or install environments locally — use shared resources.</a:t>
            </a:r>
            <a:endParaRPr sz="1800"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sz="1800" dirty="0">
                <a:solidFill>
                  <a:schemeClr val="dk1"/>
                </a:solidFill>
              </a:rPr>
              <a:t>For your </a:t>
            </a:r>
            <a:r>
              <a:rPr lang="en" sz="1800" b="1" dirty="0">
                <a:solidFill>
                  <a:schemeClr val="dk1"/>
                </a:solidFill>
              </a:rPr>
              <a:t>homework</a:t>
            </a:r>
            <a:r>
              <a:rPr lang="en" sz="1800" dirty="0">
                <a:solidFill>
                  <a:schemeClr val="dk1"/>
                </a:solidFill>
              </a:rPr>
              <a:t>, always work under </a:t>
            </a:r>
            <a:r>
              <a:rPr lang="en" sz="1800" b="1" dirty="0">
                <a:solidFill>
                  <a:schemeClr val="dk1"/>
                </a:solidFill>
              </a:rPr>
              <a:t>/jet/home/username</a:t>
            </a:r>
            <a:r>
              <a:rPr lang="en" sz="1800" dirty="0">
                <a:solidFill>
                  <a:schemeClr val="dk1"/>
                </a:solidFill>
              </a:rPr>
              <a:t> directory which has 25 GB of storage.</a:t>
            </a:r>
          </a:p>
          <a:p>
            <a:pPr marL="114300" lvl="0">
              <a:lnSpc>
                <a:spcPct val="150000"/>
              </a:lnSpc>
              <a:buClr>
                <a:schemeClr val="dk1"/>
              </a:buClr>
              <a:buSzPts val="1800"/>
            </a:pPr>
            <a:r>
              <a:rPr lang="en-US" sz="1800" dirty="0">
                <a:solidFill>
                  <a:schemeClr val="dk1"/>
                </a:solidFill>
              </a:rPr>
              <a:t>     For your project, the directory will be: /ocean/projects/&lt;project id&gt;/&lt;username&gt;, which we will introduce in the next recitation</a:t>
            </a:r>
            <a:r>
              <a:rPr lang="en-US" sz="1800" dirty="0">
                <a:solidFill>
                  <a:schemeClr val="dk1"/>
                </a:solidFill>
                <a:sym typeface="Wingdings" pitchFamily="2" charset="2"/>
              </a:rPr>
              <a:t>:)</a:t>
            </a:r>
            <a:endParaRPr lang="en" sz="1800" dirty="0">
              <a:solidFill>
                <a:schemeClr val="dk1"/>
              </a:solidFill>
            </a:endParaRPr>
          </a:p>
          <a:p>
            <a:pPr marL="11430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" sz="1800" dirty="0">
                <a:solidFill>
                  <a:schemeClr val="dk1"/>
                </a:solidFill>
              </a:rPr>
              <a:t>	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800" dirty="0">
                <a:solidFill>
                  <a:schemeClr val="dk1"/>
                </a:solidFill>
              </a:rPr>
              <a:t> </a:t>
            </a: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111" name="Google Shape;111;g3b244c5c05e_0_0"/>
          <p:cNvSpPr/>
          <p:nvPr/>
        </p:nvSpPr>
        <p:spPr>
          <a:xfrm>
            <a:off x="228600" y="685800"/>
            <a:ext cx="7772400" cy="18300"/>
          </a:xfrm>
          <a:prstGeom prst="rect">
            <a:avLst/>
          </a:prstGeom>
          <a:solidFill>
            <a:srgbClr val="A8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g3b244c5c05e_0_0"/>
          <p:cNvSpPr txBox="1"/>
          <p:nvPr/>
        </p:nvSpPr>
        <p:spPr>
          <a:xfrm>
            <a:off x="-54726" y="5550814"/>
            <a:ext cx="3893400" cy="1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Icons from </a:t>
            </a:r>
            <a:r>
              <a:rPr lang="en" sz="8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flaticon.com</a:t>
            </a:r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3" name="Google Shape;113;g3b244c5c05e_0_0"/>
          <p:cNvGrpSpPr/>
          <p:nvPr/>
        </p:nvGrpSpPr>
        <p:grpSpPr>
          <a:xfrm>
            <a:off x="287070" y="5162613"/>
            <a:ext cx="8628330" cy="228600"/>
            <a:chOff x="450302" y="5256435"/>
            <a:chExt cx="8628330" cy="228600"/>
          </a:xfrm>
        </p:grpSpPr>
        <p:sp>
          <p:nvSpPr>
            <p:cNvPr id="114" name="Google Shape;114;g3b244c5c05e_0_0"/>
            <p:cNvSpPr/>
            <p:nvPr/>
          </p:nvSpPr>
          <p:spPr>
            <a:xfrm>
              <a:off x="450302" y="5256435"/>
              <a:ext cx="2158500" cy="228600"/>
            </a:xfrm>
            <a:prstGeom prst="homePlate">
              <a:avLst>
                <a:gd name="adj" fmla="val 50000"/>
              </a:avLst>
            </a:prstGeom>
            <a:solidFill>
              <a:srgbClr val="A80000"/>
            </a:solidFill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8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What is PSC? </a:t>
              </a:r>
              <a:endParaRPr sz="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g3b244c5c05e_0_0"/>
            <p:cNvSpPr/>
            <p:nvPr/>
          </p:nvSpPr>
          <p:spPr>
            <a:xfrm>
              <a:off x="2606912" y="5256435"/>
              <a:ext cx="2158500" cy="228600"/>
            </a:xfrm>
            <a:prstGeom prst="chevron">
              <a:avLst>
                <a:gd name="adj" fmla="val 50000"/>
              </a:avLst>
            </a:prstGeom>
            <a:solidFill>
              <a:schemeClr val="lt1"/>
            </a:solidFill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How to connect via terminal</a:t>
              </a:r>
              <a:endPara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g3b244c5c05e_0_0"/>
            <p:cNvSpPr/>
            <p:nvPr/>
          </p:nvSpPr>
          <p:spPr>
            <a:xfrm>
              <a:off x="4763522" y="5256435"/>
              <a:ext cx="2158500" cy="228600"/>
            </a:xfrm>
            <a:prstGeom prst="chevron">
              <a:avLst>
                <a:gd name="adj" fmla="val 50000"/>
              </a:avLst>
            </a:prstGeom>
            <a:solidFill>
              <a:schemeClr val="lt1"/>
            </a:solidFill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How to connect via VSCode</a:t>
              </a:r>
              <a:endPara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g3b244c5c05e_0_0"/>
            <p:cNvSpPr/>
            <p:nvPr/>
          </p:nvSpPr>
          <p:spPr>
            <a:xfrm>
              <a:off x="6920132" y="5256435"/>
              <a:ext cx="2158500" cy="228600"/>
            </a:xfrm>
            <a:prstGeom prst="chevron">
              <a:avLst>
                <a:gd name="adj" fmla="val 50000"/>
              </a:avLst>
            </a:prstGeom>
            <a:solidFill>
              <a:schemeClr val="lt1"/>
            </a:solidFill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PSC tips</a:t>
              </a:r>
              <a:endPara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CE37AF8F-D86E-A23C-8F42-587AA2386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>
            <a:extLst>
              <a:ext uri="{FF2B5EF4-FFF2-40B4-BE49-F238E27FC236}">
                <a16:creationId xmlns:a16="http://schemas.microsoft.com/office/drawing/2014/main" id="{5EC895F2-1FB0-04F7-BC2D-922A2594FD50}"/>
              </a:ext>
            </a:extLst>
          </p:cNvPr>
          <p:cNvSpPr/>
          <p:nvPr/>
        </p:nvSpPr>
        <p:spPr>
          <a:xfrm>
            <a:off x="8242200" y="0"/>
            <a:ext cx="673200" cy="672300"/>
          </a:xfrm>
          <a:prstGeom prst="flowChartOffpageConnector">
            <a:avLst/>
          </a:prstGeom>
          <a:noFill/>
          <a:ln w="9525" cap="flat" cmpd="sng">
            <a:solidFill>
              <a:srgbClr val="A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4">
            <a:extLst>
              <a:ext uri="{FF2B5EF4-FFF2-40B4-BE49-F238E27FC236}">
                <a16:creationId xmlns:a16="http://schemas.microsoft.com/office/drawing/2014/main" id="{F3A45314-DF8F-2B41-5730-866C6B94A9F9}"/>
              </a:ext>
            </a:extLst>
          </p:cNvPr>
          <p:cNvSpPr txBox="1"/>
          <p:nvPr/>
        </p:nvSpPr>
        <p:spPr>
          <a:xfrm>
            <a:off x="8242200" y="0"/>
            <a:ext cx="6732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  <a:t>11-785</a:t>
            </a:r>
            <a:br>
              <a:rPr lang="en" sz="600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br>
              <a:rPr lang="en" sz="600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  <a:t>Introduction to </a:t>
            </a:r>
            <a:b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  <a:t>Deep Learning</a:t>
            </a:r>
            <a:endParaRPr sz="100"/>
          </a:p>
        </p:txBody>
      </p:sp>
      <p:sp>
        <p:nvSpPr>
          <p:cNvPr id="78" name="Google Shape;78;p14">
            <a:extLst>
              <a:ext uri="{FF2B5EF4-FFF2-40B4-BE49-F238E27FC236}">
                <a16:creationId xmlns:a16="http://schemas.microsoft.com/office/drawing/2014/main" id="{6631ECB8-0A28-E976-6977-C151626FFACF}"/>
              </a:ext>
            </a:extLst>
          </p:cNvPr>
          <p:cNvSpPr txBox="1"/>
          <p:nvPr/>
        </p:nvSpPr>
        <p:spPr>
          <a:xfrm>
            <a:off x="2403090" y="2400300"/>
            <a:ext cx="4394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</a:rPr>
              <a:t>PSC Connection via Terminal</a:t>
            </a:r>
            <a:endParaRPr sz="2400" dirty="0">
              <a:solidFill>
                <a:schemeClr val="dk1"/>
              </a:solidFill>
            </a:endParaRPr>
          </a:p>
        </p:txBody>
      </p:sp>
      <p:sp>
        <p:nvSpPr>
          <p:cNvPr id="93" name="Google Shape;93;p14">
            <a:extLst>
              <a:ext uri="{FF2B5EF4-FFF2-40B4-BE49-F238E27FC236}">
                <a16:creationId xmlns:a16="http://schemas.microsoft.com/office/drawing/2014/main" id="{C4F6C2F0-97D3-D69E-012D-2938FE100B62}"/>
              </a:ext>
            </a:extLst>
          </p:cNvPr>
          <p:cNvSpPr/>
          <p:nvPr/>
        </p:nvSpPr>
        <p:spPr>
          <a:xfrm>
            <a:off x="228600" y="685800"/>
            <a:ext cx="7772400" cy="18300"/>
          </a:xfrm>
          <a:prstGeom prst="rect">
            <a:avLst/>
          </a:prstGeom>
          <a:solidFill>
            <a:srgbClr val="A8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EE02420-9786-99B8-56C3-FEC775EFE0AB}"/>
              </a:ext>
            </a:extLst>
          </p:cNvPr>
          <p:cNvGrpSpPr/>
          <p:nvPr/>
        </p:nvGrpSpPr>
        <p:grpSpPr>
          <a:xfrm>
            <a:off x="287070" y="5162613"/>
            <a:ext cx="8628330" cy="228600"/>
            <a:chOff x="450302" y="5256435"/>
            <a:chExt cx="8628330" cy="228600"/>
          </a:xfrm>
        </p:grpSpPr>
        <p:sp>
          <p:nvSpPr>
            <p:cNvPr id="73" name="Google Shape;73;p14">
              <a:extLst>
                <a:ext uri="{FF2B5EF4-FFF2-40B4-BE49-F238E27FC236}">
                  <a16:creationId xmlns:a16="http://schemas.microsoft.com/office/drawing/2014/main" id="{6FA62DCE-6CAD-7908-1C32-4F45C9C56284}"/>
                </a:ext>
              </a:extLst>
            </p:cNvPr>
            <p:cNvSpPr/>
            <p:nvPr/>
          </p:nvSpPr>
          <p:spPr>
            <a:xfrm>
              <a:off x="450302" y="5256435"/>
              <a:ext cx="2158500" cy="228600"/>
            </a:xfrm>
            <a:prstGeom prst="homePlate">
              <a:avLst>
                <a:gd name="adj" fmla="val 50000"/>
              </a:avLst>
            </a:prstGeom>
            <a:noFill/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800" dirty="0">
                  <a:solidFill>
                    <a:schemeClr val="tx1"/>
                  </a:solidFill>
                </a:rPr>
                <a:t>What is PSC? </a:t>
              </a:r>
              <a:endParaRPr sz="800" dirty="0">
                <a:solidFill>
                  <a:schemeClr val="tx1"/>
                </a:solidFill>
              </a:endParaRPr>
            </a:p>
          </p:txBody>
        </p:sp>
        <p:sp>
          <p:nvSpPr>
            <p:cNvPr id="74" name="Google Shape;74;p14">
              <a:extLst>
                <a:ext uri="{FF2B5EF4-FFF2-40B4-BE49-F238E27FC236}">
                  <a16:creationId xmlns:a16="http://schemas.microsoft.com/office/drawing/2014/main" id="{EDDF430C-51A3-91FC-F127-40A2677407CD}"/>
                </a:ext>
              </a:extLst>
            </p:cNvPr>
            <p:cNvSpPr/>
            <p:nvPr/>
          </p:nvSpPr>
          <p:spPr>
            <a:xfrm>
              <a:off x="2606912" y="5256435"/>
              <a:ext cx="2158500" cy="228600"/>
            </a:xfrm>
            <a:prstGeom prst="chevron">
              <a:avLst>
                <a:gd name="adj" fmla="val 50000"/>
              </a:avLst>
            </a:prstGeom>
            <a:solidFill>
              <a:srgbClr val="A80000"/>
            </a:solidFill>
            <a:ln w="9525" cap="flat" cmpd="sng">
              <a:solidFill>
                <a:srgbClr val="C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" sz="800" b="1" dirty="0">
                  <a:solidFill>
                    <a:schemeClr val="bg1"/>
                  </a:solidFill>
                </a:rPr>
                <a:t>How to connect via terminal</a:t>
              </a:r>
              <a:endParaRPr sz="800" b="1" dirty="0">
                <a:solidFill>
                  <a:schemeClr val="bg1"/>
                </a:solidFill>
              </a:endParaRPr>
            </a:p>
          </p:txBody>
        </p:sp>
        <p:sp>
          <p:nvSpPr>
            <p:cNvPr id="75" name="Google Shape;75;p14">
              <a:extLst>
                <a:ext uri="{FF2B5EF4-FFF2-40B4-BE49-F238E27FC236}">
                  <a16:creationId xmlns:a16="http://schemas.microsoft.com/office/drawing/2014/main" id="{3550524D-AD47-97C9-9821-234ED01EC136}"/>
                </a:ext>
              </a:extLst>
            </p:cNvPr>
            <p:cNvSpPr/>
            <p:nvPr/>
          </p:nvSpPr>
          <p:spPr>
            <a:xfrm>
              <a:off x="4763522" y="5256435"/>
              <a:ext cx="2158500" cy="228600"/>
            </a:xfrm>
            <a:prstGeom prst="chevron">
              <a:avLst>
                <a:gd name="adj" fmla="val 50000"/>
              </a:avLst>
            </a:prstGeom>
            <a:solidFill>
              <a:schemeClr val="lt1"/>
            </a:solidFill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" sz="800" dirty="0">
                  <a:solidFill>
                    <a:schemeClr val="dk1"/>
                  </a:solidFill>
                </a:rPr>
                <a:t>How to connect via </a:t>
              </a:r>
              <a:r>
                <a:rPr lang="en" sz="800" dirty="0" err="1">
                  <a:solidFill>
                    <a:schemeClr val="dk1"/>
                  </a:solidFill>
                </a:rPr>
                <a:t>VSCode</a:t>
              </a:r>
              <a:endParaRPr sz="800" dirty="0">
                <a:solidFill>
                  <a:schemeClr val="dk1"/>
                </a:solidFill>
              </a:endParaRPr>
            </a:p>
          </p:txBody>
        </p:sp>
        <p:sp>
          <p:nvSpPr>
            <p:cNvPr id="3" name="Google Shape;75;p14">
              <a:extLst>
                <a:ext uri="{FF2B5EF4-FFF2-40B4-BE49-F238E27FC236}">
                  <a16:creationId xmlns:a16="http://schemas.microsoft.com/office/drawing/2014/main" id="{73570895-086F-FBD5-F077-1830C7421F6C}"/>
                </a:ext>
              </a:extLst>
            </p:cNvPr>
            <p:cNvSpPr/>
            <p:nvPr/>
          </p:nvSpPr>
          <p:spPr>
            <a:xfrm>
              <a:off x="6920132" y="5256435"/>
              <a:ext cx="2158500" cy="228600"/>
            </a:xfrm>
            <a:prstGeom prst="chevron">
              <a:avLst>
                <a:gd name="adj" fmla="val 50000"/>
              </a:avLst>
            </a:prstGeom>
            <a:solidFill>
              <a:schemeClr val="lt1"/>
            </a:solidFill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" sz="800" dirty="0">
                  <a:solidFill>
                    <a:schemeClr val="dk1"/>
                  </a:solidFill>
                </a:rPr>
                <a:t>PSC tips</a:t>
              </a:r>
              <a:endParaRPr sz="800" dirty="0">
                <a:solidFill>
                  <a:schemeClr val="dk1"/>
                </a:solidFill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A4BE4F2B-C756-7AD9-64E7-615B74E02B91}"/>
              </a:ext>
            </a:extLst>
          </p:cNvPr>
          <p:cNvSpPr txBox="1"/>
          <p:nvPr/>
        </p:nvSpPr>
        <p:spPr>
          <a:xfrm>
            <a:off x="1676400" y="5426394"/>
            <a:ext cx="5805949" cy="259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dk2"/>
                </a:solidFill>
              </a:rPr>
              <a:t>TA: En Zheng (</a:t>
            </a:r>
            <a:r>
              <a:rPr lang="en" sz="1100" dirty="0" err="1">
                <a:solidFill>
                  <a:schemeClr val="dk2"/>
                </a:solidFill>
              </a:rPr>
              <a:t>enzheng</a:t>
            </a:r>
            <a:r>
              <a:rPr lang="en" sz="1100" dirty="0">
                <a:solidFill>
                  <a:schemeClr val="dk2"/>
                </a:solidFill>
              </a:rPr>
              <a:t>@</a:t>
            </a:r>
            <a:r>
              <a:rPr lang="en-US" sz="1100" dirty="0">
                <a:solidFill>
                  <a:schemeClr val="dk2"/>
                </a:solidFill>
              </a:rPr>
              <a:t>a</a:t>
            </a:r>
            <a:r>
              <a:rPr lang="en" sz="1100" dirty="0">
                <a:solidFill>
                  <a:schemeClr val="dk2"/>
                </a:solidFill>
              </a:rPr>
              <a:t>ndrew.cmu.edu) </a:t>
            </a:r>
            <a:r>
              <a:rPr lang="en" sz="1100" dirty="0" err="1">
                <a:solidFill>
                  <a:schemeClr val="dk2"/>
                </a:solidFill>
              </a:rPr>
              <a:t>Yixiong</a:t>
            </a:r>
            <a:r>
              <a:rPr lang="en" sz="1100" dirty="0">
                <a:solidFill>
                  <a:schemeClr val="dk2"/>
                </a:solidFill>
              </a:rPr>
              <a:t> Fang (</a:t>
            </a:r>
            <a:r>
              <a:rPr lang="en-US" sz="1100" dirty="0" err="1">
                <a:solidFill>
                  <a:schemeClr val="dk2"/>
                </a:solidFill>
              </a:rPr>
              <a:t>yixiongf@andrew.cmu.edu</a:t>
            </a:r>
            <a:r>
              <a:rPr lang="en" sz="1100" dirty="0">
                <a:solidFill>
                  <a:schemeClr val="dk2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520096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E85CCC81-C431-107B-C6E3-206D32888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>
            <a:extLst>
              <a:ext uri="{FF2B5EF4-FFF2-40B4-BE49-F238E27FC236}">
                <a16:creationId xmlns:a16="http://schemas.microsoft.com/office/drawing/2014/main" id="{61E6530B-E796-5F39-E2B7-67C9661368BC}"/>
              </a:ext>
            </a:extLst>
          </p:cNvPr>
          <p:cNvSpPr/>
          <p:nvPr/>
        </p:nvSpPr>
        <p:spPr>
          <a:xfrm>
            <a:off x="8242200" y="0"/>
            <a:ext cx="673200" cy="672300"/>
          </a:xfrm>
          <a:prstGeom prst="flowChartOffpageConnector">
            <a:avLst/>
          </a:prstGeom>
          <a:noFill/>
          <a:ln w="9525" cap="flat" cmpd="sng">
            <a:solidFill>
              <a:srgbClr val="A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4">
            <a:extLst>
              <a:ext uri="{FF2B5EF4-FFF2-40B4-BE49-F238E27FC236}">
                <a16:creationId xmlns:a16="http://schemas.microsoft.com/office/drawing/2014/main" id="{BF675E5C-2858-D09C-05A7-4B51C07F7933}"/>
              </a:ext>
            </a:extLst>
          </p:cNvPr>
          <p:cNvSpPr txBox="1"/>
          <p:nvPr/>
        </p:nvSpPr>
        <p:spPr>
          <a:xfrm>
            <a:off x="8242200" y="0"/>
            <a:ext cx="6732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  <a:t>11-785</a:t>
            </a:r>
            <a:br>
              <a:rPr lang="en" sz="600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br>
              <a:rPr lang="en" sz="600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  <a:t>Introduction to </a:t>
            </a:r>
            <a:b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  <a:t>Deep Learning</a:t>
            </a:r>
            <a:endParaRPr sz="100"/>
          </a:p>
        </p:txBody>
      </p:sp>
      <p:sp>
        <p:nvSpPr>
          <p:cNvPr id="78" name="Google Shape;78;p14">
            <a:extLst>
              <a:ext uri="{FF2B5EF4-FFF2-40B4-BE49-F238E27FC236}">
                <a16:creationId xmlns:a16="http://schemas.microsoft.com/office/drawing/2014/main" id="{52929ADD-C911-BF23-E775-A916E401FEF0}"/>
              </a:ext>
            </a:extLst>
          </p:cNvPr>
          <p:cNvSpPr txBox="1"/>
          <p:nvPr/>
        </p:nvSpPr>
        <p:spPr>
          <a:xfrm>
            <a:off x="228600" y="228601"/>
            <a:ext cx="7791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</a:rPr>
              <a:t>Connect via Terminal</a:t>
            </a: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93" name="Google Shape;93;p14">
            <a:extLst>
              <a:ext uri="{FF2B5EF4-FFF2-40B4-BE49-F238E27FC236}">
                <a16:creationId xmlns:a16="http://schemas.microsoft.com/office/drawing/2014/main" id="{62EFD1F2-FDBE-99E2-B36B-70F89AA85190}"/>
              </a:ext>
            </a:extLst>
          </p:cNvPr>
          <p:cNvSpPr/>
          <p:nvPr/>
        </p:nvSpPr>
        <p:spPr>
          <a:xfrm>
            <a:off x="228600" y="685800"/>
            <a:ext cx="7772400" cy="18300"/>
          </a:xfrm>
          <a:prstGeom prst="rect">
            <a:avLst/>
          </a:prstGeom>
          <a:solidFill>
            <a:srgbClr val="A8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E199C3F-0CB5-4A65-CBCC-ABE1AAF4F093}"/>
              </a:ext>
            </a:extLst>
          </p:cNvPr>
          <p:cNvGrpSpPr/>
          <p:nvPr/>
        </p:nvGrpSpPr>
        <p:grpSpPr>
          <a:xfrm>
            <a:off x="287070" y="5162613"/>
            <a:ext cx="8628330" cy="228600"/>
            <a:chOff x="450302" y="5256435"/>
            <a:chExt cx="8628330" cy="228600"/>
          </a:xfrm>
        </p:grpSpPr>
        <p:sp>
          <p:nvSpPr>
            <p:cNvPr id="73" name="Google Shape;73;p14">
              <a:extLst>
                <a:ext uri="{FF2B5EF4-FFF2-40B4-BE49-F238E27FC236}">
                  <a16:creationId xmlns:a16="http://schemas.microsoft.com/office/drawing/2014/main" id="{FF76D652-0F39-0C94-F287-4A6309B88064}"/>
                </a:ext>
              </a:extLst>
            </p:cNvPr>
            <p:cNvSpPr/>
            <p:nvPr/>
          </p:nvSpPr>
          <p:spPr>
            <a:xfrm>
              <a:off x="450302" y="5256435"/>
              <a:ext cx="2158500" cy="228600"/>
            </a:xfrm>
            <a:prstGeom prst="homePlate">
              <a:avLst>
                <a:gd name="adj" fmla="val 50000"/>
              </a:avLst>
            </a:prstGeom>
            <a:noFill/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800" dirty="0">
                  <a:solidFill>
                    <a:schemeClr val="tx1"/>
                  </a:solidFill>
                </a:rPr>
                <a:t>What is PSC? </a:t>
              </a:r>
              <a:endParaRPr sz="800" dirty="0">
                <a:solidFill>
                  <a:schemeClr val="tx1"/>
                </a:solidFill>
              </a:endParaRPr>
            </a:p>
          </p:txBody>
        </p:sp>
        <p:sp>
          <p:nvSpPr>
            <p:cNvPr id="74" name="Google Shape;74;p14">
              <a:extLst>
                <a:ext uri="{FF2B5EF4-FFF2-40B4-BE49-F238E27FC236}">
                  <a16:creationId xmlns:a16="http://schemas.microsoft.com/office/drawing/2014/main" id="{ADF9CF5A-AEBE-AE5C-71E3-46373DE9EA01}"/>
                </a:ext>
              </a:extLst>
            </p:cNvPr>
            <p:cNvSpPr/>
            <p:nvPr/>
          </p:nvSpPr>
          <p:spPr>
            <a:xfrm>
              <a:off x="2606912" y="5256435"/>
              <a:ext cx="2158500" cy="228600"/>
            </a:xfrm>
            <a:prstGeom prst="chevron">
              <a:avLst>
                <a:gd name="adj" fmla="val 50000"/>
              </a:avLst>
            </a:prstGeom>
            <a:solidFill>
              <a:srgbClr val="A80000"/>
            </a:solidFill>
            <a:ln w="9525" cap="flat" cmpd="sng">
              <a:solidFill>
                <a:srgbClr val="C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" sz="800" b="1" dirty="0">
                  <a:solidFill>
                    <a:schemeClr val="bg1"/>
                  </a:solidFill>
                </a:rPr>
                <a:t>How to connect via terminal</a:t>
              </a:r>
              <a:endParaRPr sz="800" b="1" dirty="0">
                <a:solidFill>
                  <a:schemeClr val="bg1"/>
                </a:solidFill>
              </a:endParaRPr>
            </a:p>
          </p:txBody>
        </p:sp>
        <p:sp>
          <p:nvSpPr>
            <p:cNvPr id="75" name="Google Shape;75;p14">
              <a:extLst>
                <a:ext uri="{FF2B5EF4-FFF2-40B4-BE49-F238E27FC236}">
                  <a16:creationId xmlns:a16="http://schemas.microsoft.com/office/drawing/2014/main" id="{6DAA0EA8-496A-C526-521F-8FEEDD353969}"/>
                </a:ext>
              </a:extLst>
            </p:cNvPr>
            <p:cNvSpPr/>
            <p:nvPr/>
          </p:nvSpPr>
          <p:spPr>
            <a:xfrm>
              <a:off x="4763522" y="5256435"/>
              <a:ext cx="2158500" cy="228600"/>
            </a:xfrm>
            <a:prstGeom prst="chevron">
              <a:avLst>
                <a:gd name="adj" fmla="val 50000"/>
              </a:avLst>
            </a:prstGeom>
            <a:solidFill>
              <a:schemeClr val="lt1"/>
            </a:solidFill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" sz="800" dirty="0">
                  <a:solidFill>
                    <a:schemeClr val="dk1"/>
                  </a:solidFill>
                </a:rPr>
                <a:t>How to connect via </a:t>
              </a:r>
              <a:r>
                <a:rPr lang="en" sz="800" dirty="0" err="1">
                  <a:solidFill>
                    <a:schemeClr val="dk1"/>
                  </a:solidFill>
                </a:rPr>
                <a:t>VSCode</a:t>
              </a:r>
              <a:endParaRPr sz="800" dirty="0">
                <a:solidFill>
                  <a:schemeClr val="dk1"/>
                </a:solidFill>
              </a:endParaRPr>
            </a:p>
          </p:txBody>
        </p:sp>
        <p:sp>
          <p:nvSpPr>
            <p:cNvPr id="3" name="Google Shape;75;p14">
              <a:extLst>
                <a:ext uri="{FF2B5EF4-FFF2-40B4-BE49-F238E27FC236}">
                  <a16:creationId xmlns:a16="http://schemas.microsoft.com/office/drawing/2014/main" id="{82E6DC1F-EAAB-6120-0EB3-769E7DE0BF91}"/>
                </a:ext>
              </a:extLst>
            </p:cNvPr>
            <p:cNvSpPr/>
            <p:nvPr/>
          </p:nvSpPr>
          <p:spPr>
            <a:xfrm>
              <a:off x="6920132" y="5256435"/>
              <a:ext cx="2158500" cy="228600"/>
            </a:xfrm>
            <a:prstGeom prst="chevron">
              <a:avLst>
                <a:gd name="adj" fmla="val 50000"/>
              </a:avLst>
            </a:prstGeom>
            <a:solidFill>
              <a:schemeClr val="lt1"/>
            </a:solidFill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" sz="800" dirty="0">
                  <a:solidFill>
                    <a:schemeClr val="dk1"/>
                  </a:solidFill>
                </a:rPr>
                <a:t>PSC tips</a:t>
              </a:r>
              <a:endParaRPr sz="800" dirty="0">
                <a:solidFill>
                  <a:schemeClr val="dk1"/>
                </a:solidFill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E29BEAD-A321-D1D6-34E3-B5EBF547B6F8}"/>
              </a:ext>
            </a:extLst>
          </p:cNvPr>
          <p:cNvSpPr txBox="1"/>
          <p:nvPr/>
        </p:nvSpPr>
        <p:spPr>
          <a:xfrm>
            <a:off x="1676400" y="5426394"/>
            <a:ext cx="5805949" cy="259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dk2"/>
                </a:solidFill>
              </a:rPr>
              <a:t>TA: En Zheng (</a:t>
            </a:r>
            <a:r>
              <a:rPr lang="en" sz="1100" dirty="0" err="1">
                <a:solidFill>
                  <a:schemeClr val="dk2"/>
                </a:solidFill>
              </a:rPr>
              <a:t>enzheng</a:t>
            </a:r>
            <a:r>
              <a:rPr lang="en" sz="1100" dirty="0">
                <a:solidFill>
                  <a:schemeClr val="dk2"/>
                </a:solidFill>
              </a:rPr>
              <a:t>@</a:t>
            </a:r>
            <a:r>
              <a:rPr lang="en-US" sz="1100" dirty="0">
                <a:solidFill>
                  <a:schemeClr val="dk2"/>
                </a:solidFill>
              </a:rPr>
              <a:t>a</a:t>
            </a:r>
            <a:r>
              <a:rPr lang="en" sz="1100" dirty="0">
                <a:solidFill>
                  <a:schemeClr val="dk2"/>
                </a:solidFill>
              </a:rPr>
              <a:t>ndrew.cmu.edu) </a:t>
            </a:r>
            <a:r>
              <a:rPr lang="en" sz="1100" dirty="0" err="1">
                <a:solidFill>
                  <a:schemeClr val="dk2"/>
                </a:solidFill>
              </a:rPr>
              <a:t>Yixiong</a:t>
            </a:r>
            <a:r>
              <a:rPr lang="en" sz="1100" dirty="0">
                <a:solidFill>
                  <a:schemeClr val="dk2"/>
                </a:solidFill>
              </a:rPr>
              <a:t> Fang (</a:t>
            </a:r>
            <a:r>
              <a:rPr lang="en-US" sz="1100" dirty="0" err="1">
                <a:solidFill>
                  <a:schemeClr val="dk2"/>
                </a:solidFill>
              </a:rPr>
              <a:t>yixiongf@andrew.cmu.edu</a:t>
            </a:r>
            <a:r>
              <a:rPr lang="en" sz="1100" dirty="0">
                <a:solidFill>
                  <a:schemeClr val="dk2"/>
                </a:solidFill>
              </a:rPr>
              <a:t>)</a:t>
            </a:r>
          </a:p>
        </p:txBody>
      </p:sp>
      <p:sp>
        <p:nvSpPr>
          <p:cNvPr id="6" name="Google Shape;78;p14">
            <a:extLst>
              <a:ext uri="{FF2B5EF4-FFF2-40B4-BE49-F238E27FC236}">
                <a16:creationId xmlns:a16="http://schemas.microsoft.com/office/drawing/2014/main" id="{B73030C4-9ED4-E653-D433-7CA64EF4F454}"/>
              </a:ext>
            </a:extLst>
          </p:cNvPr>
          <p:cNvSpPr txBox="1"/>
          <p:nvPr/>
        </p:nvSpPr>
        <p:spPr>
          <a:xfrm>
            <a:off x="5323849" y="2307406"/>
            <a:ext cx="335771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rgbClr val="A80000"/>
                </a:solidFill>
              </a:rPr>
              <a:t>Please watch the video for more details </a:t>
            </a:r>
            <a:r>
              <a:rPr lang="en" sz="1600" b="1" dirty="0">
                <a:solidFill>
                  <a:srgbClr val="A80000"/>
                </a:solidFill>
                <a:sym typeface="Wingdings" pitchFamily="2" charset="2"/>
              </a:rPr>
              <a:t>:)</a:t>
            </a:r>
            <a:endParaRPr sz="1600" b="1" dirty="0">
              <a:solidFill>
                <a:srgbClr val="A8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35D64F1-F3E6-AF69-8F15-BC3BF70016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407" y="814679"/>
            <a:ext cx="4666195" cy="4085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2932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48C66C46-1DD7-67FF-2390-2F3B158EE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>
            <a:extLst>
              <a:ext uri="{FF2B5EF4-FFF2-40B4-BE49-F238E27FC236}">
                <a16:creationId xmlns:a16="http://schemas.microsoft.com/office/drawing/2014/main" id="{E2329856-58A4-F5A7-066D-DFC7C11C6000}"/>
              </a:ext>
            </a:extLst>
          </p:cNvPr>
          <p:cNvSpPr/>
          <p:nvPr/>
        </p:nvSpPr>
        <p:spPr>
          <a:xfrm>
            <a:off x="8242200" y="0"/>
            <a:ext cx="673200" cy="672300"/>
          </a:xfrm>
          <a:prstGeom prst="flowChartOffpageConnector">
            <a:avLst/>
          </a:prstGeom>
          <a:noFill/>
          <a:ln w="9525" cap="flat" cmpd="sng">
            <a:solidFill>
              <a:srgbClr val="A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4">
            <a:extLst>
              <a:ext uri="{FF2B5EF4-FFF2-40B4-BE49-F238E27FC236}">
                <a16:creationId xmlns:a16="http://schemas.microsoft.com/office/drawing/2014/main" id="{FB8C78EE-DC7B-628D-5584-CC57E9819B5E}"/>
              </a:ext>
            </a:extLst>
          </p:cNvPr>
          <p:cNvSpPr txBox="1"/>
          <p:nvPr/>
        </p:nvSpPr>
        <p:spPr>
          <a:xfrm>
            <a:off x="8242200" y="0"/>
            <a:ext cx="6732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  <a:t>11-785</a:t>
            </a:r>
            <a:br>
              <a:rPr lang="en" sz="600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br>
              <a:rPr lang="en" sz="600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  <a:t>Introduction to </a:t>
            </a:r>
            <a:b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  <a:t>Deep Learning</a:t>
            </a:r>
            <a:endParaRPr sz="100"/>
          </a:p>
        </p:txBody>
      </p:sp>
      <p:sp>
        <p:nvSpPr>
          <p:cNvPr id="93" name="Google Shape;93;p14">
            <a:extLst>
              <a:ext uri="{FF2B5EF4-FFF2-40B4-BE49-F238E27FC236}">
                <a16:creationId xmlns:a16="http://schemas.microsoft.com/office/drawing/2014/main" id="{6E2F05A1-9894-65BD-BF90-7598D1B9E026}"/>
              </a:ext>
            </a:extLst>
          </p:cNvPr>
          <p:cNvSpPr/>
          <p:nvPr/>
        </p:nvSpPr>
        <p:spPr>
          <a:xfrm>
            <a:off x="228600" y="685800"/>
            <a:ext cx="7772400" cy="18300"/>
          </a:xfrm>
          <a:prstGeom prst="rect">
            <a:avLst/>
          </a:prstGeom>
          <a:solidFill>
            <a:srgbClr val="A8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34FC446-8932-6E79-2671-CD60D8551C6C}"/>
              </a:ext>
            </a:extLst>
          </p:cNvPr>
          <p:cNvGrpSpPr/>
          <p:nvPr/>
        </p:nvGrpSpPr>
        <p:grpSpPr>
          <a:xfrm>
            <a:off x="287070" y="5162613"/>
            <a:ext cx="8628330" cy="228600"/>
            <a:chOff x="450302" y="5256435"/>
            <a:chExt cx="8628330" cy="228600"/>
          </a:xfrm>
        </p:grpSpPr>
        <p:sp>
          <p:nvSpPr>
            <p:cNvPr id="73" name="Google Shape;73;p14">
              <a:extLst>
                <a:ext uri="{FF2B5EF4-FFF2-40B4-BE49-F238E27FC236}">
                  <a16:creationId xmlns:a16="http://schemas.microsoft.com/office/drawing/2014/main" id="{CEE3D263-C51B-ADDE-DE3B-AB021DE71B96}"/>
                </a:ext>
              </a:extLst>
            </p:cNvPr>
            <p:cNvSpPr/>
            <p:nvPr/>
          </p:nvSpPr>
          <p:spPr>
            <a:xfrm>
              <a:off x="450302" y="5256435"/>
              <a:ext cx="2158500" cy="228600"/>
            </a:xfrm>
            <a:prstGeom prst="homePlate">
              <a:avLst>
                <a:gd name="adj" fmla="val 50000"/>
              </a:avLst>
            </a:prstGeom>
            <a:noFill/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800" dirty="0">
                  <a:solidFill>
                    <a:schemeClr val="tx1"/>
                  </a:solidFill>
                </a:rPr>
                <a:t>What is PSC? </a:t>
              </a:r>
              <a:endParaRPr sz="800" dirty="0">
                <a:solidFill>
                  <a:schemeClr val="tx1"/>
                </a:solidFill>
              </a:endParaRPr>
            </a:p>
          </p:txBody>
        </p:sp>
        <p:sp>
          <p:nvSpPr>
            <p:cNvPr id="74" name="Google Shape;74;p14">
              <a:extLst>
                <a:ext uri="{FF2B5EF4-FFF2-40B4-BE49-F238E27FC236}">
                  <a16:creationId xmlns:a16="http://schemas.microsoft.com/office/drawing/2014/main" id="{DAA7AAC0-6706-CDDA-99FB-605F0A931F45}"/>
                </a:ext>
              </a:extLst>
            </p:cNvPr>
            <p:cNvSpPr/>
            <p:nvPr/>
          </p:nvSpPr>
          <p:spPr>
            <a:xfrm>
              <a:off x="2606912" y="5256435"/>
              <a:ext cx="2158500" cy="228600"/>
            </a:xfrm>
            <a:prstGeom prst="chevron">
              <a:avLst>
                <a:gd name="adj" fmla="val 50000"/>
              </a:avLst>
            </a:prstGeom>
            <a:noFill/>
            <a:ln w="9525" cap="flat" cmpd="sng">
              <a:solidFill>
                <a:srgbClr val="C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" sz="800" dirty="0">
                  <a:solidFill>
                    <a:schemeClr val="tx1"/>
                  </a:solidFill>
                </a:rPr>
                <a:t>How to connect via terminal</a:t>
              </a:r>
              <a:endParaRPr sz="800" dirty="0">
                <a:solidFill>
                  <a:schemeClr val="tx1"/>
                </a:solidFill>
              </a:endParaRPr>
            </a:p>
          </p:txBody>
        </p:sp>
        <p:sp>
          <p:nvSpPr>
            <p:cNvPr id="75" name="Google Shape;75;p14">
              <a:extLst>
                <a:ext uri="{FF2B5EF4-FFF2-40B4-BE49-F238E27FC236}">
                  <a16:creationId xmlns:a16="http://schemas.microsoft.com/office/drawing/2014/main" id="{BC7EA473-21BF-D919-4782-3EDC3E857BA4}"/>
                </a:ext>
              </a:extLst>
            </p:cNvPr>
            <p:cNvSpPr/>
            <p:nvPr/>
          </p:nvSpPr>
          <p:spPr>
            <a:xfrm>
              <a:off x="4763522" y="5256435"/>
              <a:ext cx="2158500" cy="228600"/>
            </a:xfrm>
            <a:prstGeom prst="chevron">
              <a:avLst>
                <a:gd name="adj" fmla="val 50000"/>
              </a:avLst>
            </a:prstGeom>
            <a:solidFill>
              <a:srgbClr val="A80000"/>
            </a:solidFill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" sz="800" b="1" dirty="0">
                  <a:solidFill>
                    <a:schemeClr val="bg1"/>
                  </a:solidFill>
                </a:rPr>
                <a:t>How to connect via </a:t>
              </a:r>
              <a:r>
                <a:rPr lang="en" sz="800" b="1" dirty="0" err="1">
                  <a:solidFill>
                    <a:schemeClr val="bg1"/>
                  </a:solidFill>
                </a:rPr>
                <a:t>VSCode</a:t>
              </a:r>
              <a:endParaRPr sz="800" b="1" dirty="0">
                <a:solidFill>
                  <a:schemeClr val="bg1"/>
                </a:solidFill>
              </a:endParaRPr>
            </a:p>
          </p:txBody>
        </p:sp>
        <p:sp>
          <p:nvSpPr>
            <p:cNvPr id="3" name="Google Shape;75;p14">
              <a:extLst>
                <a:ext uri="{FF2B5EF4-FFF2-40B4-BE49-F238E27FC236}">
                  <a16:creationId xmlns:a16="http://schemas.microsoft.com/office/drawing/2014/main" id="{F1CB2772-BE9F-D41A-8F36-10C95C5DC6D9}"/>
                </a:ext>
              </a:extLst>
            </p:cNvPr>
            <p:cNvSpPr/>
            <p:nvPr/>
          </p:nvSpPr>
          <p:spPr>
            <a:xfrm>
              <a:off x="6920132" y="5256435"/>
              <a:ext cx="2158500" cy="228600"/>
            </a:xfrm>
            <a:prstGeom prst="chevron">
              <a:avLst>
                <a:gd name="adj" fmla="val 50000"/>
              </a:avLst>
            </a:prstGeom>
            <a:solidFill>
              <a:schemeClr val="lt1"/>
            </a:solidFill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" sz="800" dirty="0">
                  <a:solidFill>
                    <a:schemeClr val="dk1"/>
                  </a:solidFill>
                </a:rPr>
                <a:t>PSC tips</a:t>
              </a:r>
              <a:endParaRPr sz="800" dirty="0">
                <a:solidFill>
                  <a:schemeClr val="dk1"/>
                </a:solidFill>
              </a:endParaRPr>
            </a:p>
          </p:txBody>
        </p:sp>
      </p:grpSp>
      <p:sp>
        <p:nvSpPr>
          <p:cNvPr id="2" name="Google Shape;66;p13">
            <a:extLst>
              <a:ext uri="{FF2B5EF4-FFF2-40B4-BE49-F238E27FC236}">
                <a16:creationId xmlns:a16="http://schemas.microsoft.com/office/drawing/2014/main" id="{45097FBD-8FA7-47B6-F663-31D5C0C9CEE1}"/>
              </a:ext>
            </a:extLst>
          </p:cNvPr>
          <p:cNvSpPr txBox="1"/>
          <p:nvPr/>
        </p:nvSpPr>
        <p:spPr>
          <a:xfrm>
            <a:off x="1546122" y="5350828"/>
            <a:ext cx="6889955" cy="36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dk2"/>
                </a:solidFill>
              </a:rPr>
              <a:t>TA: En Zheng (enzheng@</a:t>
            </a:r>
            <a:r>
              <a:rPr lang="en-US" sz="1100" dirty="0">
                <a:solidFill>
                  <a:schemeClr val="dk2"/>
                </a:solidFill>
              </a:rPr>
              <a:t>a</a:t>
            </a:r>
            <a:r>
              <a:rPr lang="en" sz="1100" dirty="0">
                <a:solidFill>
                  <a:schemeClr val="dk2"/>
                </a:solidFill>
              </a:rPr>
              <a:t>ndrew.cmu.edu) </a:t>
            </a:r>
            <a:r>
              <a:rPr lang="en-US" sz="1100" dirty="0" err="1">
                <a:solidFill>
                  <a:schemeClr val="dk2"/>
                </a:solidFill>
              </a:rPr>
              <a:t>Pengyu</a:t>
            </a:r>
            <a:r>
              <a:rPr lang="en-US" sz="1100" dirty="0">
                <a:solidFill>
                  <a:schemeClr val="dk2"/>
                </a:solidFill>
              </a:rPr>
              <a:t> Chang (</a:t>
            </a:r>
            <a:r>
              <a:rPr lang="en-US" sz="1100" dirty="0" err="1">
                <a:solidFill>
                  <a:schemeClr val="dk2"/>
                </a:solidFill>
              </a:rPr>
              <a:t>pengyuch@andrew.cmu.edu</a:t>
            </a:r>
            <a:r>
              <a:rPr lang="en-US" sz="1100" dirty="0">
                <a:solidFill>
                  <a:schemeClr val="dk2"/>
                </a:solidFill>
              </a:rPr>
              <a:t>)</a:t>
            </a:r>
            <a:endParaRPr sz="1100" dirty="0">
              <a:solidFill>
                <a:schemeClr val="dk2"/>
              </a:solidFill>
            </a:endParaRPr>
          </a:p>
        </p:txBody>
      </p:sp>
      <p:sp>
        <p:nvSpPr>
          <p:cNvPr id="10" name="Google Shape;78;p14">
            <a:extLst>
              <a:ext uri="{FF2B5EF4-FFF2-40B4-BE49-F238E27FC236}">
                <a16:creationId xmlns:a16="http://schemas.microsoft.com/office/drawing/2014/main" id="{D7DCE53D-8C12-4F0F-305E-386128C4E8AD}"/>
              </a:ext>
            </a:extLst>
          </p:cNvPr>
          <p:cNvSpPr txBox="1"/>
          <p:nvPr/>
        </p:nvSpPr>
        <p:spPr>
          <a:xfrm>
            <a:off x="2403090" y="2400300"/>
            <a:ext cx="4394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</a:rPr>
              <a:t>PSC Connection via </a:t>
            </a:r>
            <a:r>
              <a:rPr lang="en" sz="2400" dirty="0" err="1">
                <a:solidFill>
                  <a:schemeClr val="dk1"/>
                </a:solidFill>
              </a:rPr>
              <a:t>VSCode</a:t>
            </a:r>
            <a:endParaRPr sz="24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17077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1E156826-DB79-FA69-B687-A8F58C8EC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68D6191-4C88-0920-58E5-B4CC322595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147" y="1230861"/>
            <a:ext cx="3130689" cy="3695699"/>
          </a:xfrm>
          <a:prstGeom prst="rect">
            <a:avLst/>
          </a:prstGeom>
        </p:spPr>
      </p:pic>
      <p:sp>
        <p:nvSpPr>
          <p:cNvPr id="76" name="Google Shape;76;p14">
            <a:extLst>
              <a:ext uri="{FF2B5EF4-FFF2-40B4-BE49-F238E27FC236}">
                <a16:creationId xmlns:a16="http://schemas.microsoft.com/office/drawing/2014/main" id="{2F92E8D4-80C1-2C15-A819-C55CF71C3F20}"/>
              </a:ext>
            </a:extLst>
          </p:cNvPr>
          <p:cNvSpPr/>
          <p:nvPr/>
        </p:nvSpPr>
        <p:spPr>
          <a:xfrm>
            <a:off x="8242200" y="0"/>
            <a:ext cx="673200" cy="672300"/>
          </a:xfrm>
          <a:prstGeom prst="flowChartOffpageConnector">
            <a:avLst/>
          </a:prstGeom>
          <a:noFill/>
          <a:ln w="9525" cap="flat" cmpd="sng">
            <a:solidFill>
              <a:srgbClr val="A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4">
            <a:extLst>
              <a:ext uri="{FF2B5EF4-FFF2-40B4-BE49-F238E27FC236}">
                <a16:creationId xmlns:a16="http://schemas.microsoft.com/office/drawing/2014/main" id="{1DFADFD1-4C70-7875-AEE0-CF665302AC82}"/>
              </a:ext>
            </a:extLst>
          </p:cNvPr>
          <p:cNvSpPr txBox="1"/>
          <p:nvPr/>
        </p:nvSpPr>
        <p:spPr>
          <a:xfrm>
            <a:off x="8242200" y="0"/>
            <a:ext cx="6732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  <a:t>11-785</a:t>
            </a:r>
            <a:br>
              <a:rPr lang="en" sz="600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br>
              <a:rPr lang="en" sz="600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  <a:t>Introduction to </a:t>
            </a:r>
            <a:b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  <a:t>Deep Learning</a:t>
            </a:r>
            <a:endParaRPr sz="100"/>
          </a:p>
        </p:txBody>
      </p:sp>
      <p:sp>
        <p:nvSpPr>
          <p:cNvPr id="78" name="Google Shape;78;p14">
            <a:extLst>
              <a:ext uri="{FF2B5EF4-FFF2-40B4-BE49-F238E27FC236}">
                <a16:creationId xmlns:a16="http://schemas.microsoft.com/office/drawing/2014/main" id="{D79B47DD-23DE-4CC9-19CD-2602FE813E3C}"/>
              </a:ext>
            </a:extLst>
          </p:cNvPr>
          <p:cNvSpPr txBox="1"/>
          <p:nvPr/>
        </p:nvSpPr>
        <p:spPr>
          <a:xfrm>
            <a:off x="228600" y="228601"/>
            <a:ext cx="7791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</a:rPr>
              <a:t>Connect via </a:t>
            </a:r>
            <a:r>
              <a:rPr lang="en" sz="1800" dirty="0" err="1">
                <a:solidFill>
                  <a:schemeClr val="dk1"/>
                </a:solidFill>
              </a:rPr>
              <a:t>VSCode</a:t>
            </a: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93" name="Google Shape;93;p14">
            <a:extLst>
              <a:ext uri="{FF2B5EF4-FFF2-40B4-BE49-F238E27FC236}">
                <a16:creationId xmlns:a16="http://schemas.microsoft.com/office/drawing/2014/main" id="{8BB2A420-B327-A195-46DE-DFBB50695F4E}"/>
              </a:ext>
            </a:extLst>
          </p:cNvPr>
          <p:cNvSpPr/>
          <p:nvPr/>
        </p:nvSpPr>
        <p:spPr>
          <a:xfrm>
            <a:off x="228600" y="685800"/>
            <a:ext cx="7772400" cy="18300"/>
          </a:xfrm>
          <a:prstGeom prst="rect">
            <a:avLst/>
          </a:prstGeom>
          <a:solidFill>
            <a:srgbClr val="A8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83BB63E-E9DE-2354-3475-752852BF2D10}"/>
              </a:ext>
            </a:extLst>
          </p:cNvPr>
          <p:cNvGrpSpPr/>
          <p:nvPr/>
        </p:nvGrpSpPr>
        <p:grpSpPr>
          <a:xfrm>
            <a:off x="287070" y="5162613"/>
            <a:ext cx="8628330" cy="228600"/>
            <a:chOff x="450302" y="5256435"/>
            <a:chExt cx="8628330" cy="228600"/>
          </a:xfrm>
        </p:grpSpPr>
        <p:sp>
          <p:nvSpPr>
            <p:cNvPr id="73" name="Google Shape;73;p14">
              <a:extLst>
                <a:ext uri="{FF2B5EF4-FFF2-40B4-BE49-F238E27FC236}">
                  <a16:creationId xmlns:a16="http://schemas.microsoft.com/office/drawing/2014/main" id="{F458806A-F4D1-5AA1-45B6-2663434A8A57}"/>
                </a:ext>
              </a:extLst>
            </p:cNvPr>
            <p:cNvSpPr/>
            <p:nvPr/>
          </p:nvSpPr>
          <p:spPr>
            <a:xfrm>
              <a:off x="450302" y="5256435"/>
              <a:ext cx="2158500" cy="228600"/>
            </a:xfrm>
            <a:prstGeom prst="homePlate">
              <a:avLst>
                <a:gd name="adj" fmla="val 50000"/>
              </a:avLst>
            </a:prstGeom>
            <a:noFill/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800" dirty="0">
                  <a:solidFill>
                    <a:schemeClr val="tx1"/>
                  </a:solidFill>
                </a:rPr>
                <a:t>What is PSC? </a:t>
              </a:r>
              <a:endParaRPr sz="800" dirty="0">
                <a:solidFill>
                  <a:schemeClr val="tx1"/>
                </a:solidFill>
              </a:endParaRPr>
            </a:p>
          </p:txBody>
        </p:sp>
        <p:sp>
          <p:nvSpPr>
            <p:cNvPr id="74" name="Google Shape;74;p14">
              <a:extLst>
                <a:ext uri="{FF2B5EF4-FFF2-40B4-BE49-F238E27FC236}">
                  <a16:creationId xmlns:a16="http://schemas.microsoft.com/office/drawing/2014/main" id="{5DAB6FDA-6D89-FF4F-D67B-F27CB3404827}"/>
                </a:ext>
              </a:extLst>
            </p:cNvPr>
            <p:cNvSpPr/>
            <p:nvPr/>
          </p:nvSpPr>
          <p:spPr>
            <a:xfrm>
              <a:off x="2606912" y="5256435"/>
              <a:ext cx="2158500" cy="228600"/>
            </a:xfrm>
            <a:prstGeom prst="chevron">
              <a:avLst>
                <a:gd name="adj" fmla="val 50000"/>
              </a:avLst>
            </a:prstGeom>
            <a:noFill/>
            <a:ln w="9525" cap="flat" cmpd="sng">
              <a:solidFill>
                <a:srgbClr val="C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" sz="800" dirty="0">
                  <a:solidFill>
                    <a:schemeClr val="tx1"/>
                  </a:solidFill>
                </a:rPr>
                <a:t>How to connect via terminal</a:t>
              </a:r>
              <a:endParaRPr sz="800" dirty="0">
                <a:solidFill>
                  <a:schemeClr val="tx1"/>
                </a:solidFill>
              </a:endParaRPr>
            </a:p>
          </p:txBody>
        </p:sp>
        <p:sp>
          <p:nvSpPr>
            <p:cNvPr id="75" name="Google Shape;75;p14">
              <a:extLst>
                <a:ext uri="{FF2B5EF4-FFF2-40B4-BE49-F238E27FC236}">
                  <a16:creationId xmlns:a16="http://schemas.microsoft.com/office/drawing/2014/main" id="{1C8619B1-00F7-18A0-74F9-1EBD30ECB080}"/>
                </a:ext>
              </a:extLst>
            </p:cNvPr>
            <p:cNvSpPr/>
            <p:nvPr/>
          </p:nvSpPr>
          <p:spPr>
            <a:xfrm>
              <a:off x="4763522" y="5256435"/>
              <a:ext cx="2158500" cy="228600"/>
            </a:xfrm>
            <a:prstGeom prst="chevron">
              <a:avLst>
                <a:gd name="adj" fmla="val 50000"/>
              </a:avLst>
            </a:prstGeom>
            <a:solidFill>
              <a:srgbClr val="A80000"/>
            </a:solidFill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" sz="800" b="1" dirty="0">
                  <a:solidFill>
                    <a:schemeClr val="bg1"/>
                  </a:solidFill>
                </a:rPr>
                <a:t>How to connect via </a:t>
              </a:r>
              <a:r>
                <a:rPr lang="en" sz="800" b="1" dirty="0" err="1">
                  <a:solidFill>
                    <a:schemeClr val="bg1"/>
                  </a:solidFill>
                </a:rPr>
                <a:t>VSCode</a:t>
              </a:r>
              <a:endParaRPr sz="800" b="1" dirty="0">
                <a:solidFill>
                  <a:schemeClr val="bg1"/>
                </a:solidFill>
              </a:endParaRPr>
            </a:p>
          </p:txBody>
        </p:sp>
        <p:sp>
          <p:nvSpPr>
            <p:cNvPr id="3" name="Google Shape;75;p14">
              <a:extLst>
                <a:ext uri="{FF2B5EF4-FFF2-40B4-BE49-F238E27FC236}">
                  <a16:creationId xmlns:a16="http://schemas.microsoft.com/office/drawing/2014/main" id="{2A08EE1D-58AE-2F39-20B8-BEB26C7658F2}"/>
                </a:ext>
              </a:extLst>
            </p:cNvPr>
            <p:cNvSpPr/>
            <p:nvPr/>
          </p:nvSpPr>
          <p:spPr>
            <a:xfrm>
              <a:off x="6920132" y="5256435"/>
              <a:ext cx="2158500" cy="228600"/>
            </a:xfrm>
            <a:prstGeom prst="chevron">
              <a:avLst>
                <a:gd name="adj" fmla="val 50000"/>
              </a:avLst>
            </a:prstGeom>
            <a:solidFill>
              <a:schemeClr val="lt1"/>
            </a:solidFill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" sz="800" dirty="0">
                  <a:solidFill>
                    <a:schemeClr val="dk1"/>
                  </a:solidFill>
                </a:rPr>
                <a:t>PSC tips</a:t>
              </a:r>
              <a:endParaRPr sz="800" dirty="0">
                <a:solidFill>
                  <a:schemeClr val="dk1"/>
                </a:solidFill>
              </a:endParaRPr>
            </a:p>
          </p:txBody>
        </p:sp>
      </p:grpSp>
      <p:sp>
        <p:nvSpPr>
          <p:cNvPr id="2" name="Google Shape;66;p13">
            <a:extLst>
              <a:ext uri="{FF2B5EF4-FFF2-40B4-BE49-F238E27FC236}">
                <a16:creationId xmlns:a16="http://schemas.microsoft.com/office/drawing/2014/main" id="{61BD344D-7090-3A0A-5A93-D31DC0752BC3}"/>
              </a:ext>
            </a:extLst>
          </p:cNvPr>
          <p:cNvSpPr txBox="1"/>
          <p:nvPr/>
        </p:nvSpPr>
        <p:spPr>
          <a:xfrm>
            <a:off x="1546122" y="5350828"/>
            <a:ext cx="6889955" cy="36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dk2"/>
                </a:solidFill>
              </a:rPr>
              <a:t>TA: En Zheng (enzheng@</a:t>
            </a:r>
            <a:r>
              <a:rPr lang="en-US" sz="1100" dirty="0">
                <a:solidFill>
                  <a:schemeClr val="dk2"/>
                </a:solidFill>
              </a:rPr>
              <a:t>a</a:t>
            </a:r>
            <a:r>
              <a:rPr lang="en" sz="1100" dirty="0">
                <a:solidFill>
                  <a:schemeClr val="dk2"/>
                </a:solidFill>
              </a:rPr>
              <a:t>ndrew.cmu.edu) </a:t>
            </a:r>
            <a:r>
              <a:rPr lang="en-US" sz="1100" dirty="0" err="1">
                <a:solidFill>
                  <a:schemeClr val="dk2"/>
                </a:solidFill>
              </a:rPr>
              <a:t>Pengyu</a:t>
            </a:r>
            <a:r>
              <a:rPr lang="en-US" sz="1100" dirty="0">
                <a:solidFill>
                  <a:schemeClr val="dk2"/>
                </a:solidFill>
              </a:rPr>
              <a:t> Chang (</a:t>
            </a:r>
            <a:r>
              <a:rPr lang="en-US" sz="1100" dirty="0" err="1">
                <a:solidFill>
                  <a:schemeClr val="dk2"/>
                </a:solidFill>
              </a:rPr>
              <a:t>pengyuch@andrew.cmu.edu</a:t>
            </a:r>
            <a:r>
              <a:rPr lang="en-US" sz="1100" dirty="0">
                <a:solidFill>
                  <a:schemeClr val="dk2"/>
                </a:solidFill>
              </a:rPr>
              <a:t>)</a:t>
            </a:r>
            <a:endParaRPr sz="1100" dirty="0">
              <a:solidFill>
                <a:schemeClr val="dk2"/>
              </a:solidFill>
            </a:endParaRPr>
          </a:p>
        </p:txBody>
      </p:sp>
      <p:sp>
        <p:nvSpPr>
          <p:cNvPr id="4" name="Google Shape;78;p14">
            <a:extLst>
              <a:ext uri="{FF2B5EF4-FFF2-40B4-BE49-F238E27FC236}">
                <a16:creationId xmlns:a16="http://schemas.microsoft.com/office/drawing/2014/main" id="{F9D57874-990A-9FBC-2461-345B94744604}"/>
              </a:ext>
            </a:extLst>
          </p:cNvPr>
          <p:cNvSpPr txBox="1"/>
          <p:nvPr/>
        </p:nvSpPr>
        <p:spPr>
          <a:xfrm>
            <a:off x="2234381" y="723331"/>
            <a:ext cx="467769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rgbClr val="A80000"/>
                </a:solidFill>
              </a:rPr>
              <a:t>Please watch the video for more details </a:t>
            </a:r>
            <a:r>
              <a:rPr lang="en" sz="1600" b="1" dirty="0">
                <a:solidFill>
                  <a:srgbClr val="A80000"/>
                </a:solidFill>
                <a:sym typeface="Wingdings" pitchFamily="2" charset="2"/>
              </a:rPr>
              <a:t>:)</a:t>
            </a:r>
            <a:endParaRPr sz="1600" b="1" dirty="0">
              <a:solidFill>
                <a:srgbClr val="A8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9A64F6-205A-A8BC-4F7B-D15B685928DA}"/>
              </a:ext>
            </a:extLst>
          </p:cNvPr>
          <p:cNvSpPr txBox="1"/>
          <p:nvPr/>
        </p:nvSpPr>
        <p:spPr>
          <a:xfrm>
            <a:off x="4124400" y="1769466"/>
            <a:ext cx="4601497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1. SSH into Bridges2</a:t>
            </a:r>
          </a:p>
          <a:p>
            <a:endParaRPr lang="en-US" sz="1600" dirty="0"/>
          </a:p>
          <a:p>
            <a:r>
              <a:rPr lang="en-US" dirty="0"/>
              <a:t>1) Open VS Code and click on the `Extensions` icon in the left sidebar. </a:t>
            </a:r>
            <a:r>
              <a:rPr lang="en-US" b="1" dirty="0"/>
              <a:t>Make sure the "**Remote - SSH**" extension is installed.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76134B4-1390-8F13-99C4-775B3B4D717C}"/>
              </a:ext>
            </a:extLst>
          </p:cNvPr>
          <p:cNvSpPr/>
          <p:nvPr/>
        </p:nvSpPr>
        <p:spPr>
          <a:xfrm>
            <a:off x="666121" y="3431459"/>
            <a:ext cx="342195" cy="383458"/>
          </a:xfrm>
          <a:prstGeom prst="roundRect">
            <a:avLst/>
          </a:prstGeom>
          <a:noFill/>
          <a:ln w="285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FCAD346-F233-09F8-43CC-14A5A876B738}"/>
              </a:ext>
            </a:extLst>
          </p:cNvPr>
          <p:cNvSpPr/>
          <p:nvPr/>
        </p:nvSpPr>
        <p:spPr>
          <a:xfrm>
            <a:off x="1116470" y="2158182"/>
            <a:ext cx="2585883" cy="565353"/>
          </a:xfrm>
          <a:prstGeom prst="roundRect">
            <a:avLst/>
          </a:prstGeom>
          <a:noFill/>
          <a:ln w="285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389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FACE8558-6F73-6B9B-F0DF-386525638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>
            <a:extLst>
              <a:ext uri="{FF2B5EF4-FFF2-40B4-BE49-F238E27FC236}">
                <a16:creationId xmlns:a16="http://schemas.microsoft.com/office/drawing/2014/main" id="{464F1708-F76C-B17D-5F86-3A416549256A}"/>
              </a:ext>
            </a:extLst>
          </p:cNvPr>
          <p:cNvSpPr/>
          <p:nvPr/>
        </p:nvSpPr>
        <p:spPr>
          <a:xfrm>
            <a:off x="8242200" y="0"/>
            <a:ext cx="673200" cy="672300"/>
          </a:xfrm>
          <a:prstGeom prst="flowChartOffpageConnector">
            <a:avLst/>
          </a:prstGeom>
          <a:noFill/>
          <a:ln w="9525" cap="flat" cmpd="sng">
            <a:solidFill>
              <a:srgbClr val="A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4">
            <a:extLst>
              <a:ext uri="{FF2B5EF4-FFF2-40B4-BE49-F238E27FC236}">
                <a16:creationId xmlns:a16="http://schemas.microsoft.com/office/drawing/2014/main" id="{79CF3849-3FCE-1326-19B6-EF5751A5ED2B}"/>
              </a:ext>
            </a:extLst>
          </p:cNvPr>
          <p:cNvSpPr txBox="1"/>
          <p:nvPr/>
        </p:nvSpPr>
        <p:spPr>
          <a:xfrm>
            <a:off x="8242200" y="0"/>
            <a:ext cx="6732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  <a:t>11-785</a:t>
            </a:r>
            <a:br>
              <a:rPr lang="en" sz="600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br>
              <a:rPr lang="en" sz="600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  <a:t>Introduction to </a:t>
            </a:r>
            <a:b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  <a:t>Deep Learning</a:t>
            </a:r>
            <a:endParaRPr sz="100"/>
          </a:p>
        </p:txBody>
      </p:sp>
      <p:sp>
        <p:nvSpPr>
          <p:cNvPr id="78" name="Google Shape;78;p14">
            <a:extLst>
              <a:ext uri="{FF2B5EF4-FFF2-40B4-BE49-F238E27FC236}">
                <a16:creationId xmlns:a16="http://schemas.microsoft.com/office/drawing/2014/main" id="{5EE2FCB1-AE1E-3891-D0BC-6F03C4BAB76D}"/>
              </a:ext>
            </a:extLst>
          </p:cNvPr>
          <p:cNvSpPr txBox="1"/>
          <p:nvPr/>
        </p:nvSpPr>
        <p:spPr>
          <a:xfrm>
            <a:off x="228600" y="228601"/>
            <a:ext cx="7791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</a:rPr>
              <a:t>Connect via </a:t>
            </a:r>
            <a:r>
              <a:rPr lang="en" sz="1800" dirty="0" err="1">
                <a:solidFill>
                  <a:schemeClr val="dk1"/>
                </a:solidFill>
              </a:rPr>
              <a:t>VSCode</a:t>
            </a: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93" name="Google Shape;93;p14">
            <a:extLst>
              <a:ext uri="{FF2B5EF4-FFF2-40B4-BE49-F238E27FC236}">
                <a16:creationId xmlns:a16="http://schemas.microsoft.com/office/drawing/2014/main" id="{67F51F8A-99B7-B0B7-FB82-651A1554C045}"/>
              </a:ext>
            </a:extLst>
          </p:cNvPr>
          <p:cNvSpPr/>
          <p:nvPr/>
        </p:nvSpPr>
        <p:spPr>
          <a:xfrm>
            <a:off x="228600" y="685800"/>
            <a:ext cx="7772400" cy="18300"/>
          </a:xfrm>
          <a:prstGeom prst="rect">
            <a:avLst/>
          </a:prstGeom>
          <a:solidFill>
            <a:srgbClr val="A8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B67D936-5876-6B8D-1091-D9BF6D5BDD23}"/>
              </a:ext>
            </a:extLst>
          </p:cNvPr>
          <p:cNvGrpSpPr/>
          <p:nvPr/>
        </p:nvGrpSpPr>
        <p:grpSpPr>
          <a:xfrm>
            <a:off x="287070" y="5162613"/>
            <a:ext cx="8628330" cy="228600"/>
            <a:chOff x="450302" y="5256435"/>
            <a:chExt cx="8628330" cy="228600"/>
          </a:xfrm>
        </p:grpSpPr>
        <p:sp>
          <p:nvSpPr>
            <p:cNvPr id="73" name="Google Shape;73;p14">
              <a:extLst>
                <a:ext uri="{FF2B5EF4-FFF2-40B4-BE49-F238E27FC236}">
                  <a16:creationId xmlns:a16="http://schemas.microsoft.com/office/drawing/2014/main" id="{A03FF053-8654-F52F-95E2-58FD9F1CAF36}"/>
                </a:ext>
              </a:extLst>
            </p:cNvPr>
            <p:cNvSpPr/>
            <p:nvPr/>
          </p:nvSpPr>
          <p:spPr>
            <a:xfrm>
              <a:off x="450302" y="5256435"/>
              <a:ext cx="2158500" cy="228600"/>
            </a:xfrm>
            <a:prstGeom prst="homePlate">
              <a:avLst>
                <a:gd name="adj" fmla="val 50000"/>
              </a:avLst>
            </a:prstGeom>
            <a:noFill/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800" dirty="0">
                  <a:solidFill>
                    <a:schemeClr val="tx1"/>
                  </a:solidFill>
                </a:rPr>
                <a:t>What is PSC? </a:t>
              </a:r>
              <a:endParaRPr sz="800" dirty="0">
                <a:solidFill>
                  <a:schemeClr val="tx1"/>
                </a:solidFill>
              </a:endParaRPr>
            </a:p>
          </p:txBody>
        </p:sp>
        <p:sp>
          <p:nvSpPr>
            <p:cNvPr id="74" name="Google Shape;74;p14">
              <a:extLst>
                <a:ext uri="{FF2B5EF4-FFF2-40B4-BE49-F238E27FC236}">
                  <a16:creationId xmlns:a16="http://schemas.microsoft.com/office/drawing/2014/main" id="{70C9F087-7614-1F99-3841-3CD18294B4F0}"/>
                </a:ext>
              </a:extLst>
            </p:cNvPr>
            <p:cNvSpPr/>
            <p:nvPr/>
          </p:nvSpPr>
          <p:spPr>
            <a:xfrm>
              <a:off x="2606912" y="5256435"/>
              <a:ext cx="2158500" cy="228600"/>
            </a:xfrm>
            <a:prstGeom prst="chevron">
              <a:avLst>
                <a:gd name="adj" fmla="val 50000"/>
              </a:avLst>
            </a:prstGeom>
            <a:noFill/>
            <a:ln w="9525" cap="flat" cmpd="sng">
              <a:solidFill>
                <a:srgbClr val="C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" sz="800" dirty="0">
                  <a:solidFill>
                    <a:schemeClr val="tx1"/>
                  </a:solidFill>
                </a:rPr>
                <a:t>How to connect via terminal</a:t>
              </a:r>
              <a:endParaRPr sz="800" dirty="0">
                <a:solidFill>
                  <a:schemeClr val="tx1"/>
                </a:solidFill>
              </a:endParaRPr>
            </a:p>
          </p:txBody>
        </p:sp>
        <p:sp>
          <p:nvSpPr>
            <p:cNvPr id="75" name="Google Shape;75;p14">
              <a:extLst>
                <a:ext uri="{FF2B5EF4-FFF2-40B4-BE49-F238E27FC236}">
                  <a16:creationId xmlns:a16="http://schemas.microsoft.com/office/drawing/2014/main" id="{D6D1918C-0625-7E28-BD85-A5E91F838FF3}"/>
                </a:ext>
              </a:extLst>
            </p:cNvPr>
            <p:cNvSpPr/>
            <p:nvPr/>
          </p:nvSpPr>
          <p:spPr>
            <a:xfrm>
              <a:off x="4763522" y="5256435"/>
              <a:ext cx="2158500" cy="228600"/>
            </a:xfrm>
            <a:prstGeom prst="chevron">
              <a:avLst>
                <a:gd name="adj" fmla="val 50000"/>
              </a:avLst>
            </a:prstGeom>
            <a:solidFill>
              <a:srgbClr val="A80000"/>
            </a:solidFill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" sz="800" b="1" dirty="0">
                  <a:solidFill>
                    <a:schemeClr val="bg1"/>
                  </a:solidFill>
                </a:rPr>
                <a:t>How to connect via </a:t>
              </a:r>
              <a:r>
                <a:rPr lang="en" sz="800" b="1" dirty="0" err="1">
                  <a:solidFill>
                    <a:schemeClr val="bg1"/>
                  </a:solidFill>
                </a:rPr>
                <a:t>VSCode</a:t>
              </a:r>
              <a:endParaRPr sz="800" b="1" dirty="0">
                <a:solidFill>
                  <a:schemeClr val="bg1"/>
                </a:solidFill>
              </a:endParaRPr>
            </a:p>
          </p:txBody>
        </p:sp>
        <p:sp>
          <p:nvSpPr>
            <p:cNvPr id="3" name="Google Shape;75;p14">
              <a:extLst>
                <a:ext uri="{FF2B5EF4-FFF2-40B4-BE49-F238E27FC236}">
                  <a16:creationId xmlns:a16="http://schemas.microsoft.com/office/drawing/2014/main" id="{50E15192-7CD1-2919-7884-50634064F24C}"/>
                </a:ext>
              </a:extLst>
            </p:cNvPr>
            <p:cNvSpPr/>
            <p:nvPr/>
          </p:nvSpPr>
          <p:spPr>
            <a:xfrm>
              <a:off x="6920132" y="5256435"/>
              <a:ext cx="2158500" cy="228600"/>
            </a:xfrm>
            <a:prstGeom prst="chevron">
              <a:avLst>
                <a:gd name="adj" fmla="val 50000"/>
              </a:avLst>
            </a:prstGeom>
            <a:solidFill>
              <a:schemeClr val="lt1"/>
            </a:solidFill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" sz="800" dirty="0">
                  <a:solidFill>
                    <a:schemeClr val="dk1"/>
                  </a:solidFill>
                </a:rPr>
                <a:t>PSC tips</a:t>
              </a:r>
              <a:endParaRPr sz="800" dirty="0">
                <a:solidFill>
                  <a:schemeClr val="dk1"/>
                </a:solidFill>
              </a:endParaRPr>
            </a:p>
          </p:txBody>
        </p:sp>
      </p:grpSp>
      <p:sp>
        <p:nvSpPr>
          <p:cNvPr id="2" name="Google Shape;66;p13">
            <a:extLst>
              <a:ext uri="{FF2B5EF4-FFF2-40B4-BE49-F238E27FC236}">
                <a16:creationId xmlns:a16="http://schemas.microsoft.com/office/drawing/2014/main" id="{9D46B2AC-AB1C-0883-C0F5-D73470DB6382}"/>
              </a:ext>
            </a:extLst>
          </p:cNvPr>
          <p:cNvSpPr txBox="1"/>
          <p:nvPr/>
        </p:nvSpPr>
        <p:spPr>
          <a:xfrm>
            <a:off x="1546122" y="5350828"/>
            <a:ext cx="6889955" cy="36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dk2"/>
                </a:solidFill>
              </a:rPr>
              <a:t>TA: En Zheng (enzheng@</a:t>
            </a:r>
            <a:r>
              <a:rPr lang="en-US" sz="1100" dirty="0">
                <a:solidFill>
                  <a:schemeClr val="dk2"/>
                </a:solidFill>
              </a:rPr>
              <a:t>a</a:t>
            </a:r>
            <a:r>
              <a:rPr lang="en" sz="1100" dirty="0">
                <a:solidFill>
                  <a:schemeClr val="dk2"/>
                </a:solidFill>
              </a:rPr>
              <a:t>ndrew.cmu.edu) </a:t>
            </a:r>
            <a:r>
              <a:rPr lang="en-US" sz="1100" dirty="0" err="1">
                <a:solidFill>
                  <a:schemeClr val="dk2"/>
                </a:solidFill>
              </a:rPr>
              <a:t>Pengyu</a:t>
            </a:r>
            <a:r>
              <a:rPr lang="en-US" sz="1100" dirty="0">
                <a:solidFill>
                  <a:schemeClr val="dk2"/>
                </a:solidFill>
              </a:rPr>
              <a:t> Chang (</a:t>
            </a:r>
            <a:r>
              <a:rPr lang="en-US" sz="1100" dirty="0" err="1">
                <a:solidFill>
                  <a:schemeClr val="dk2"/>
                </a:solidFill>
              </a:rPr>
              <a:t>pengyuch@andrew.cmu.edu</a:t>
            </a:r>
            <a:r>
              <a:rPr lang="en-US" sz="1100" dirty="0">
                <a:solidFill>
                  <a:schemeClr val="dk2"/>
                </a:solidFill>
              </a:rPr>
              <a:t>)</a:t>
            </a:r>
            <a:endParaRPr sz="1100" dirty="0">
              <a:solidFill>
                <a:schemeClr val="dk2"/>
              </a:solidFill>
            </a:endParaRPr>
          </a:p>
        </p:txBody>
      </p:sp>
      <p:sp>
        <p:nvSpPr>
          <p:cNvPr id="4" name="Google Shape;78;p14">
            <a:extLst>
              <a:ext uri="{FF2B5EF4-FFF2-40B4-BE49-F238E27FC236}">
                <a16:creationId xmlns:a16="http://schemas.microsoft.com/office/drawing/2014/main" id="{788918D0-7249-6F48-589C-7937810F6B5C}"/>
              </a:ext>
            </a:extLst>
          </p:cNvPr>
          <p:cNvSpPr txBox="1"/>
          <p:nvPr/>
        </p:nvSpPr>
        <p:spPr>
          <a:xfrm>
            <a:off x="2234381" y="723331"/>
            <a:ext cx="467769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rgbClr val="A80000"/>
                </a:solidFill>
              </a:rPr>
              <a:t>Please watch the video for more details </a:t>
            </a:r>
            <a:r>
              <a:rPr lang="en" sz="1600" b="1" dirty="0">
                <a:solidFill>
                  <a:srgbClr val="A80000"/>
                </a:solidFill>
                <a:sym typeface="Wingdings" pitchFamily="2" charset="2"/>
              </a:rPr>
              <a:t>:)</a:t>
            </a:r>
            <a:endParaRPr sz="1600" b="1" dirty="0">
              <a:solidFill>
                <a:srgbClr val="A8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DD3AA9-1A3C-B298-0E89-BB59EEF6655D}"/>
              </a:ext>
            </a:extLst>
          </p:cNvPr>
          <p:cNvSpPr txBox="1"/>
          <p:nvPr/>
        </p:nvSpPr>
        <p:spPr>
          <a:xfrm>
            <a:off x="4471054" y="1464460"/>
            <a:ext cx="4571691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2）Open the command palette (**</a:t>
            </a:r>
            <a:r>
              <a:rPr lang="en-US" dirty="0" err="1"/>
              <a:t>Shift+Command+P</a:t>
            </a:r>
            <a:r>
              <a:rPr lang="en-US" dirty="0"/>
              <a:t>** on Mac, **</a:t>
            </a:r>
            <a:r>
              <a:rPr lang="en-US" dirty="0" err="1"/>
              <a:t>Ctrl+Shift+P</a:t>
            </a:r>
            <a:r>
              <a:rPr lang="en-US" dirty="0"/>
              <a:t>** on Windows). A search box will appear at the top center. Choose “Remote-SSH: Add New SSH Host”, then enter:</a:t>
            </a:r>
          </a:p>
          <a:p>
            <a:endParaRPr lang="en-US" dirty="0"/>
          </a:p>
          <a:p>
            <a:r>
              <a:rPr lang="en-US" dirty="0"/>
              <a:t>ssh &lt;</a:t>
            </a:r>
            <a:r>
              <a:rPr lang="en-US" dirty="0" err="1"/>
              <a:t>your_username</a:t>
            </a:r>
            <a:r>
              <a:rPr lang="en-US" dirty="0"/>
              <a:t>&gt;@bridges2.psc.edu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Next, choose “/Users/&lt;</a:t>
            </a:r>
            <a:r>
              <a:rPr lang="en-US" dirty="0" err="1"/>
              <a:t>your_username</a:t>
            </a:r>
            <a:r>
              <a:rPr lang="en-US" dirty="0"/>
              <a:t>&gt;/.ssh/config” as the config file.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 dialog will appear in the bottom right saying “Host Added”. Click “Connect”, and then enter your password.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74CB50D-3EE0-B560-DB9B-78813CBA6C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464460"/>
            <a:ext cx="4085612" cy="462024"/>
          </a:xfrm>
          <a:prstGeom prst="rect">
            <a:avLst/>
          </a:prstGeom>
        </p:spPr>
      </p:pic>
      <p:pic>
        <p:nvPicPr>
          <p:cNvPr id="13" name="Picture 12" descr="A screenshot of a phone&#10;&#10;AI-generated content may be incorrect.">
            <a:extLst>
              <a:ext uri="{FF2B5EF4-FFF2-40B4-BE49-F238E27FC236}">
                <a16:creationId xmlns:a16="http://schemas.microsoft.com/office/drawing/2014/main" id="{B56329AB-7F1F-23D3-4CC2-6AEAB7FA46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2320279"/>
            <a:ext cx="4078310" cy="59797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1593D05-0F71-F4ED-AD86-3AC8BF6627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298" y="3196435"/>
            <a:ext cx="4085612" cy="447181"/>
          </a:xfrm>
          <a:prstGeom prst="rect">
            <a:avLst/>
          </a:prstGeom>
        </p:spPr>
      </p:pic>
      <p:pic>
        <p:nvPicPr>
          <p:cNvPr id="19" name="Picture 18" descr="A black rectangular object with blue and white lines&#10;&#10;AI-generated content may be incorrect.">
            <a:extLst>
              <a:ext uri="{FF2B5EF4-FFF2-40B4-BE49-F238E27FC236}">
                <a16:creationId xmlns:a16="http://schemas.microsoft.com/office/drawing/2014/main" id="{43F21E2C-A882-5161-D61C-5BE8EDC3C4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1298" y="3921930"/>
            <a:ext cx="4085612" cy="800924"/>
          </a:xfrm>
          <a:prstGeom prst="rect">
            <a:avLst/>
          </a:prstGeom>
        </p:spPr>
      </p:pic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96C2CE34-B85C-52B9-31F1-DF0E2AAFC6E3}"/>
              </a:ext>
            </a:extLst>
          </p:cNvPr>
          <p:cNvSpPr/>
          <p:nvPr/>
        </p:nvSpPr>
        <p:spPr>
          <a:xfrm>
            <a:off x="3522931" y="4188204"/>
            <a:ext cx="783980" cy="447182"/>
          </a:xfrm>
          <a:prstGeom prst="roundRect">
            <a:avLst/>
          </a:prstGeom>
          <a:noFill/>
          <a:ln w="285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190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5DE8C3FC-4ACD-E246-4EF7-22BA97223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>
            <a:extLst>
              <a:ext uri="{FF2B5EF4-FFF2-40B4-BE49-F238E27FC236}">
                <a16:creationId xmlns:a16="http://schemas.microsoft.com/office/drawing/2014/main" id="{9151AD4C-44FE-0DF1-5DA7-29B22D5084A1}"/>
              </a:ext>
            </a:extLst>
          </p:cNvPr>
          <p:cNvSpPr/>
          <p:nvPr/>
        </p:nvSpPr>
        <p:spPr>
          <a:xfrm>
            <a:off x="8242200" y="0"/>
            <a:ext cx="673200" cy="672300"/>
          </a:xfrm>
          <a:prstGeom prst="flowChartOffpageConnector">
            <a:avLst/>
          </a:prstGeom>
          <a:noFill/>
          <a:ln w="9525" cap="flat" cmpd="sng">
            <a:solidFill>
              <a:srgbClr val="A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4">
            <a:extLst>
              <a:ext uri="{FF2B5EF4-FFF2-40B4-BE49-F238E27FC236}">
                <a16:creationId xmlns:a16="http://schemas.microsoft.com/office/drawing/2014/main" id="{04F9B166-1E44-18FD-0681-E96FC97C8E36}"/>
              </a:ext>
            </a:extLst>
          </p:cNvPr>
          <p:cNvSpPr txBox="1"/>
          <p:nvPr/>
        </p:nvSpPr>
        <p:spPr>
          <a:xfrm>
            <a:off x="8242200" y="0"/>
            <a:ext cx="6732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  <a:t>11-785</a:t>
            </a:r>
            <a:br>
              <a:rPr lang="en" sz="600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br>
              <a:rPr lang="en" sz="600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  <a:t>Introduction to </a:t>
            </a:r>
            <a:b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  <a:t>Deep Learning</a:t>
            </a:r>
            <a:endParaRPr sz="100"/>
          </a:p>
        </p:txBody>
      </p:sp>
      <p:sp>
        <p:nvSpPr>
          <p:cNvPr id="78" name="Google Shape;78;p14">
            <a:extLst>
              <a:ext uri="{FF2B5EF4-FFF2-40B4-BE49-F238E27FC236}">
                <a16:creationId xmlns:a16="http://schemas.microsoft.com/office/drawing/2014/main" id="{DB8B584D-D255-FF2C-030B-D21D89AB834D}"/>
              </a:ext>
            </a:extLst>
          </p:cNvPr>
          <p:cNvSpPr txBox="1"/>
          <p:nvPr/>
        </p:nvSpPr>
        <p:spPr>
          <a:xfrm>
            <a:off x="228600" y="228601"/>
            <a:ext cx="7791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</a:rPr>
              <a:t>Connect via </a:t>
            </a:r>
            <a:r>
              <a:rPr lang="en" sz="1800" dirty="0" err="1">
                <a:solidFill>
                  <a:schemeClr val="dk1"/>
                </a:solidFill>
              </a:rPr>
              <a:t>VSCode</a:t>
            </a: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93" name="Google Shape;93;p14">
            <a:extLst>
              <a:ext uri="{FF2B5EF4-FFF2-40B4-BE49-F238E27FC236}">
                <a16:creationId xmlns:a16="http://schemas.microsoft.com/office/drawing/2014/main" id="{4708096D-7FCA-8CA1-1A4C-48E3AFC99828}"/>
              </a:ext>
            </a:extLst>
          </p:cNvPr>
          <p:cNvSpPr/>
          <p:nvPr/>
        </p:nvSpPr>
        <p:spPr>
          <a:xfrm>
            <a:off x="228600" y="685800"/>
            <a:ext cx="7772400" cy="18300"/>
          </a:xfrm>
          <a:prstGeom prst="rect">
            <a:avLst/>
          </a:prstGeom>
          <a:solidFill>
            <a:srgbClr val="A8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BAAD70A-23DC-92DB-6B9B-498025161408}"/>
              </a:ext>
            </a:extLst>
          </p:cNvPr>
          <p:cNvGrpSpPr/>
          <p:nvPr/>
        </p:nvGrpSpPr>
        <p:grpSpPr>
          <a:xfrm>
            <a:off x="287070" y="5162613"/>
            <a:ext cx="8628330" cy="228600"/>
            <a:chOff x="450302" y="5256435"/>
            <a:chExt cx="8628330" cy="228600"/>
          </a:xfrm>
        </p:grpSpPr>
        <p:sp>
          <p:nvSpPr>
            <p:cNvPr id="73" name="Google Shape;73;p14">
              <a:extLst>
                <a:ext uri="{FF2B5EF4-FFF2-40B4-BE49-F238E27FC236}">
                  <a16:creationId xmlns:a16="http://schemas.microsoft.com/office/drawing/2014/main" id="{0006A01B-6614-DAFC-71BA-6677E72731BA}"/>
                </a:ext>
              </a:extLst>
            </p:cNvPr>
            <p:cNvSpPr/>
            <p:nvPr/>
          </p:nvSpPr>
          <p:spPr>
            <a:xfrm>
              <a:off x="450302" y="5256435"/>
              <a:ext cx="2158500" cy="228600"/>
            </a:xfrm>
            <a:prstGeom prst="homePlate">
              <a:avLst>
                <a:gd name="adj" fmla="val 50000"/>
              </a:avLst>
            </a:prstGeom>
            <a:noFill/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800" dirty="0">
                  <a:solidFill>
                    <a:schemeClr val="tx1"/>
                  </a:solidFill>
                </a:rPr>
                <a:t>What is PSC? </a:t>
              </a:r>
              <a:endParaRPr sz="800" dirty="0">
                <a:solidFill>
                  <a:schemeClr val="tx1"/>
                </a:solidFill>
              </a:endParaRPr>
            </a:p>
          </p:txBody>
        </p:sp>
        <p:sp>
          <p:nvSpPr>
            <p:cNvPr id="74" name="Google Shape;74;p14">
              <a:extLst>
                <a:ext uri="{FF2B5EF4-FFF2-40B4-BE49-F238E27FC236}">
                  <a16:creationId xmlns:a16="http://schemas.microsoft.com/office/drawing/2014/main" id="{4E4B1870-3551-C276-23E4-406A5868C252}"/>
                </a:ext>
              </a:extLst>
            </p:cNvPr>
            <p:cNvSpPr/>
            <p:nvPr/>
          </p:nvSpPr>
          <p:spPr>
            <a:xfrm>
              <a:off x="2606912" y="5256435"/>
              <a:ext cx="2158500" cy="228600"/>
            </a:xfrm>
            <a:prstGeom prst="chevron">
              <a:avLst>
                <a:gd name="adj" fmla="val 50000"/>
              </a:avLst>
            </a:prstGeom>
            <a:noFill/>
            <a:ln w="9525" cap="flat" cmpd="sng">
              <a:solidFill>
                <a:srgbClr val="C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" sz="800" dirty="0">
                  <a:solidFill>
                    <a:schemeClr val="tx1"/>
                  </a:solidFill>
                </a:rPr>
                <a:t>How to connect via terminal</a:t>
              </a:r>
              <a:endParaRPr sz="800" dirty="0">
                <a:solidFill>
                  <a:schemeClr val="tx1"/>
                </a:solidFill>
              </a:endParaRPr>
            </a:p>
          </p:txBody>
        </p:sp>
        <p:sp>
          <p:nvSpPr>
            <p:cNvPr id="75" name="Google Shape;75;p14">
              <a:extLst>
                <a:ext uri="{FF2B5EF4-FFF2-40B4-BE49-F238E27FC236}">
                  <a16:creationId xmlns:a16="http://schemas.microsoft.com/office/drawing/2014/main" id="{1A7ADA40-1B57-40E2-56C9-B2F7746656A2}"/>
                </a:ext>
              </a:extLst>
            </p:cNvPr>
            <p:cNvSpPr/>
            <p:nvPr/>
          </p:nvSpPr>
          <p:spPr>
            <a:xfrm>
              <a:off x="4763522" y="5256435"/>
              <a:ext cx="2158500" cy="228600"/>
            </a:xfrm>
            <a:prstGeom prst="chevron">
              <a:avLst>
                <a:gd name="adj" fmla="val 50000"/>
              </a:avLst>
            </a:prstGeom>
            <a:solidFill>
              <a:srgbClr val="A80000"/>
            </a:solidFill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" sz="800" b="1" dirty="0">
                  <a:solidFill>
                    <a:schemeClr val="bg1"/>
                  </a:solidFill>
                </a:rPr>
                <a:t>How to connect via </a:t>
              </a:r>
              <a:r>
                <a:rPr lang="en" sz="800" b="1" dirty="0" err="1">
                  <a:solidFill>
                    <a:schemeClr val="bg1"/>
                  </a:solidFill>
                </a:rPr>
                <a:t>VSCode</a:t>
              </a:r>
              <a:endParaRPr sz="800" b="1" dirty="0">
                <a:solidFill>
                  <a:schemeClr val="bg1"/>
                </a:solidFill>
              </a:endParaRPr>
            </a:p>
          </p:txBody>
        </p:sp>
        <p:sp>
          <p:nvSpPr>
            <p:cNvPr id="3" name="Google Shape;75;p14">
              <a:extLst>
                <a:ext uri="{FF2B5EF4-FFF2-40B4-BE49-F238E27FC236}">
                  <a16:creationId xmlns:a16="http://schemas.microsoft.com/office/drawing/2014/main" id="{75F94905-8D9A-3E42-AD45-428FF2AF878D}"/>
                </a:ext>
              </a:extLst>
            </p:cNvPr>
            <p:cNvSpPr/>
            <p:nvPr/>
          </p:nvSpPr>
          <p:spPr>
            <a:xfrm>
              <a:off x="6920132" y="5256435"/>
              <a:ext cx="2158500" cy="228600"/>
            </a:xfrm>
            <a:prstGeom prst="chevron">
              <a:avLst>
                <a:gd name="adj" fmla="val 50000"/>
              </a:avLst>
            </a:prstGeom>
            <a:solidFill>
              <a:schemeClr val="lt1"/>
            </a:solidFill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" sz="800" dirty="0">
                  <a:solidFill>
                    <a:schemeClr val="dk1"/>
                  </a:solidFill>
                </a:rPr>
                <a:t>PSC tips</a:t>
              </a:r>
              <a:endParaRPr sz="800" dirty="0">
                <a:solidFill>
                  <a:schemeClr val="dk1"/>
                </a:solidFill>
              </a:endParaRPr>
            </a:p>
          </p:txBody>
        </p:sp>
      </p:grpSp>
      <p:sp>
        <p:nvSpPr>
          <p:cNvPr id="2" name="Google Shape;66;p13">
            <a:extLst>
              <a:ext uri="{FF2B5EF4-FFF2-40B4-BE49-F238E27FC236}">
                <a16:creationId xmlns:a16="http://schemas.microsoft.com/office/drawing/2014/main" id="{F0610875-E05E-3A6B-1AFD-BCFD45C50B74}"/>
              </a:ext>
            </a:extLst>
          </p:cNvPr>
          <p:cNvSpPr txBox="1"/>
          <p:nvPr/>
        </p:nvSpPr>
        <p:spPr>
          <a:xfrm>
            <a:off x="1546122" y="5350828"/>
            <a:ext cx="6889955" cy="36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dk2"/>
                </a:solidFill>
              </a:rPr>
              <a:t>TA: En Zheng (enzheng@</a:t>
            </a:r>
            <a:r>
              <a:rPr lang="en-US" sz="1100" dirty="0">
                <a:solidFill>
                  <a:schemeClr val="dk2"/>
                </a:solidFill>
              </a:rPr>
              <a:t>a</a:t>
            </a:r>
            <a:r>
              <a:rPr lang="en" sz="1100" dirty="0">
                <a:solidFill>
                  <a:schemeClr val="dk2"/>
                </a:solidFill>
              </a:rPr>
              <a:t>ndrew.cmu.edu) </a:t>
            </a:r>
            <a:r>
              <a:rPr lang="en-US" sz="1100" dirty="0" err="1">
                <a:solidFill>
                  <a:schemeClr val="dk2"/>
                </a:solidFill>
              </a:rPr>
              <a:t>Pengyu</a:t>
            </a:r>
            <a:r>
              <a:rPr lang="en-US" sz="1100" dirty="0">
                <a:solidFill>
                  <a:schemeClr val="dk2"/>
                </a:solidFill>
              </a:rPr>
              <a:t> Chang (</a:t>
            </a:r>
            <a:r>
              <a:rPr lang="en-US" sz="1100" dirty="0" err="1">
                <a:solidFill>
                  <a:schemeClr val="dk2"/>
                </a:solidFill>
              </a:rPr>
              <a:t>pengyuch@andrew.cmu.edu</a:t>
            </a:r>
            <a:r>
              <a:rPr lang="en-US" sz="1100" dirty="0">
                <a:solidFill>
                  <a:schemeClr val="dk2"/>
                </a:solidFill>
              </a:rPr>
              <a:t>)</a:t>
            </a:r>
            <a:endParaRPr sz="1100" dirty="0">
              <a:solidFill>
                <a:schemeClr val="dk2"/>
              </a:solidFill>
            </a:endParaRPr>
          </a:p>
        </p:txBody>
      </p:sp>
      <p:sp>
        <p:nvSpPr>
          <p:cNvPr id="4" name="Google Shape;78;p14">
            <a:extLst>
              <a:ext uri="{FF2B5EF4-FFF2-40B4-BE49-F238E27FC236}">
                <a16:creationId xmlns:a16="http://schemas.microsoft.com/office/drawing/2014/main" id="{BFAC67C1-1360-A7FC-AB20-FFE989391028}"/>
              </a:ext>
            </a:extLst>
          </p:cNvPr>
          <p:cNvSpPr txBox="1"/>
          <p:nvPr/>
        </p:nvSpPr>
        <p:spPr>
          <a:xfrm>
            <a:off x="442141" y="2167790"/>
            <a:ext cx="7993936" cy="3783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1800" b="1" dirty="0">
                <a:solidFill>
                  <a:srgbClr val="A80000"/>
                </a:solidFill>
              </a:rPr>
              <a:t>SSH keygen and config files</a:t>
            </a:r>
            <a:r>
              <a:rPr lang="en" sz="1800" b="1" dirty="0">
                <a:solidFill>
                  <a:srgbClr val="A80000"/>
                </a:solidFill>
              </a:rPr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sz="1800" b="1" dirty="0">
              <a:solidFill>
                <a:srgbClr val="A8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Visual Studio Code Tutorials: </a:t>
            </a:r>
            <a:r>
              <a:rPr lang="en-US" sz="1800" u="sng" dirty="0">
                <a:hlinkClick r:id="rId3"/>
              </a:rPr>
              <a:t>Remote development over SSH</a:t>
            </a:r>
            <a:r>
              <a:rPr lang="en-US" sz="1800" dirty="0">
                <a:hlinkClick r:id="rId3"/>
              </a:rPr>
              <a:t> </a:t>
            </a:r>
            <a:endParaRPr lang="en-US" sz="1800" dirty="0"/>
          </a:p>
          <a:p>
            <a:endParaRPr lang="en-US" sz="1800" u="sng" dirty="0">
              <a:hlinkClick r:id="rId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u="sng" dirty="0">
                <a:hlinkClick r:id="rId4"/>
              </a:rPr>
              <a:t>Remote - SSH - Visual Studio Marketplace</a:t>
            </a:r>
            <a:r>
              <a:rPr lang="en-US" sz="1800" dirty="0"/>
              <a:t> 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Config Files would look like this:(ideally, you don’t need to generate this file yourself, the plugin would take care of it. Just use Add New SSH Host and input the command!)</a:t>
            </a:r>
            <a:br>
              <a:rPr lang="en-US" dirty="0"/>
            </a:br>
            <a:r>
              <a:rPr lang="en-US" dirty="0"/>
              <a:t>In C:/Users/&lt;username&gt;/.ssh/config (windows for example)</a:t>
            </a:r>
          </a:p>
          <a:p>
            <a:pPr>
              <a:lnSpc>
                <a:spcPct val="150000"/>
              </a:lnSpc>
            </a:pPr>
            <a:r>
              <a:rPr lang="en-US" dirty="0"/>
              <a:t>Host bridges2.psc.edu</a:t>
            </a:r>
          </a:p>
          <a:p>
            <a:pPr>
              <a:lnSpc>
                <a:spcPct val="150000"/>
              </a:lnSpc>
            </a:pPr>
            <a:r>
              <a:rPr lang="en-US" dirty="0"/>
              <a:t>    </a:t>
            </a:r>
            <a:r>
              <a:rPr lang="en-US" dirty="0" err="1"/>
              <a:t>HostName</a:t>
            </a:r>
            <a:r>
              <a:rPr lang="en-US" dirty="0"/>
              <a:t> </a:t>
            </a:r>
            <a:r>
              <a:rPr lang="en-US" u="sng" dirty="0"/>
              <a:t>bridges2.psc.edu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    User &lt;your user name&gt;</a:t>
            </a:r>
          </a:p>
          <a:p>
            <a:pPr>
              <a:lnSpc>
                <a:spcPct val="150000"/>
              </a:lnSpc>
            </a:pPr>
            <a:br>
              <a:rPr lang="en-US" dirty="0"/>
            </a:br>
            <a:endParaRPr lang="en-US" dirty="0"/>
          </a:p>
          <a:p>
            <a:br>
              <a:rPr lang="en-US" sz="1800" dirty="0"/>
            </a:br>
            <a:endParaRPr lang="en-US" sz="1800" dirty="0"/>
          </a:p>
          <a:p>
            <a:br>
              <a:rPr lang="en-US" sz="1800" dirty="0"/>
            </a:br>
            <a:br>
              <a:rPr lang="en-US" sz="1800" dirty="0"/>
            </a:br>
            <a:endParaRPr lang="en" sz="1800" b="1" dirty="0">
              <a:solidFill>
                <a:srgbClr val="A8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rgbClr val="A80000"/>
              </a:solidFill>
            </a:endParaRPr>
          </a:p>
        </p:txBody>
      </p:sp>
      <p:sp>
        <p:nvSpPr>
          <p:cNvPr id="6" name="Google Shape;78;p14">
            <a:extLst>
              <a:ext uri="{FF2B5EF4-FFF2-40B4-BE49-F238E27FC236}">
                <a16:creationId xmlns:a16="http://schemas.microsoft.com/office/drawing/2014/main" id="{20AFD8F7-6621-3A42-5855-38EA4BAC36D0}"/>
              </a:ext>
            </a:extLst>
          </p:cNvPr>
          <p:cNvSpPr txBox="1"/>
          <p:nvPr/>
        </p:nvSpPr>
        <p:spPr>
          <a:xfrm>
            <a:off x="4572000" y="4374251"/>
            <a:ext cx="467769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rgbClr val="A80000"/>
                </a:solidFill>
              </a:rPr>
              <a:t>Please watch the video for more details </a:t>
            </a:r>
            <a:r>
              <a:rPr lang="en" sz="1600" b="1" dirty="0">
                <a:solidFill>
                  <a:srgbClr val="A80000"/>
                </a:solidFill>
                <a:sym typeface="Wingdings" pitchFamily="2" charset="2"/>
              </a:rPr>
              <a:t>:)</a:t>
            </a:r>
            <a:endParaRPr sz="1600" b="1" dirty="0">
              <a:solidFill>
                <a:srgbClr val="A8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46251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C5DD1860-BAC6-39DE-8132-62CFD76F6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>
            <a:extLst>
              <a:ext uri="{FF2B5EF4-FFF2-40B4-BE49-F238E27FC236}">
                <a16:creationId xmlns:a16="http://schemas.microsoft.com/office/drawing/2014/main" id="{7D2C8BC6-EDE9-0AF8-80F1-DBBA300992EE}"/>
              </a:ext>
            </a:extLst>
          </p:cNvPr>
          <p:cNvSpPr/>
          <p:nvPr/>
        </p:nvSpPr>
        <p:spPr>
          <a:xfrm>
            <a:off x="8242200" y="0"/>
            <a:ext cx="673200" cy="672300"/>
          </a:xfrm>
          <a:prstGeom prst="flowChartOffpageConnector">
            <a:avLst/>
          </a:prstGeom>
          <a:noFill/>
          <a:ln w="9525" cap="flat" cmpd="sng">
            <a:solidFill>
              <a:srgbClr val="A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4">
            <a:extLst>
              <a:ext uri="{FF2B5EF4-FFF2-40B4-BE49-F238E27FC236}">
                <a16:creationId xmlns:a16="http://schemas.microsoft.com/office/drawing/2014/main" id="{55E49C96-FB3E-F100-B20A-F5257FBA25FB}"/>
              </a:ext>
            </a:extLst>
          </p:cNvPr>
          <p:cNvSpPr txBox="1"/>
          <p:nvPr/>
        </p:nvSpPr>
        <p:spPr>
          <a:xfrm>
            <a:off x="8242200" y="0"/>
            <a:ext cx="6732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  <a:t>11-785</a:t>
            </a:r>
            <a:br>
              <a:rPr lang="en" sz="600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br>
              <a:rPr lang="en" sz="600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  <a:t>Introduction to </a:t>
            </a:r>
            <a:b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  <a:t>Deep Learning</a:t>
            </a:r>
            <a:endParaRPr sz="100"/>
          </a:p>
        </p:txBody>
      </p:sp>
      <p:sp>
        <p:nvSpPr>
          <p:cNvPr id="78" name="Google Shape;78;p14">
            <a:extLst>
              <a:ext uri="{FF2B5EF4-FFF2-40B4-BE49-F238E27FC236}">
                <a16:creationId xmlns:a16="http://schemas.microsoft.com/office/drawing/2014/main" id="{F7A3EA0F-87BB-B5BE-0E0A-083BC14F12F9}"/>
              </a:ext>
            </a:extLst>
          </p:cNvPr>
          <p:cNvSpPr txBox="1"/>
          <p:nvPr/>
        </p:nvSpPr>
        <p:spPr>
          <a:xfrm>
            <a:off x="228600" y="228601"/>
            <a:ext cx="7791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</a:rPr>
              <a:t>Connect via </a:t>
            </a:r>
            <a:r>
              <a:rPr lang="en" sz="1800" dirty="0" err="1">
                <a:solidFill>
                  <a:schemeClr val="dk1"/>
                </a:solidFill>
              </a:rPr>
              <a:t>VSCode</a:t>
            </a: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93" name="Google Shape;93;p14">
            <a:extLst>
              <a:ext uri="{FF2B5EF4-FFF2-40B4-BE49-F238E27FC236}">
                <a16:creationId xmlns:a16="http://schemas.microsoft.com/office/drawing/2014/main" id="{14C317C7-752C-6146-E3F2-9A9071FE3CF8}"/>
              </a:ext>
            </a:extLst>
          </p:cNvPr>
          <p:cNvSpPr/>
          <p:nvPr/>
        </p:nvSpPr>
        <p:spPr>
          <a:xfrm>
            <a:off x="228600" y="685800"/>
            <a:ext cx="7772400" cy="18300"/>
          </a:xfrm>
          <a:prstGeom prst="rect">
            <a:avLst/>
          </a:prstGeom>
          <a:solidFill>
            <a:srgbClr val="A8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EFBBF56-AE6C-D42F-6429-7BBFF35E201E}"/>
              </a:ext>
            </a:extLst>
          </p:cNvPr>
          <p:cNvGrpSpPr/>
          <p:nvPr/>
        </p:nvGrpSpPr>
        <p:grpSpPr>
          <a:xfrm>
            <a:off x="287070" y="5162613"/>
            <a:ext cx="8628330" cy="228600"/>
            <a:chOff x="450302" y="5256435"/>
            <a:chExt cx="8628330" cy="228600"/>
          </a:xfrm>
        </p:grpSpPr>
        <p:sp>
          <p:nvSpPr>
            <p:cNvPr id="73" name="Google Shape;73;p14">
              <a:extLst>
                <a:ext uri="{FF2B5EF4-FFF2-40B4-BE49-F238E27FC236}">
                  <a16:creationId xmlns:a16="http://schemas.microsoft.com/office/drawing/2014/main" id="{4F787E57-451C-0B29-AC53-9084671D6392}"/>
                </a:ext>
              </a:extLst>
            </p:cNvPr>
            <p:cNvSpPr/>
            <p:nvPr/>
          </p:nvSpPr>
          <p:spPr>
            <a:xfrm>
              <a:off x="450302" y="5256435"/>
              <a:ext cx="2158500" cy="228600"/>
            </a:xfrm>
            <a:prstGeom prst="homePlate">
              <a:avLst>
                <a:gd name="adj" fmla="val 50000"/>
              </a:avLst>
            </a:prstGeom>
            <a:noFill/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800" dirty="0">
                  <a:solidFill>
                    <a:schemeClr val="tx1"/>
                  </a:solidFill>
                </a:rPr>
                <a:t>What is PSC? </a:t>
              </a:r>
              <a:endParaRPr sz="800" dirty="0">
                <a:solidFill>
                  <a:schemeClr val="tx1"/>
                </a:solidFill>
              </a:endParaRPr>
            </a:p>
          </p:txBody>
        </p:sp>
        <p:sp>
          <p:nvSpPr>
            <p:cNvPr id="74" name="Google Shape;74;p14">
              <a:extLst>
                <a:ext uri="{FF2B5EF4-FFF2-40B4-BE49-F238E27FC236}">
                  <a16:creationId xmlns:a16="http://schemas.microsoft.com/office/drawing/2014/main" id="{9D99054E-19B3-B14C-0910-F9BCFA5E954C}"/>
                </a:ext>
              </a:extLst>
            </p:cNvPr>
            <p:cNvSpPr/>
            <p:nvPr/>
          </p:nvSpPr>
          <p:spPr>
            <a:xfrm>
              <a:off x="2606912" y="5256435"/>
              <a:ext cx="2158500" cy="228600"/>
            </a:xfrm>
            <a:prstGeom prst="chevron">
              <a:avLst>
                <a:gd name="adj" fmla="val 50000"/>
              </a:avLst>
            </a:prstGeom>
            <a:noFill/>
            <a:ln w="9525" cap="flat" cmpd="sng">
              <a:solidFill>
                <a:srgbClr val="C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" sz="800" dirty="0">
                  <a:solidFill>
                    <a:schemeClr val="tx1"/>
                  </a:solidFill>
                </a:rPr>
                <a:t>How to connect via terminal</a:t>
              </a:r>
              <a:endParaRPr sz="800" dirty="0">
                <a:solidFill>
                  <a:schemeClr val="tx1"/>
                </a:solidFill>
              </a:endParaRPr>
            </a:p>
          </p:txBody>
        </p:sp>
        <p:sp>
          <p:nvSpPr>
            <p:cNvPr id="75" name="Google Shape;75;p14">
              <a:extLst>
                <a:ext uri="{FF2B5EF4-FFF2-40B4-BE49-F238E27FC236}">
                  <a16:creationId xmlns:a16="http://schemas.microsoft.com/office/drawing/2014/main" id="{CCDD577C-6435-9A4A-531E-2460EF5B1849}"/>
                </a:ext>
              </a:extLst>
            </p:cNvPr>
            <p:cNvSpPr/>
            <p:nvPr/>
          </p:nvSpPr>
          <p:spPr>
            <a:xfrm>
              <a:off x="4763522" y="5256435"/>
              <a:ext cx="2158500" cy="228600"/>
            </a:xfrm>
            <a:prstGeom prst="chevron">
              <a:avLst>
                <a:gd name="adj" fmla="val 50000"/>
              </a:avLst>
            </a:prstGeom>
            <a:solidFill>
              <a:srgbClr val="A80000"/>
            </a:solidFill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" sz="800" b="1" dirty="0">
                  <a:solidFill>
                    <a:schemeClr val="bg1"/>
                  </a:solidFill>
                </a:rPr>
                <a:t>How to connect via </a:t>
              </a:r>
              <a:r>
                <a:rPr lang="en" sz="800" b="1" dirty="0" err="1">
                  <a:solidFill>
                    <a:schemeClr val="bg1"/>
                  </a:solidFill>
                </a:rPr>
                <a:t>VSCode</a:t>
              </a:r>
              <a:endParaRPr sz="800" b="1" dirty="0">
                <a:solidFill>
                  <a:schemeClr val="bg1"/>
                </a:solidFill>
              </a:endParaRPr>
            </a:p>
          </p:txBody>
        </p:sp>
        <p:sp>
          <p:nvSpPr>
            <p:cNvPr id="3" name="Google Shape;75;p14">
              <a:extLst>
                <a:ext uri="{FF2B5EF4-FFF2-40B4-BE49-F238E27FC236}">
                  <a16:creationId xmlns:a16="http://schemas.microsoft.com/office/drawing/2014/main" id="{9D133AC8-68A2-31D2-5476-7F98FEA8BA39}"/>
                </a:ext>
              </a:extLst>
            </p:cNvPr>
            <p:cNvSpPr/>
            <p:nvPr/>
          </p:nvSpPr>
          <p:spPr>
            <a:xfrm>
              <a:off x="6920132" y="5256435"/>
              <a:ext cx="2158500" cy="228600"/>
            </a:xfrm>
            <a:prstGeom prst="chevron">
              <a:avLst>
                <a:gd name="adj" fmla="val 50000"/>
              </a:avLst>
            </a:prstGeom>
            <a:solidFill>
              <a:schemeClr val="lt1"/>
            </a:solidFill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" sz="800" dirty="0">
                  <a:solidFill>
                    <a:schemeClr val="dk1"/>
                  </a:solidFill>
                </a:rPr>
                <a:t>PSC tips</a:t>
              </a:r>
              <a:endParaRPr sz="800" dirty="0">
                <a:solidFill>
                  <a:schemeClr val="dk1"/>
                </a:solidFill>
              </a:endParaRPr>
            </a:p>
          </p:txBody>
        </p:sp>
      </p:grpSp>
      <p:sp>
        <p:nvSpPr>
          <p:cNvPr id="2" name="Google Shape;66;p13">
            <a:extLst>
              <a:ext uri="{FF2B5EF4-FFF2-40B4-BE49-F238E27FC236}">
                <a16:creationId xmlns:a16="http://schemas.microsoft.com/office/drawing/2014/main" id="{90737E82-3489-8D4C-E908-797BFC8AC266}"/>
              </a:ext>
            </a:extLst>
          </p:cNvPr>
          <p:cNvSpPr txBox="1"/>
          <p:nvPr/>
        </p:nvSpPr>
        <p:spPr>
          <a:xfrm>
            <a:off x="1546122" y="5350828"/>
            <a:ext cx="6889955" cy="36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dk2"/>
                </a:solidFill>
              </a:rPr>
              <a:t>TA: En Zheng (enzheng@</a:t>
            </a:r>
            <a:r>
              <a:rPr lang="en-US" sz="1100" dirty="0">
                <a:solidFill>
                  <a:schemeClr val="dk2"/>
                </a:solidFill>
              </a:rPr>
              <a:t>a</a:t>
            </a:r>
            <a:r>
              <a:rPr lang="en" sz="1100" dirty="0">
                <a:solidFill>
                  <a:schemeClr val="dk2"/>
                </a:solidFill>
              </a:rPr>
              <a:t>ndrew.cmu.edu) </a:t>
            </a:r>
            <a:r>
              <a:rPr lang="en-US" sz="1100" dirty="0" err="1">
                <a:solidFill>
                  <a:schemeClr val="dk2"/>
                </a:solidFill>
              </a:rPr>
              <a:t>Pengyu</a:t>
            </a:r>
            <a:r>
              <a:rPr lang="en-US" sz="1100" dirty="0">
                <a:solidFill>
                  <a:schemeClr val="dk2"/>
                </a:solidFill>
              </a:rPr>
              <a:t> Chang (</a:t>
            </a:r>
            <a:r>
              <a:rPr lang="en-US" sz="1100" dirty="0" err="1">
                <a:solidFill>
                  <a:schemeClr val="dk2"/>
                </a:solidFill>
              </a:rPr>
              <a:t>pengyuch@andrew.cmu.edu</a:t>
            </a:r>
            <a:r>
              <a:rPr lang="en-US" sz="1100" dirty="0">
                <a:solidFill>
                  <a:schemeClr val="dk2"/>
                </a:solidFill>
              </a:rPr>
              <a:t>)</a:t>
            </a:r>
            <a:endParaRPr sz="1100" dirty="0">
              <a:solidFill>
                <a:schemeClr val="dk2"/>
              </a:solidFill>
            </a:endParaRPr>
          </a:p>
        </p:txBody>
      </p:sp>
      <p:sp>
        <p:nvSpPr>
          <p:cNvPr id="4" name="Google Shape;78;p14">
            <a:extLst>
              <a:ext uri="{FF2B5EF4-FFF2-40B4-BE49-F238E27FC236}">
                <a16:creationId xmlns:a16="http://schemas.microsoft.com/office/drawing/2014/main" id="{DC965B7A-3FB3-AB83-8E34-55A5C3726457}"/>
              </a:ext>
            </a:extLst>
          </p:cNvPr>
          <p:cNvSpPr txBox="1"/>
          <p:nvPr/>
        </p:nvSpPr>
        <p:spPr>
          <a:xfrm>
            <a:off x="431102" y="2193552"/>
            <a:ext cx="7993936" cy="2969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1800" b="1" dirty="0">
                <a:solidFill>
                  <a:srgbClr val="A80000"/>
                </a:solidFill>
              </a:rPr>
              <a:t>Trouble shooting for SSH connection in </a:t>
            </a:r>
            <a:r>
              <a:rPr lang="en-US" sz="1800" b="1" dirty="0" err="1">
                <a:solidFill>
                  <a:srgbClr val="A80000"/>
                </a:solidFill>
              </a:rPr>
              <a:t>VSCode</a:t>
            </a:r>
            <a:r>
              <a:rPr lang="en" sz="1800" b="1" dirty="0">
                <a:solidFill>
                  <a:srgbClr val="A80000"/>
                </a:solidFill>
              </a:rPr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sz="1800" b="1" dirty="0">
              <a:solidFill>
                <a:srgbClr val="A80000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Try ssh command in bash terminal (For Windows Users). If ssh isn’t found, install </a:t>
            </a:r>
            <a:r>
              <a:rPr lang="en-US" b="1" dirty="0"/>
              <a:t>OpenSSH Client</a:t>
            </a:r>
            <a:r>
              <a:rPr lang="en-US" dirty="0"/>
              <a:t> (Windows Settings → Optional features)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Make sure you have the correct username and password (which might not be the same as ACCESS ID  &amp; password and of course not the same as Andrew ID &amp; password).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br>
              <a:rPr lang="en-US" sz="1800" dirty="0"/>
            </a:br>
            <a:endParaRPr lang="en-US" sz="1800" dirty="0"/>
          </a:p>
          <a:p>
            <a:br>
              <a:rPr lang="en-US" sz="1800" dirty="0"/>
            </a:br>
            <a:br>
              <a:rPr lang="en-US" sz="1800" dirty="0"/>
            </a:br>
            <a:endParaRPr lang="en" sz="1800" b="1" dirty="0">
              <a:solidFill>
                <a:srgbClr val="A8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rgbClr val="A80000"/>
              </a:solidFill>
            </a:endParaRPr>
          </a:p>
        </p:txBody>
      </p:sp>
      <p:sp>
        <p:nvSpPr>
          <p:cNvPr id="6" name="Google Shape;78;p14">
            <a:extLst>
              <a:ext uri="{FF2B5EF4-FFF2-40B4-BE49-F238E27FC236}">
                <a16:creationId xmlns:a16="http://schemas.microsoft.com/office/drawing/2014/main" id="{196E7B9B-1BEF-24F3-745C-4E4D9FDD2AFC}"/>
              </a:ext>
            </a:extLst>
          </p:cNvPr>
          <p:cNvSpPr txBox="1"/>
          <p:nvPr/>
        </p:nvSpPr>
        <p:spPr>
          <a:xfrm>
            <a:off x="2089222" y="902676"/>
            <a:ext cx="467769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rgbClr val="A80000"/>
                </a:solidFill>
              </a:rPr>
              <a:t>Please watch the video for more details </a:t>
            </a:r>
            <a:r>
              <a:rPr lang="en" sz="1600" b="1" dirty="0">
                <a:solidFill>
                  <a:srgbClr val="A80000"/>
                </a:solidFill>
                <a:sym typeface="Wingdings" pitchFamily="2" charset="2"/>
              </a:rPr>
              <a:t>:)</a:t>
            </a:r>
            <a:endParaRPr sz="1600" b="1" dirty="0">
              <a:solidFill>
                <a:srgbClr val="A8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72756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689F8B9F-D8CE-50F0-386C-242EFA5B9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>
            <a:extLst>
              <a:ext uri="{FF2B5EF4-FFF2-40B4-BE49-F238E27FC236}">
                <a16:creationId xmlns:a16="http://schemas.microsoft.com/office/drawing/2014/main" id="{E7BDF04C-2CB1-8370-0D91-31256471A7A9}"/>
              </a:ext>
            </a:extLst>
          </p:cNvPr>
          <p:cNvSpPr/>
          <p:nvPr/>
        </p:nvSpPr>
        <p:spPr>
          <a:xfrm>
            <a:off x="8242200" y="0"/>
            <a:ext cx="673200" cy="672300"/>
          </a:xfrm>
          <a:prstGeom prst="flowChartOffpageConnector">
            <a:avLst/>
          </a:prstGeom>
          <a:noFill/>
          <a:ln w="9525" cap="flat" cmpd="sng">
            <a:solidFill>
              <a:srgbClr val="A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4">
            <a:extLst>
              <a:ext uri="{FF2B5EF4-FFF2-40B4-BE49-F238E27FC236}">
                <a16:creationId xmlns:a16="http://schemas.microsoft.com/office/drawing/2014/main" id="{6D540F5A-7E4D-E52F-F97E-0438E5D7B7AA}"/>
              </a:ext>
            </a:extLst>
          </p:cNvPr>
          <p:cNvSpPr txBox="1"/>
          <p:nvPr/>
        </p:nvSpPr>
        <p:spPr>
          <a:xfrm>
            <a:off x="8242200" y="0"/>
            <a:ext cx="6732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  <a:t>11-785</a:t>
            </a:r>
            <a:br>
              <a:rPr lang="en" sz="600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br>
              <a:rPr lang="en" sz="600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  <a:t>Introduction to </a:t>
            </a:r>
            <a:b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  <a:t>Deep Learning</a:t>
            </a:r>
            <a:endParaRPr sz="100"/>
          </a:p>
        </p:txBody>
      </p:sp>
      <p:sp>
        <p:nvSpPr>
          <p:cNvPr id="78" name="Google Shape;78;p14">
            <a:extLst>
              <a:ext uri="{FF2B5EF4-FFF2-40B4-BE49-F238E27FC236}">
                <a16:creationId xmlns:a16="http://schemas.microsoft.com/office/drawing/2014/main" id="{DC2E9341-AAC2-E0F2-EEA2-3DED421A5BA6}"/>
              </a:ext>
            </a:extLst>
          </p:cNvPr>
          <p:cNvSpPr txBox="1"/>
          <p:nvPr/>
        </p:nvSpPr>
        <p:spPr>
          <a:xfrm>
            <a:off x="228600" y="228601"/>
            <a:ext cx="490383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</a:rPr>
              <a:t>Connect via </a:t>
            </a:r>
            <a:r>
              <a:rPr lang="en" sz="1800" dirty="0" err="1">
                <a:solidFill>
                  <a:schemeClr val="dk1"/>
                </a:solidFill>
              </a:rPr>
              <a:t>VSCode</a:t>
            </a: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93" name="Google Shape;93;p14">
            <a:extLst>
              <a:ext uri="{FF2B5EF4-FFF2-40B4-BE49-F238E27FC236}">
                <a16:creationId xmlns:a16="http://schemas.microsoft.com/office/drawing/2014/main" id="{4E2B3382-7C84-2D6C-72C2-E32239BF39FF}"/>
              </a:ext>
            </a:extLst>
          </p:cNvPr>
          <p:cNvSpPr/>
          <p:nvPr/>
        </p:nvSpPr>
        <p:spPr>
          <a:xfrm>
            <a:off x="228600" y="685800"/>
            <a:ext cx="7772400" cy="18300"/>
          </a:xfrm>
          <a:prstGeom prst="rect">
            <a:avLst/>
          </a:prstGeom>
          <a:solidFill>
            <a:srgbClr val="A8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92B98FC-F961-4703-0681-87DE04848CBC}"/>
              </a:ext>
            </a:extLst>
          </p:cNvPr>
          <p:cNvGrpSpPr/>
          <p:nvPr/>
        </p:nvGrpSpPr>
        <p:grpSpPr>
          <a:xfrm>
            <a:off x="287070" y="5162613"/>
            <a:ext cx="8628330" cy="228600"/>
            <a:chOff x="450302" y="5256435"/>
            <a:chExt cx="8628330" cy="228600"/>
          </a:xfrm>
        </p:grpSpPr>
        <p:sp>
          <p:nvSpPr>
            <p:cNvPr id="73" name="Google Shape;73;p14">
              <a:extLst>
                <a:ext uri="{FF2B5EF4-FFF2-40B4-BE49-F238E27FC236}">
                  <a16:creationId xmlns:a16="http://schemas.microsoft.com/office/drawing/2014/main" id="{E4639C71-7615-1B9A-5EB5-3661A4F4FB7A}"/>
                </a:ext>
              </a:extLst>
            </p:cNvPr>
            <p:cNvSpPr/>
            <p:nvPr/>
          </p:nvSpPr>
          <p:spPr>
            <a:xfrm>
              <a:off x="450302" y="5256435"/>
              <a:ext cx="2158500" cy="228600"/>
            </a:xfrm>
            <a:prstGeom prst="homePlate">
              <a:avLst>
                <a:gd name="adj" fmla="val 50000"/>
              </a:avLst>
            </a:prstGeom>
            <a:noFill/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800" dirty="0">
                  <a:solidFill>
                    <a:schemeClr val="tx1"/>
                  </a:solidFill>
                </a:rPr>
                <a:t>What is PSC? </a:t>
              </a:r>
              <a:endParaRPr sz="800" dirty="0">
                <a:solidFill>
                  <a:schemeClr val="tx1"/>
                </a:solidFill>
              </a:endParaRPr>
            </a:p>
          </p:txBody>
        </p:sp>
        <p:sp>
          <p:nvSpPr>
            <p:cNvPr id="74" name="Google Shape;74;p14">
              <a:extLst>
                <a:ext uri="{FF2B5EF4-FFF2-40B4-BE49-F238E27FC236}">
                  <a16:creationId xmlns:a16="http://schemas.microsoft.com/office/drawing/2014/main" id="{7A37FC89-D963-76EB-F841-12D4CCBC5BC6}"/>
                </a:ext>
              </a:extLst>
            </p:cNvPr>
            <p:cNvSpPr/>
            <p:nvPr/>
          </p:nvSpPr>
          <p:spPr>
            <a:xfrm>
              <a:off x="2606912" y="5256435"/>
              <a:ext cx="2158500" cy="228600"/>
            </a:xfrm>
            <a:prstGeom prst="chevron">
              <a:avLst>
                <a:gd name="adj" fmla="val 50000"/>
              </a:avLst>
            </a:prstGeom>
            <a:noFill/>
            <a:ln w="9525" cap="flat" cmpd="sng">
              <a:solidFill>
                <a:srgbClr val="C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" sz="800" dirty="0">
                  <a:solidFill>
                    <a:schemeClr val="tx1"/>
                  </a:solidFill>
                </a:rPr>
                <a:t>How to connect via terminal</a:t>
              </a:r>
              <a:endParaRPr sz="800" dirty="0">
                <a:solidFill>
                  <a:schemeClr val="tx1"/>
                </a:solidFill>
              </a:endParaRPr>
            </a:p>
          </p:txBody>
        </p:sp>
        <p:sp>
          <p:nvSpPr>
            <p:cNvPr id="75" name="Google Shape;75;p14">
              <a:extLst>
                <a:ext uri="{FF2B5EF4-FFF2-40B4-BE49-F238E27FC236}">
                  <a16:creationId xmlns:a16="http://schemas.microsoft.com/office/drawing/2014/main" id="{E20C1A3F-2696-A5C7-1D50-A2C4AF1EED82}"/>
                </a:ext>
              </a:extLst>
            </p:cNvPr>
            <p:cNvSpPr/>
            <p:nvPr/>
          </p:nvSpPr>
          <p:spPr>
            <a:xfrm>
              <a:off x="4763522" y="5256435"/>
              <a:ext cx="2158500" cy="228600"/>
            </a:xfrm>
            <a:prstGeom prst="chevron">
              <a:avLst>
                <a:gd name="adj" fmla="val 50000"/>
              </a:avLst>
            </a:prstGeom>
            <a:solidFill>
              <a:srgbClr val="A80000"/>
            </a:solidFill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" sz="800" b="1" dirty="0">
                  <a:solidFill>
                    <a:schemeClr val="bg1"/>
                  </a:solidFill>
                </a:rPr>
                <a:t>How to connect via </a:t>
              </a:r>
              <a:r>
                <a:rPr lang="en" sz="800" b="1" dirty="0" err="1">
                  <a:solidFill>
                    <a:schemeClr val="bg1"/>
                  </a:solidFill>
                </a:rPr>
                <a:t>VSCode</a:t>
              </a:r>
              <a:endParaRPr sz="800" b="1" dirty="0">
                <a:solidFill>
                  <a:schemeClr val="bg1"/>
                </a:solidFill>
              </a:endParaRPr>
            </a:p>
          </p:txBody>
        </p:sp>
        <p:sp>
          <p:nvSpPr>
            <p:cNvPr id="3" name="Google Shape;75;p14">
              <a:extLst>
                <a:ext uri="{FF2B5EF4-FFF2-40B4-BE49-F238E27FC236}">
                  <a16:creationId xmlns:a16="http://schemas.microsoft.com/office/drawing/2014/main" id="{D67A4E3A-C5B9-CA66-D8EC-44882B3D68FA}"/>
                </a:ext>
              </a:extLst>
            </p:cNvPr>
            <p:cNvSpPr/>
            <p:nvPr/>
          </p:nvSpPr>
          <p:spPr>
            <a:xfrm>
              <a:off x="6920132" y="5256435"/>
              <a:ext cx="2158500" cy="228600"/>
            </a:xfrm>
            <a:prstGeom prst="chevron">
              <a:avLst>
                <a:gd name="adj" fmla="val 50000"/>
              </a:avLst>
            </a:prstGeom>
            <a:solidFill>
              <a:schemeClr val="lt1"/>
            </a:solidFill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" sz="800" dirty="0">
                  <a:solidFill>
                    <a:schemeClr val="dk1"/>
                  </a:solidFill>
                </a:rPr>
                <a:t>PSC tips</a:t>
              </a:r>
              <a:endParaRPr sz="800" dirty="0">
                <a:solidFill>
                  <a:schemeClr val="dk1"/>
                </a:solidFill>
              </a:endParaRPr>
            </a:p>
          </p:txBody>
        </p:sp>
      </p:grpSp>
      <p:sp>
        <p:nvSpPr>
          <p:cNvPr id="2" name="Google Shape;66;p13">
            <a:extLst>
              <a:ext uri="{FF2B5EF4-FFF2-40B4-BE49-F238E27FC236}">
                <a16:creationId xmlns:a16="http://schemas.microsoft.com/office/drawing/2014/main" id="{270C56A5-8F4B-0B2A-4AB6-4BC07AC0ED5F}"/>
              </a:ext>
            </a:extLst>
          </p:cNvPr>
          <p:cNvSpPr txBox="1"/>
          <p:nvPr/>
        </p:nvSpPr>
        <p:spPr>
          <a:xfrm>
            <a:off x="1546122" y="5350828"/>
            <a:ext cx="6889955" cy="36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dk2"/>
                </a:solidFill>
              </a:rPr>
              <a:t>TA: En Zheng (enzheng@</a:t>
            </a:r>
            <a:r>
              <a:rPr lang="en-US" sz="1100" dirty="0">
                <a:solidFill>
                  <a:schemeClr val="dk2"/>
                </a:solidFill>
              </a:rPr>
              <a:t>a</a:t>
            </a:r>
            <a:r>
              <a:rPr lang="en" sz="1100" dirty="0">
                <a:solidFill>
                  <a:schemeClr val="dk2"/>
                </a:solidFill>
              </a:rPr>
              <a:t>ndrew.cmu.edu) </a:t>
            </a:r>
            <a:r>
              <a:rPr lang="en-US" sz="1100" dirty="0" err="1">
                <a:solidFill>
                  <a:schemeClr val="dk2"/>
                </a:solidFill>
              </a:rPr>
              <a:t>Pengyu</a:t>
            </a:r>
            <a:r>
              <a:rPr lang="en-US" sz="1100" dirty="0">
                <a:solidFill>
                  <a:schemeClr val="dk2"/>
                </a:solidFill>
              </a:rPr>
              <a:t> Chang (</a:t>
            </a:r>
            <a:r>
              <a:rPr lang="en-US" sz="1100" dirty="0" err="1">
                <a:solidFill>
                  <a:schemeClr val="dk2"/>
                </a:solidFill>
              </a:rPr>
              <a:t>pengyuch@andrew.cmu.edu</a:t>
            </a:r>
            <a:r>
              <a:rPr lang="en-US" sz="1100" dirty="0">
                <a:solidFill>
                  <a:schemeClr val="dk2"/>
                </a:solidFill>
              </a:rPr>
              <a:t>)</a:t>
            </a:r>
            <a:endParaRPr sz="1100" dirty="0">
              <a:solidFill>
                <a:schemeClr val="dk2"/>
              </a:solidFill>
            </a:endParaRPr>
          </a:p>
        </p:txBody>
      </p:sp>
      <p:sp>
        <p:nvSpPr>
          <p:cNvPr id="4" name="Google Shape;78;p14">
            <a:extLst>
              <a:ext uri="{FF2B5EF4-FFF2-40B4-BE49-F238E27FC236}">
                <a16:creationId xmlns:a16="http://schemas.microsoft.com/office/drawing/2014/main" id="{825C36D8-75D4-4D71-3BDC-D0F5C88B08DE}"/>
              </a:ext>
            </a:extLst>
          </p:cNvPr>
          <p:cNvSpPr txBox="1"/>
          <p:nvPr/>
        </p:nvSpPr>
        <p:spPr>
          <a:xfrm>
            <a:off x="2234381" y="723331"/>
            <a:ext cx="467769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rgbClr val="A80000"/>
                </a:solidFill>
              </a:rPr>
              <a:t>Please watch the video for more details </a:t>
            </a:r>
            <a:r>
              <a:rPr lang="en" sz="1600" b="1" dirty="0">
                <a:solidFill>
                  <a:srgbClr val="A80000"/>
                </a:solidFill>
                <a:sym typeface="Wingdings" pitchFamily="2" charset="2"/>
              </a:rPr>
              <a:t>:)</a:t>
            </a:r>
            <a:endParaRPr sz="1600" b="1" dirty="0">
              <a:solidFill>
                <a:srgbClr val="A8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3A7596-287C-2886-856C-951FF0EA033A}"/>
              </a:ext>
            </a:extLst>
          </p:cNvPr>
          <p:cNvSpPr txBox="1"/>
          <p:nvPr/>
        </p:nvSpPr>
        <p:spPr>
          <a:xfrm>
            <a:off x="817717" y="1399230"/>
            <a:ext cx="83217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Useful shortcut</a:t>
            </a:r>
            <a:r>
              <a:rPr lang="zh-CN" altLang="en-US" sz="1800" dirty="0"/>
              <a:t> </a:t>
            </a:r>
            <a:r>
              <a:rPr lang="en-US" altLang="zh-CN" sz="1800" dirty="0"/>
              <a:t>for</a:t>
            </a:r>
            <a:r>
              <a:rPr lang="zh-CN" altLang="en-US" sz="1800" dirty="0"/>
              <a:t> </a:t>
            </a:r>
            <a:r>
              <a:rPr lang="en-US" altLang="zh-CN" sz="1800" dirty="0"/>
              <a:t>connection:</a:t>
            </a:r>
            <a:endParaRPr lang="en-US" sz="1800" dirty="0"/>
          </a:p>
          <a:p>
            <a:endParaRPr lang="en-US" sz="1800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28C5E114-F76F-45B9-3904-7B0ED7C231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717" y="2077361"/>
            <a:ext cx="3431399" cy="2317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5F7C383D-ECB3-72D3-7781-9A02B6B2D5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8477" y="2077361"/>
            <a:ext cx="3137718" cy="2317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ight Arrow 5">
            <a:extLst>
              <a:ext uri="{FF2B5EF4-FFF2-40B4-BE49-F238E27FC236}">
                <a16:creationId xmlns:a16="http://schemas.microsoft.com/office/drawing/2014/main" id="{052A1055-739A-3774-9CC6-F9C899CE57F0}"/>
              </a:ext>
            </a:extLst>
          </p:cNvPr>
          <p:cNvSpPr/>
          <p:nvPr/>
        </p:nvSpPr>
        <p:spPr>
          <a:xfrm>
            <a:off x="4306526" y="3126658"/>
            <a:ext cx="412955" cy="285136"/>
          </a:xfrm>
          <a:prstGeom prst="rightArrow">
            <a:avLst/>
          </a:prstGeom>
          <a:solidFill>
            <a:srgbClr val="A8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7127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68F5F06E-7AD4-DE65-BEF8-EE1B14D7F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>
            <a:extLst>
              <a:ext uri="{FF2B5EF4-FFF2-40B4-BE49-F238E27FC236}">
                <a16:creationId xmlns:a16="http://schemas.microsoft.com/office/drawing/2014/main" id="{C62D9EFB-AD6F-C13C-39CC-9D959612E3D6}"/>
              </a:ext>
            </a:extLst>
          </p:cNvPr>
          <p:cNvSpPr/>
          <p:nvPr/>
        </p:nvSpPr>
        <p:spPr>
          <a:xfrm>
            <a:off x="8242200" y="0"/>
            <a:ext cx="673200" cy="672300"/>
          </a:xfrm>
          <a:prstGeom prst="flowChartOffpageConnector">
            <a:avLst/>
          </a:prstGeom>
          <a:noFill/>
          <a:ln w="9525" cap="flat" cmpd="sng">
            <a:solidFill>
              <a:srgbClr val="A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4">
            <a:extLst>
              <a:ext uri="{FF2B5EF4-FFF2-40B4-BE49-F238E27FC236}">
                <a16:creationId xmlns:a16="http://schemas.microsoft.com/office/drawing/2014/main" id="{0315F558-5821-DAE3-BA42-708F8B331F25}"/>
              </a:ext>
            </a:extLst>
          </p:cNvPr>
          <p:cNvSpPr txBox="1"/>
          <p:nvPr/>
        </p:nvSpPr>
        <p:spPr>
          <a:xfrm>
            <a:off x="8242200" y="0"/>
            <a:ext cx="6732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  <a:t>11-785</a:t>
            </a:r>
            <a:br>
              <a:rPr lang="en" sz="600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br>
              <a:rPr lang="en" sz="600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  <a:t>Introduction to </a:t>
            </a:r>
            <a:b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  <a:t>Deep Learning</a:t>
            </a:r>
            <a:endParaRPr sz="100"/>
          </a:p>
        </p:txBody>
      </p:sp>
      <p:sp>
        <p:nvSpPr>
          <p:cNvPr id="78" name="Google Shape;78;p14">
            <a:extLst>
              <a:ext uri="{FF2B5EF4-FFF2-40B4-BE49-F238E27FC236}">
                <a16:creationId xmlns:a16="http://schemas.microsoft.com/office/drawing/2014/main" id="{3D66E915-1319-7D0B-5E24-BC53613C62C1}"/>
              </a:ext>
            </a:extLst>
          </p:cNvPr>
          <p:cNvSpPr txBox="1"/>
          <p:nvPr/>
        </p:nvSpPr>
        <p:spPr>
          <a:xfrm>
            <a:off x="228600" y="228601"/>
            <a:ext cx="7791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</a:rPr>
              <a:t>Connect via </a:t>
            </a:r>
            <a:r>
              <a:rPr lang="en" sz="1800" dirty="0" err="1">
                <a:solidFill>
                  <a:schemeClr val="dk1"/>
                </a:solidFill>
              </a:rPr>
              <a:t>VSCode</a:t>
            </a: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93" name="Google Shape;93;p14">
            <a:extLst>
              <a:ext uri="{FF2B5EF4-FFF2-40B4-BE49-F238E27FC236}">
                <a16:creationId xmlns:a16="http://schemas.microsoft.com/office/drawing/2014/main" id="{3B62291C-C85D-3C5C-081B-8134DA7F4003}"/>
              </a:ext>
            </a:extLst>
          </p:cNvPr>
          <p:cNvSpPr/>
          <p:nvPr/>
        </p:nvSpPr>
        <p:spPr>
          <a:xfrm>
            <a:off x="228600" y="685800"/>
            <a:ext cx="7772400" cy="18300"/>
          </a:xfrm>
          <a:prstGeom prst="rect">
            <a:avLst/>
          </a:prstGeom>
          <a:solidFill>
            <a:srgbClr val="A8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ED64761-AD77-E7CA-27F5-C4C55B9E681D}"/>
              </a:ext>
            </a:extLst>
          </p:cNvPr>
          <p:cNvGrpSpPr/>
          <p:nvPr/>
        </p:nvGrpSpPr>
        <p:grpSpPr>
          <a:xfrm>
            <a:off x="287070" y="5162613"/>
            <a:ext cx="8628330" cy="228600"/>
            <a:chOff x="450302" y="5256435"/>
            <a:chExt cx="8628330" cy="228600"/>
          </a:xfrm>
        </p:grpSpPr>
        <p:sp>
          <p:nvSpPr>
            <p:cNvPr id="73" name="Google Shape;73;p14">
              <a:extLst>
                <a:ext uri="{FF2B5EF4-FFF2-40B4-BE49-F238E27FC236}">
                  <a16:creationId xmlns:a16="http://schemas.microsoft.com/office/drawing/2014/main" id="{98A6D9F0-D512-3F1C-5227-17E1C7968274}"/>
                </a:ext>
              </a:extLst>
            </p:cNvPr>
            <p:cNvSpPr/>
            <p:nvPr/>
          </p:nvSpPr>
          <p:spPr>
            <a:xfrm>
              <a:off x="450302" y="5256435"/>
              <a:ext cx="2158500" cy="228600"/>
            </a:xfrm>
            <a:prstGeom prst="homePlate">
              <a:avLst>
                <a:gd name="adj" fmla="val 50000"/>
              </a:avLst>
            </a:prstGeom>
            <a:noFill/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800" dirty="0">
                  <a:solidFill>
                    <a:schemeClr val="tx1"/>
                  </a:solidFill>
                </a:rPr>
                <a:t>What is PSC? </a:t>
              </a:r>
              <a:endParaRPr sz="800" dirty="0">
                <a:solidFill>
                  <a:schemeClr val="tx1"/>
                </a:solidFill>
              </a:endParaRPr>
            </a:p>
          </p:txBody>
        </p:sp>
        <p:sp>
          <p:nvSpPr>
            <p:cNvPr id="74" name="Google Shape;74;p14">
              <a:extLst>
                <a:ext uri="{FF2B5EF4-FFF2-40B4-BE49-F238E27FC236}">
                  <a16:creationId xmlns:a16="http://schemas.microsoft.com/office/drawing/2014/main" id="{E35EFDE8-3F4F-5D27-34DB-2A3A6A33C3F4}"/>
                </a:ext>
              </a:extLst>
            </p:cNvPr>
            <p:cNvSpPr/>
            <p:nvPr/>
          </p:nvSpPr>
          <p:spPr>
            <a:xfrm>
              <a:off x="2606912" y="5256435"/>
              <a:ext cx="2158500" cy="228600"/>
            </a:xfrm>
            <a:prstGeom prst="chevron">
              <a:avLst>
                <a:gd name="adj" fmla="val 50000"/>
              </a:avLst>
            </a:prstGeom>
            <a:noFill/>
            <a:ln w="9525" cap="flat" cmpd="sng">
              <a:solidFill>
                <a:srgbClr val="C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" sz="800" dirty="0">
                  <a:solidFill>
                    <a:schemeClr val="tx1"/>
                  </a:solidFill>
                </a:rPr>
                <a:t>How to connect via terminal</a:t>
              </a:r>
              <a:endParaRPr sz="800" dirty="0">
                <a:solidFill>
                  <a:schemeClr val="tx1"/>
                </a:solidFill>
              </a:endParaRPr>
            </a:p>
          </p:txBody>
        </p:sp>
        <p:sp>
          <p:nvSpPr>
            <p:cNvPr id="75" name="Google Shape;75;p14">
              <a:extLst>
                <a:ext uri="{FF2B5EF4-FFF2-40B4-BE49-F238E27FC236}">
                  <a16:creationId xmlns:a16="http://schemas.microsoft.com/office/drawing/2014/main" id="{57ADA7D4-801E-B24F-326E-836D680B14BC}"/>
                </a:ext>
              </a:extLst>
            </p:cNvPr>
            <p:cNvSpPr/>
            <p:nvPr/>
          </p:nvSpPr>
          <p:spPr>
            <a:xfrm>
              <a:off x="4763522" y="5256435"/>
              <a:ext cx="2158500" cy="228600"/>
            </a:xfrm>
            <a:prstGeom prst="chevron">
              <a:avLst>
                <a:gd name="adj" fmla="val 50000"/>
              </a:avLst>
            </a:prstGeom>
            <a:solidFill>
              <a:srgbClr val="A80000"/>
            </a:solidFill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" sz="800" b="1" dirty="0">
                  <a:solidFill>
                    <a:schemeClr val="bg1"/>
                  </a:solidFill>
                </a:rPr>
                <a:t>How to connect via </a:t>
              </a:r>
              <a:r>
                <a:rPr lang="en" sz="800" b="1" dirty="0" err="1">
                  <a:solidFill>
                    <a:schemeClr val="bg1"/>
                  </a:solidFill>
                </a:rPr>
                <a:t>VSCode</a:t>
              </a:r>
              <a:endParaRPr sz="800" b="1" dirty="0">
                <a:solidFill>
                  <a:schemeClr val="bg1"/>
                </a:solidFill>
              </a:endParaRPr>
            </a:p>
          </p:txBody>
        </p:sp>
        <p:sp>
          <p:nvSpPr>
            <p:cNvPr id="3" name="Google Shape;75;p14">
              <a:extLst>
                <a:ext uri="{FF2B5EF4-FFF2-40B4-BE49-F238E27FC236}">
                  <a16:creationId xmlns:a16="http://schemas.microsoft.com/office/drawing/2014/main" id="{D52A1E31-8FC0-043A-C8E3-00EE64401E54}"/>
                </a:ext>
              </a:extLst>
            </p:cNvPr>
            <p:cNvSpPr/>
            <p:nvPr/>
          </p:nvSpPr>
          <p:spPr>
            <a:xfrm>
              <a:off x="6920132" y="5256435"/>
              <a:ext cx="2158500" cy="228600"/>
            </a:xfrm>
            <a:prstGeom prst="chevron">
              <a:avLst>
                <a:gd name="adj" fmla="val 50000"/>
              </a:avLst>
            </a:prstGeom>
            <a:solidFill>
              <a:schemeClr val="lt1"/>
            </a:solidFill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" sz="800" dirty="0">
                  <a:solidFill>
                    <a:schemeClr val="dk1"/>
                  </a:solidFill>
                </a:rPr>
                <a:t>PSC tips</a:t>
              </a:r>
              <a:endParaRPr sz="800" dirty="0">
                <a:solidFill>
                  <a:schemeClr val="dk1"/>
                </a:solidFill>
              </a:endParaRPr>
            </a:p>
          </p:txBody>
        </p:sp>
      </p:grpSp>
      <p:sp>
        <p:nvSpPr>
          <p:cNvPr id="2" name="Google Shape;66;p13">
            <a:extLst>
              <a:ext uri="{FF2B5EF4-FFF2-40B4-BE49-F238E27FC236}">
                <a16:creationId xmlns:a16="http://schemas.microsoft.com/office/drawing/2014/main" id="{5547699A-F058-8BDB-89F4-04C1B7227121}"/>
              </a:ext>
            </a:extLst>
          </p:cNvPr>
          <p:cNvSpPr txBox="1"/>
          <p:nvPr/>
        </p:nvSpPr>
        <p:spPr>
          <a:xfrm>
            <a:off x="1546122" y="5350828"/>
            <a:ext cx="6889955" cy="36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dk2"/>
                </a:solidFill>
              </a:rPr>
              <a:t>TA: En Zheng (enzheng@</a:t>
            </a:r>
            <a:r>
              <a:rPr lang="en-US" sz="1100" dirty="0">
                <a:solidFill>
                  <a:schemeClr val="dk2"/>
                </a:solidFill>
              </a:rPr>
              <a:t>a</a:t>
            </a:r>
            <a:r>
              <a:rPr lang="en" sz="1100" dirty="0">
                <a:solidFill>
                  <a:schemeClr val="dk2"/>
                </a:solidFill>
              </a:rPr>
              <a:t>ndrew.cmu.edu) </a:t>
            </a:r>
            <a:r>
              <a:rPr lang="en-US" sz="1100" dirty="0" err="1">
                <a:solidFill>
                  <a:schemeClr val="dk2"/>
                </a:solidFill>
              </a:rPr>
              <a:t>Pengyu</a:t>
            </a:r>
            <a:r>
              <a:rPr lang="en-US" sz="1100" dirty="0">
                <a:solidFill>
                  <a:schemeClr val="dk2"/>
                </a:solidFill>
              </a:rPr>
              <a:t> Chang (</a:t>
            </a:r>
            <a:r>
              <a:rPr lang="en-US" sz="1100" dirty="0" err="1">
                <a:solidFill>
                  <a:schemeClr val="dk2"/>
                </a:solidFill>
              </a:rPr>
              <a:t>pengyuch@andrew.cmu.edu</a:t>
            </a:r>
            <a:r>
              <a:rPr lang="en-US" sz="1100" dirty="0">
                <a:solidFill>
                  <a:schemeClr val="dk2"/>
                </a:solidFill>
              </a:rPr>
              <a:t>)</a:t>
            </a:r>
            <a:endParaRPr sz="1100" dirty="0">
              <a:solidFill>
                <a:schemeClr val="dk2"/>
              </a:solidFill>
            </a:endParaRPr>
          </a:p>
        </p:txBody>
      </p:sp>
      <p:sp>
        <p:nvSpPr>
          <p:cNvPr id="4" name="Google Shape;78;p14">
            <a:extLst>
              <a:ext uri="{FF2B5EF4-FFF2-40B4-BE49-F238E27FC236}">
                <a16:creationId xmlns:a16="http://schemas.microsoft.com/office/drawing/2014/main" id="{0459B105-7241-67ED-3E95-E8B63699AC42}"/>
              </a:ext>
            </a:extLst>
          </p:cNvPr>
          <p:cNvSpPr txBox="1"/>
          <p:nvPr/>
        </p:nvSpPr>
        <p:spPr>
          <a:xfrm>
            <a:off x="2234381" y="723331"/>
            <a:ext cx="467769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rgbClr val="A80000"/>
                </a:solidFill>
              </a:rPr>
              <a:t>Please watch the video for more details </a:t>
            </a:r>
            <a:r>
              <a:rPr lang="en" sz="1600" b="1" dirty="0">
                <a:solidFill>
                  <a:srgbClr val="A80000"/>
                </a:solidFill>
                <a:sym typeface="Wingdings" pitchFamily="2" charset="2"/>
              </a:rPr>
              <a:t>:)</a:t>
            </a:r>
            <a:endParaRPr sz="1600" b="1" dirty="0">
              <a:solidFill>
                <a:srgbClr val="A8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F35E68-8C75-6315-7474-4005351D8635}"/>
              </a:ext>
            </a:extLst>
          </p:cNvPr>
          <p:cNvSpPr txBox="1"/>
          <p:nvPr/>
        </p:nvSpPr>
        <p:spPr>
          <a:xfrm>
            <a:off x="658762" y="1274326"/>
            <a:ext cx="746268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Also, you can use "Remote-SSH: Connect to Host" and select "bridges2.psc.edu" from the list after adding the host once.</a:t>
            </a:r>
          </a:p>
          <a:p>
            <a:endParaRPr lang="en-US" sz="1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BE1AE8-9E8F-A438-4462-4DFF1A562F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822" y="2068352"/>
            <a:ext cx="3531752" cy="2778953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8601517-5792-51F9-1A88-92B6E85C20F1}"/>
              </a:ext>
            </a:extLst>
          </p:cNvPr>
          <p:cNvSpPr/>
          <p:nvPr/>
        </p:nvSpPr>
        <p:spPr>
          <a:xfrm>
            <a:off x="1263587" y="4618705"/>
            <a:ext cx="2285857" cy="228600"/>
          </a:xfrm>
          <a:prstGeom prst="roundRect">
            <a:avLst/>
          </a:prstGeom>
          <a:noFill/>
          <a:ln w="285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20C8888-962C-577A-7E91-3E5C5193EC61}"/>
              </a:ext>
            </a:extLst>
          </p:cNvPr>
          <p:cNvGrpSpPr/>
          <p:nvPr/>
        </p:nvGrpSpPr>
        <p:grpSpPr>
          <a:xfrm>
            <a:off x="1263586" y="2457575"/>
            <a:ext cx="7801756" cy="1550621"/>
            <a:chOff x="1263586" y="2457575"/>
            <a:chExt cx="7801756" cy="1550621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78DC4ECA-A96C-9717-3A31-B17F3E6A7E8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74081" y="2509113"/>
              <a:ext cx="4783105" cy="484774"/>
            </a:xfrm>
            <a:prstGeom prst="rect">
              <a:avLst/>
            </a:prstGeom>
          </p:spPr>
        </p:pic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F9E7B2C1-F063-ED67-52A8-04D02081DF24}"/>
                </a:ext>
              </a:extLst>
            </p:cNvPr>
            <p:cNvSpPr/>
            <p:nvPr/>
          </p:nvSpPr>
          <p:spPr>
            <a:xfrm>
              <a:off x="1263586" y="3779596"/>
              <a:ext cx="2285857" cy="228600"/>
            </a:xfrm>
            <a:prstGeom prst="roundRect">
              <a:avLst/>
            </a:prstGeom>
            <a:noFill/>
            <a:ln w="28575">
              <a:solidFill>
                <a:srgbClr val="C0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DC4B4FA0-A7E2-196C-3B76-A62D9297FBD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174081" y="3205806"/>
              <a:ext cx="4768651" cy="524630"/>
            </a:xfrm>
            <a:prstGeom prst="rect">
              <a:avLst/>
            </a:prstGeom>
          </p:spPr>
        </p:pic>
        <p:sp>
          <p:nvSpPr>
            <p:cNvPr id="13" name="Right Arrow 12">
              <a:extLst>
                <a:ext uri="{FF2B5EF4-FFF2-40B4-BE49-F238E27FC236}">
                  <a16:creationId xmlns:a16="http://schemas.microsoft.com/office/drawing/2014/main" id="{EB4D07A6-059E-65A8-C995-B170BB65B8F9}"/>
                </a:ext>
              </a:extLst>
            </p:cNvPr>
            <p:cNvSpPr/>
            <p:nvPr/>
          </p:nvSpPr>
          <p:spPr>
            <a:xfrm rot="19815097">
              <a:off x="3576747" y="3665484"/>
              <a:ext cx="531088" cy="285136"/>
            </a:xfrm>
            <a:prstGeom prst="rightArrow">
              <a:avLst/>
            </a:prstGeom>
            <a:solidFill>
              <a:srgbClr val="A8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88B53553-5D28-BB76-2665-2558241FE9BA}"/>
                </a:ext>
              </a:extLst>
            </p:cNvPr>
            <p:cNvSpPr/>
            <p:nvPr/>
          </p:nvSpPr>
          <p:spPr>
            <a:xfrm>
              <a:off x="4124400" y="2457575"/>
              <a:ext cx="4940942" cy="1349239"/>
            </a:xfrm>
            <a:prstGeom prst="roundRect">
              <a:avLst/>
            </a:prstGeom>
            <a:noFill/>
            <a:ln w="28575">
              <a:solidFill>
                <a:srgbClr val="C0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89296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9900DE30-AF56-D525-AA2D-15E4EA891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AD2F9E5-FF84-92CB-9C6B-66BA60F02C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800" y="2330158"/>
            <a:ext cx="7772400" cy="2322699"/>
          </a:xfrm>
          <a:prstGeom prst="rect">
            <a:avLst/>
          </a:prstGeom>
        </p:spPr>
      </p:pic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C40A44A-EC05-7273-84FF-F608F6FB0DA9}"/>
              </a:ext>
            </a:extLst>
          </p:cNvPr>
          <p:cNvSpPr/>
          <p:nvPr/>
        </p:nvSpPr>
        <p:spPr>
          <a:xfrm>
            <a:off x="3698157" y="2473586"/>
            <a:ext cx="1178643" cy="364803"/>
          </a:xfrm>
          <a:prstGeom prst="roundRect">
            <a:avLst/>
          </a:prstGeom>
          <a:noFill/>
          <a:ln w="285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B928ECD7-8BD0-B7AF-F49B-B6944BACB4E0}"/>
              </a:ext>
            </a:extLst>
          </p:cNvPr>
          <p:cNvSpPr/>
          <p:nvPr/>
        </p:nvSpPr>
        <p:spPr>
          <a:xfrm flipV="1">
            <a:off x="469799" y="2582417"/>
            <a:ext cx="339498" cy="334802"/>
          </a:xfrm>
          <a:prstGeom prst="roundRect">
            <a:avLst/>
          </a:prstGeom>
          <a:noFill/>
          <a:ln w="285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BC49887-B766-821D-5821-94611A622764}"/>
              </a:ext>
            </a:extLst>
          </p:cNvPr>
          <p:cNvSpPr/>
          <p:nvPr/>
        </p:nvSpPr>
        <p:spPr>
          <a:xfrm flipV="1">
            <a:off x="1265038" y="3308334"/>
            <a:ext cx="1178642" cy="237985"/>
          </a:xfrm>
          <a:prstGeom prst="roundRect">
            <a:avLst/>
          </a:prstGeom>
          <a:noFill/>
          <a:ln w="285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Google Shape;76;p14">
            <a:extLst>
              <a:ext uri="{FF2B5EF4-FFF2-40B4-BE49-F238E27FC236}">
                <a16:creationId xmlns:a16="http://schemas.microsoft.com/office/drawing/2014/main" id="{FFFE4753-60A7-0D37-2959-479E7D25283F}"/>
              </a:ext>
            </a:extLst>
          </p:cNvPr>
          <p:cNvSpPr/>
          <p:nvPr/>
        </p:nvSpPr>
        <p:spPr>
          <a:xfrm>
            <a:off x="8242200" y="0"/>
            <a:ext cx="673200" cy="672300"/>
          </a:xfrm>
          <a:prstGeom prst="flowChartOffpageConnector">
            <a:avLst/>
          </a:prstGeom>
          <a:noFill/>
          <a:ln w="9525" cap="flat" cmpd="sng">
            <a:solidFill>
              <a:srgbClr val="A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4">
            <a:extLst>
              <a:ext uri="{FF2B5EF4-FFF2-40B4-BE49-F238E27FC236}">
                <a16:creationId xmlns:a16="http://schemas.microsoft.com/office/drawing/2014/main" id="{06E97175-69BA-A584-E548-7208C01F5BF9}"/>
              </a:ext>
            </a:extLst>
          </p:cNvPr>
          <p:cNvSpPr txBox="1"/>
          <p:nvPr/>
        </p:nvSpPr>
        <p:spPr>
          <a:xfrm>
            <a:off x="8242200" y="0"/>
            <a:ext cx="6732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  <a:t>11-785</a:t>
            </a:r>
            <a:br>
              <a:rPr lang="en" sz="600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br>
              <a:rPr lang="en" sz="600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  <a:t>Introduction to </a:t>
            </a:r>
            <a:b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  <a:t>Deep Learning</a:t>
            </a:r>
            <a:endParaRPr sz="100"/>
          </a:p>
        </p:txBody>
      </p:sp>
      <p:sp>
        <p:nvSpPr>
          <p:cNvPr id="78" name="Google Shape;78;p14">
            <a:extLst>
              <a:ext uri="{FF2B5EF4-FFF2-40B4-BE49-F238E27FC236}">
                <a16:creationId xmlns:a16="http://schemas.microsoft.com/office/drawing/2014/main" id="{0DD6F1AC-9BED-0B96-CC89-7C7528408F30}"/>
              </a:ext>
            </a:extLst>
          </p:cNvPr>
          <p:cNvSpPr txBox="1"/>
          <p:nvPr/>
        </p:nvSpPr>
        <p:spPr>
          <a:xfrm>
            <a:off x="228600" y="228601"/>
            <a:ext cx="7791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</a:rPr>
              <a:t>Connect via </a:t>
            </a:r>
            <a:r>
              <a:rPr lang="en" sz="1800" dirty="0" err="1">
                <a:solidFill>
                  <a:schemeClr val="dk1"/>
                </a:solidFill>
              </a:rPr>
              <a:t>VSCode</a:t>
            </a: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93" name="Google Shape;93;p14">
            <a:extLst>
              <a:ext uri="{FF2B5EF4-FFF2-40B4-BE49-F238E27FC236}">
                <a16:creationId xmlns:a16="http://schemas.microsoft.com/office/drawing/2014/main" id="{6C72F5DA-487C-DF76-CD06-C26A378C8EAA}"/>
              </a:ext>
            </a:extLst>
          </p:cNvPr>
          <p:cNvSpPr/>
          <p:nvPr/>
        </p:nvSpPr>
        <p:spPr>
          <a:xfrm>
            <a:off x="228600" y="685800"/>
            <a:ext cx="7772400" cy="18300"/>
          </a:xfrm>
          <a:prstGeom prst="rect">
            <a:avLst/>
          </a:prstGeom>
          <a:solidFill>
            <a:srgbClr val="A8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25EB871-A77C-DFE1-5962-9DCAA9678751}"/>
              </a:ext>
            </a:extLst>
          </p:cNvPr>
          <p:cNvGrpSpPr/>
          <p:nvPr/>
        </p:nvGrpSpPr>
        <p:grpSpPr>
          <a:xfrm>
            <a:off x="287070" y="5162613"/>
            <a:ext cx="8628330" cy="228600"/>
            <a:chOff x="450302" y="5256435"/>
            <a:chExt cx="8628330" cy="228600"/>
          </a:xfrm>
        </p:grpSpPr>
        <p:sp>
          <p:nvSpPr>
            <p:cNvPr id="73" name="Google Shape;73;p14">
              <a:extLst>
                <a:ext uri="{FF2B5EF4-FFF2-40B4-BE49-F238E27FC236}">
                  <a16:creationId xmlns:a16="http://schemas.microsoft.com/office/drawing/2014/main" id="{791A936F-DADA-796F-0A54-10165D7E30FE}"/>
                </a:ext>
              </a:extLst>
            </p:cNvPr>
            <p:cNvSpPr/>
            <p:nvPr/>
          </p:nvSpPr>
          <p:spPr>
            <a:xfrm>
              <a:off x="450302" y="5256435"/>
              <a:ext cx="2158500" cy="228600"/>
            </a:xfrm>
            <a:prstGeom prst="homePlate">
              <a:avLst>
                <a:gd name="adj" fmla="val 50000"/>
              </a:avLst>
            </a:prstGeom>
            <a:noFill/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800" dirty="0">
                  <a:solidFill>
                    <a:schemeClr val="tx1"/>
                  </a:solidFill>
                </a:rPr>
                <a:t>What is PSC? </a:t>
              </a:r>
              <a:endParaRPr sz="800" dirty="0">
                <a:solidFill>
                  <a:schemeClr val="tx1"/>
                </a:solidFill>
              </a:endParaRPr>
            </a:p>
          </p:txBody>
        </p:sp>
        <p:sp>
          <p:nvSpPr>
            <p:cNvPr id="74" name="Google Shape;74;p14">
              <a:extLst>
                <a:ext uri="{FF2B5EF4-FFF2-40B4-BE49-F238E27FC236}">
                  <a16:creationId xmlns:a16="http://schemas.microsoft.com/office/drawing/2014/main" id="{D858B72B-B751-DA09-C8F6-D5AB5DD7001C}"/>
                </a:ext>
              </a:extLst>
            </p:cNvPr>
            <p:cNvSpPr/>
            <p:nvPr/>
          </p:nvSpPr>
          <p:spPr>
            <a:xfrm>
              <a:off x="2606912" y="5256435"/>
              <a:ext cx="2158500" cy="228600"/>
            </a:xfrm>
            <a:prstGeom prst="chevron">
              <a:avLst>
                <a:gd name="adj" fmla="val 50000"/>
              </a:avLst>
            </a:prstGeom>
            <a:noFill/>
            <a:ln w="9525" cap="flat" cmpd="sng">
              <a:solidFill>
                <a:srgbClr val="C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" sz="800" dirty="0">
                  <a:solidFill>
                    <a:schemeClr val="tx1"/>
                  </a:solidFill>
                </a:rPr>
                <a:t>How to connect via terminal</a:t>
              </a:r>
              <a:endParaRPr sz="800" dirty="0">
                <a:solidFill>
                  <a:schemeClr val="tx1"/>
                </a:solidFill>
              </a:endParaRPr>
            </a:p>
          </p:txBody>
        </p:sp>
        <p:sp>
          <p:nvSpPr>
            <p:cNvPr id="75" name="Google Shape;75;p14">
              <a:extLst>
                <a:ext uri="{FF2B5EF4-FFF2-40B4-BE49-F238E27FC236}">
                  <a16:creationId xmlns:a16="http://schemas.microsoft.com/office/drawing/2014/main" id="{241D2F26-46BB-B38E-1EC6-9853ACC4A926}"/>
                </a:ext>
              </a:extLst>
            </p:cNvPr>
            <p:cNvSpPr/>
            <p:nvPr/>
          </p:nvSpPr>
          <p:spPr>
            <a:xfrm>
              <a:off x="4763522" y="5256435"/>
              <a:ext cx="2158500" cy="228600"/>
            </a:xfrm>
            <a:prstGeom prst="chevron">
              <a:avLst>
                <a:gd name="adj" fmla="val 50000"/>
              </a:avLst>
            </a:prstGeom>
            <a:solidFill>
              <a:srgbClr val="A80000"/>
            </a:solidFill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" sz="800" b="1" dirty="0">
                  <a:solidFill>
                    <a:schemeClr val="bg1"/>
                  </a:solidFill>
                </a:rPr>
                <a:t>How to connect via </a:t>
              </a:r>
              <a:r>
                <a:rPr lang="en" sz="800" b="1" dirty="0" err="1">
                  <a:solidFill>
                    <a:schemeClr val="bg1"/>
                  </a:solidFill>
                </a:rPr>
                <a:t>VSCode</a:t>
              </a:r>
              <a:endParaRPr sz="800" b="1" dirty="0">
                <a:solidFill>
                  <a:schemeClr val="bg1"/>
                </a:solidFill>
              </a:endParaRPr>
            </a:p>
          </p:txBody>
        </p:sp>
        <p:sp>
          <p:nvSpPr>
            <p:cNvPr id="3" name="Google Shape;75;p14">
              <a:extLst>
                <a:ext uri="{FF2B5EF4-FFF2-40B4-BE49-F238E27FC236}">
                  <a16:creationId xmlns:a16="http://schemas.microsoft.com/office/drawing/2014/main" id="{51AE5F8B-1BC6-90A0-6383-68C06F350B77}"/>
                </a:ext>
              </a:extLst>
            </p:cNvPr>
            <p:cNvSpPr/>
            <p:nvPr/>
          </p:nvSpPr>
          <p:spPr>
            <a:xfrm>
              <a:off x="6920132" y="5256435"/>
              <a:ext cx="2158500" cy="228600"/>
            </a:xfrm>
            <a:prstGeom prst="chevron">
              <a:avLst>
                <a:gd name="adj" fmla="val 50000"/>
              </a:avLst>
            </a:prstGeom>
            <a:solidFill>
              <a:schemeClr val="lt1"/>
            </a:solidFill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" sz="800" dirty="0">
                  <a:solidFill>
                    <a:schemeClr val="dk1"/>
                  </a:solidFill>
                </a:rPr>
                <a:t>PSC tips</a:t>
              </a:r>
              <a:endParaRPr sz="800" dirty="0">
                <a:solidFill>
                  <a:schemeClr val="dk1"/>
                </a:solidFill>
              </a:endParaRPr>
            </a:p>
          </p:txBody>
        </p:sp>
      </p:grpSp>
      <p:sp>
        <p:nvSpPr>
          <p:cNvPr id="2" name="Google Shape;66;p13">
            <a:extLst>
              <a:ext uri="{FF2B5EF4-FFF2-40B4-BE49-F238E27FC236}">
                <a16:creationId xmlns:a16="http://schemas.microsoft.com/office/drawing/2014/main" id="{39573EE4-42AE-7CF3-EDE7-DD5294A22353}"/>
              </a:ext>
            </a:extLst>
          </p:cNvPr>
          <p:cNvSpPr txBox="1"/>
          <p:nvPr/>
        </p:nvSpPr>
        <p:spPr>
          <a:xfrm>
            <a:off x="1546122" y="5350828"/>
            <a:ext cx="6889955" cy="36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dk2"/>
                </a:solidFill>
              </a:rPr>
              <a:t>TA: En Zheng (enzheng@</a:t>
            </a:r>
            <a:r>
              <a:rPr lang="en-US" sz="1100" dirty="0">
                <a:solidFill>
                  <a:schemeClr val="dk2"/>
                </a:solidFill>
              </a:rPr>
              <a:t>a</a:t>
            </a:r>
            <a:r>
              <a:rPr lang="en" sz="1100" dirty="0">
                <a:solidFill>
                  <a:schemeClr val="dk2"/>
                </a:solidFill>
              </a:rPr>
              <a:t>ndrew.cmu.edu) </a:t>
            </a:r>
            <a:r>
              <a:rPr lang="en-US" sz="1100" dirty="0" err="1">
                <a:solidFill>
                  <a:schemeClr val="dk2"/>
                </a:solidFill>
              </a:rPr>
              <a:t>Pengyu</a:t>
            </a:r>
            <a:r>
              <a:rPr lang="en-US" sz="1100" dirty="0">
                <a:solidFill>
                  <a:schemeClr val="dk2"/>
                </a:solidFill>
              </a:rPr>
              <a:t> Chang (</a:t>
            </a:r>
            <a:r>
              <a:rPr lang="en-US" sz="1100" dirty="0" err="1">
                <a:solidFill>
                  <a:schemeClr val="dk2"/>
                </a:solidFill>
              </a:rPr>
              <a:t>pengyuch@andrew.cmu.edu</a:t>
            </a:r>
            <a:r>
              <a:rPr lang="en-US" sz="1100" dirty="0">
                <a:solidFill>
                  <a:schemeClr val="dk2"/>
                </a:solidFill>
              </a:rPr>
              <a:t>)</a:t>
            </a:r>
            <a:endParaRPr sz="1100" dirty="0">
              <a:solidFill>
                <a:schemeClr val="dk2"/>
              </a:solidFill>
            </a:endParaRPr>
          </a:p>
        </p:txBody>
      </p:sp>
      <p:sp>
        <p:nvSpPr>
          <p:cNvPr id="4" name="Google Shape;78;p14">
            <a:extLst>
              <a:ext uri="{FF2B5EF4-FFF2-40B4-BE49-F238E27FC236}">
                <a16:creationId xmlns:a16="http://schemas.microsoft.com/office/drawing/2014/main" id="{2EB7829C-F94E-6FFF-BDC1-DBB86B181A9C}"/>
              </a:ext>
            </a:extLst>
          </p:cNvPr>
          <p:cNvSpPr txBox="1"/>
          <p:nvPr/>
        </p:nvSpPr>
        <p:spPr>
          <a:xfrm>
            <a:off x="2234381" y="723331"/>
            <a:ext cx="467769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rgbClr val="A80000"/>
                </a:solidFill>
              </a:rPr>
              <a:t>Please watch the video for more details </a:t>
            </a:r>
            <a:r>
              <a:rPr lang="en" sz="1600" b="1" dirty="0">
                <a:solidFill>
                  <a:srgbClr val="A80000"/>
                </a:solidFill>
                <a:sym typeface="Wingdings" pitchFamily="2" charset="2"/>
              </a:rPr>
              <a:t>:)</a:t>
            </a:r>
            <a:endParaRPr sz="1600" b="1" dirty="0">
              <a:solidFill>
                <a:srgbClr val="A8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F755CD-D913-6824-9C7E-DD3B183ED046}"/>
              </a:ext>
            </a:extLst>
          </p:cNvPr>
          <p:cNvSpPr txBox="1"/>
          <p:nvPr/>
        </p:nvSpPr>
        <p:spPr>
          <a:xfrm>
            <a:off x="469798" y="1376051"/>
            <a:ext cx="796627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3）Once connected, click “Explorer” in the left sidebar &gt; “Open Folder”, and navigate to your home directory under the project grant:</a:t>
            </a:r>
          </a:p>
          <a:p>
            <a:r>
              <a:rPr lang="en-US" sz="1600" dirty="0"/>
              <a:t>/jet/home/&lt;</a:t>
            </a:r>
            <a:r>
              <a:rPr lang="en-US" sz="1600" dirty="0" err="1"/>
              <a:t>your_username</a:t>
            </a:r>
            <a:r>
              <a:rPr lang="en-US" sz="1600" dirty="0"/>
              <a:t>&gt;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1066430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416ADBB5-90F7-FC3E-D3F0-943EB8984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>
            <a:extLst>
              <a:ext uri="{FF2B5EF4-FFF2-40B4-BE49-F238E27FC236}">
                <a16:creationId xmlns:a16="http://schemas.microsoft.com/office/drawing/2014/main" id="{426CEFA9-DEC7-7C4F-16E9-43564D3A5489}"/>
              </a:ext>
            </a:extLst>
          </p:cNvPr>
          <p:cNvSpPr/>
          <p:nvPr/>
        </p:nvSpPr>
        <p:spPr>
          <a:xfrm>
            <a:off x="8242200" y="0"/>
            <a:ext cx="673200" cy="672300"/>
          </a:xfrm>
          <a:prstGeom prst="flowChartOffpageConnector">
            <a:avLst/>
          </a:prstGeom>
          <a:noFill/>
          <a:ln w="9525" cap="flat" cmpd="sng">
            <a:solidFill>
              <a:srgbClr val="A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4">
            <a:extLst>
              <a:ext uri="{FF2B5EF4-FFF2-40B4-BE49-F238E27FC236}">
                <a16:creationId xmlns:a16="http://schemas.microsoft.com/office/drawing/2014/main" id="{8F3FC703-19E4-5154-CB07-4F81AA4B102E}"/>
              </a:ext>
            </a:extLst>
          </p:cNvPr>
          <p:cNvSpPr txBox="1"/>
          <p:nvPr/>
        </p:nvSpPr>
        <p:spPr>
          <a:xfrm>
            <a:off x="8242200" y="0"/>
            <a:ext cx="6732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  <a:t>11-785</a:t>
            </a:r>
            <a:br>
              <a:rPr lang="en" sz="600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br>
              <a:rPr lang="en" sz="600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  <a:t>Introduction to </a:t>
            </a:r>
            <a:b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  <a:t>Deep Learning</a:t>
            </a:r>
            <a:endParaRPr sz="100"/>
          </a:p>
        </p:txBody>
      </p:sp>
      <p:sp>
        <p:nvSpPr>
          <p:cNvPr id="78" name="Google Shape;78;p14">
            <a:extLst>
              <a:ext uri="{FF2B5EF4-FFF2-40B4-BE49-F238E27FC236}">
                <a16:creationId xmlns:a16="http://schemas.microsoft.com/office/drawing/2014/main" id="{D6052D29-1746-B36C-962E-4FA19B2BE452}"/>
              </a:ext>
            </a:extLst>
          </p:cNvPr>
          <p:cNvSpPr txBox="1"/>
          <p:nvPr/>
        </p:nvSpPr>
        <p:spPr>
          <a:xfrm>
            <a:off x="228600" y="228601"/>
            <a:ext cx="7791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</a:rPr>
              <a:t>Connect via </a:t>
            </a:r>
            <a:r>
              <a:rPr lang="en" sz="1800" dirty="0" err="1">
                <a:solidFill>
                  <a:schemeClr val="dk1"/>
                </a:solidFill>
              </a:rPr>
              <a:t>VSCode</a:t>
            </a: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93" name="Google Shape;93;p14">
            <a:extLst>
              <a:ext uri="{FF2B5EF4-FFF2-40B4-BE49-F238E27FC236}">
                <a16:creationId xmlns:a16="http://schemas.microsoft.com/office/drawing/2014/main" id="{7573D571-7B98-AB52-868D-EEFA53E215CC}"/>
              </a:ext>
            </a:extLst>
          </p:cNvPr>
          <p:cNvSpPr/>
          <p:nvPr/>
        </p:nvSpPr>
        <p:spPr>
          <a:xfrm>
            <a:off x="228600" y="685800"/>
            <a:ext cx="7772400" cy="18300"/>
          </a:xfrm>
          <a:prstGeom prst="rect">
            <a:avLst/>
          </a:prstGeom>
          <a:solidFill>
            <a:srgbClr val="A8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39BE524-FF42-CE24-AA03-6C7A8032C8ED}"/>
              </a:ext>
            </a:extLst>
          </p:cNvPr>
          <p:cNvGrpSpPr/>
          <p:nvPr/>
        </p:nvGrpSpPr>
        <p:grpSpPr>
          <a:xfrm>
            <a:off x="287070" y="5162613"/>
            <a:ext cx="8628330" cy="228600"/>
            <a:chOff x="450302" y="5256435"/>
            <a:chExt cx="8628330" cy="228600"/>
          </a:xfrm>
        </p:grpSpPr>
        <p:sp>
          <p:nvSpPr>
            <p:cNvPr id="73" name="Google Shape;73;p14">
              <a:extLst>
                <a:ext uri="{FF2B5EF4-FFF2-40B4-BE49-F238E27FC236}">
                  <a16:creationId xmlns:a16="http://schemas.microsoft.com/office/drawing/2014/main" id="{A8CB65B2-7821-72CA-C50D-F5CCEF28711E}"/>
                </a:ext>
              </a:extLst>
            </p:cNvPr>
            <p:cNvSpPr/>
            <p:nvPr/>
          </p:nvSpPr>
          <p:spPr>
            <a:xfrm>
              <a:off x="450302" y="5256435"/>
              <a:ext cx="2158500" cy="228600"/>
            </a:xfrm>
            <a:prstGeom prst="homePlate">
              <a:avLst>
                <a:gd name="adj" fmla="val 50000"/>
              </a:avLst>
            </a:prstGeom>
            <a:noFill/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800" dirty="0">
                  <a:solidFill>
                    <a:schemeClr val="tx1"/>
                  </a:solidFill>
                </a:rPr>
                <a:t>What is PSC? </a:t>
              </a:r>
              <a:endParaRPr sz="800" dirty="0">
                <a:solidFill>
                  <a:schemeClr val="tx1"/>
                </a:solidFill>
              </a:endParaRPr>
            </a:p>
          </p:txBody>
        </p:sp>
        <p:sp>
          <p:nvSpPr>
            <p:cNvPr id="74" name="Google Shape;74;p14">
              <a:extLst>
                <a:ext uri="{FF2B5EF4-FFF2-40B4-BE49-F238E27FC236}">
                  <a16:creationId xmlns:a16="http://schemas.microsoft.com/office/drawing/2014/main" id="{70171714-C80F-4E1D-E261-89AA66C73104}"/>
                </a:ext>
              </a:extLst>
            </p:cNvPr>
            <p:cNvSpPr/>
            <p:nvPr/>
          </p:nvSpPr>
          <p:spPr>
            <a:xfrm>
              <a:off x="2606912" y="5256435"/>
              <a:ext cx="2158500" cy="228600"/>
            </a:xfrm>
            <a:prstGeom prst="chevron">
              <a:avLst>
                <a:gd name="adj" fmla="val 50000"/>
              </a:avLst>
            </a:prstGeom>
            <a:noFill/>
            <a:ln w="9525" cap="flat" cmpd="sng">
              <a:solidFill>
                <a:srgbClr val="C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" sz="800" dirty="0">
                  <a:solidFill>
                    <a:schemeClr val="tx1"/>
                  </a:solidFill>
                </a:rPr>
                <a:t>How to connect via terminal</a:t>
              </a:r>
              <a:endParaRPr sz="800" dirty="0">
                <a:solidFill>
                  <a:schemeClr val="tx1"/>
                </a:solidFill>
              </a:endParaRPr>
            </a:p>
          </p:txBody>
        </p:sp>
        <p:sp>
          <p:nvSpPr>
            <p:cNvPr id="75" name="Google Shape;75;p14">
              <a:extLst>
                <a:ext uri="{FF2B5EF4-FFF2-40B4-BE49-F238E27FC236}">
                  <a16:creationId xmlns:a16="http://schemas.microsoft.com/office/drawing/2014/main" id="{464BA433-C79E-8678-7D93-2C6CA53876AC}"/>
                </a:ext>
              </a:extLst>
            </p:cNvPr>
            <p:cNvSpPr/>
            <p:nvPr/>
          </p:nvSpPr>
          <p:spPr>
            <a:xfrm>
              <a:off x="4763522" y="5256435"/>
              <a:ext cx="2158500" cy="228600"/>
            </a:xfrm>
            <a:prstGeom prst="chevron">
              <a:avLst>
                <a:gd name="adj" fmla="val 50000"/>
              </a:avLst>
            </a:prstGeom>
            <a:solidFill>
              <a:srgbClr val="A80000"/>
            </a:solidFill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" sz="800" b="1" dirty="0">
                  <a:solidFill>
                    <a:schemeClr val="bg1"/>
                  </a:solidFill>
                </a:rPr>
                <a:t>How to connect via </a:t>
              </a:r>
              <a:r>
                <a:rPr lang="en" sz="800" b="1" dirty="0" err="1">
                  <a:solidFill>
                    <a:schemeClr val="bg1"/>
                  </a:solidFill>
                </a:rPr>
                <a:t>VSCode</a:t>
              </a:r>
              <a:endParaRPr sz="800" b="1" dirty="0">
                <a:solidFill>
                  <a:schemeClr val="bg1"/>
                </a:solidFill>
              </a:endParaRPr>
            </a:p>
          </p:txBody>
        </p:sp>
        <p:sp>
          <p:nvSpPr>
            <p:cNvPr id="3" name="Google Shape;75;p14">
              <a:extLst>
                <a:ext uri="{FF2B5EF4-FFF2-40B4-BE49-F238E27FC236}">
                  <a16:creationId xmlns:a16="http://schemas.microsoft.com/office/drawing/2014/main" id="{0D011C77-7FCA-AFF0-92CF-3AA41FEB4B8F}"/>
                </a:ext>
              </a:extLst>
            </p:cNvPr>
            <p:cNvSpPr/>
            <p:nvPr/>
          </p:nvSpPr>
          <p:spPr>
            <a:xfrm>
              <a:off x="6920132" y="5256435"/>
              <a:ext cx="2158500" cy="228600"/>
            </a:xfrm>
            <a:prstGeom prst="chevron">
              <a:avLst>
                <a:gd name="adj" fmla="val 50000"/>
              </a:avLst>
            </a:prstGeom>
            <a:solidFill>
              <a:schemeClr val="lt1"/>
            </a:solidFill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" sz="800" dirty="0">
                  <a:solidFill>
                    <a:schemeClr val="dk1"/>
                  </a:solidFill>
                </a:rPr>
                <a:t>PSC tips</a:t>
              </a:r>
              <a:endParaRPr sz="800" dirty="0">
                <a:solidFill>
                  <a:schemeClr val="dk1"/>
                </a:solidFill>
              </a:endParaRPr>
            </a:p>
          </p:txBody>
        </p:sp>
      </p:grpSp>
      <p:sp>
        <p:nvSpPr>
          <p:cNvPr id="2" name="Google Shape;66;p13">
            <a:extLst>
              <a:ext uri="{FF2B5EF4-FFF2-40B4-BE49-F238E27FC236}">
                <a16:creationId xmlns:a16="http://schemas.microsoft.com/office/drawing/2014/main" id="{2FC056B5-716B-C52C-B182-36511CCDB643}"/>
              </a:ext>
            </a:extLst>
          </p:cNvPr>
          <p:cNvSpPr txBox="1"/>
          <p:nvPr/>
        </p:nvSpPr>
        <p:spPr>
          <a:xfrm>
            <a:off x="1546122" y="5350828"/>
            <a:ext cx="6889955" cy="36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dk2"/>
                </a:solidFill>
              </a:rPr>
              <a:t>TA: En Zheng (enzheng@</a:t>
            </a:r>
            <a:r>
              <a:rPr lang="en-US" sz="1100" dirty="0">
                <a:solidFill>
                  <a:schemeClr val="dk2"/>
                </a:solidFill>
              </a:rPr>
              <a:t>a</a:t>
            </a:r>
            <a:r>
              <a:rPr lang="en" sz="1100" dirty="0">
                <a:solidFill>
                  <a:schemeClr val="dk2"/>
                </a:solidFill>
              </a:rPr>
              <a:t>ndrew.cmu.edu) </a:t>
            </a:r>
            <a:r>
              <a:rPr lang="en-US" sz="1100" dirty="0" err="1">
                <a:solidFill>
                  <a:schemeClr val="dk2"/>
                </a:solidFill>
              </a:rPr>
              <a:t>Pengyu</a:t>
            </a:r>
            <a:r>
              <a:rPr lang="en-US" sz="1100" dirty="0">
                <a:solidFill>
                  <a:schemeClr val="dk2"/>
                </a:solidFill>
              </a:rPr>
              <a:t> Chang (</a:t>
            </a:r>
            <a:r>
              <a:rPr lang="en-US" sz="1100" dirty="0" err="1">
                <a:solidFill>
                  <a:schemeClr val="dk2"/>
                </a:solidFill>
              </a:rPr>
              <a:t>pengyuch@andrew.cmu.edu</a:t>
            </a:r>
            <a:r>
              <a:rPr lang="en-US" sz="1100" dirty="0">
                <a:solidFill>
                  <a:schemeClr val="dk2"/>
                </a:solidFill>
              </a:rPr>
              <a:t>)</a:t>
            </a:r>
            <a:endParaRPr sz="1100" dirty="0">
              <a:solidFill>
                <a:schemeClr val="dk2"/>
              </a:solidFill>
            </a:endParaRPr>
          </a:p>
        </p:txBody>
      </p:sp>
      <p:sp>
        <p:nvSpPr>
          <p:cNvPr id="4" name="Google Shape;78;p14">
            <a:extLst>
              <a:ext uri="{FF2B5EF4-FFF2-40B4-BE49-F238E27FC236}">
                <a16:creationId xmlns:a16="http://schemas.microsoft.com/office/drawing/2014/main" id="{41A67A37-BFEB-350B-82F3-275B04437E76}"/>
              </a:ext>
            </a:extLst>
          </p:cNvPr>
          <p:cNvSpPr txBox="1"/>
          <p:nvPr/>
        </p:nvSpPr>
        <p:spPr>
          <a:xfrm>
            <a:off x="2234381" y="723331"/>
            <a:ext cx="467769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rgbClr val="A80000"/>
                </a:solidFill>
              </a:rPr>
              <a:t>Please watch the video for more details </a:t>
            </a:r>
            <a:r>
              <a:rPr lang="en" sz="1600" b="1" dirty="0">
                <a:solidFill>
                  <a:srgbClr val="A80000"/>
                </a:solidFill>
                <a:sym typeface="Wingdings" pitchFamily="2" charset="2"/>
              </a:rPr>
              <a:t>:)</a:t>
            </a:r>
            <a:endParaRPr sz="1600" b="1" dirty="0">
              <a:solidFill>
                <a:srgbClr val="A8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B88CE4-F97B-0AF5-A463-AD9654656922}"/>
              </a:ext>
            </a:extLst>
          </p:cNvPr>
          <p:cNvSpPr txBox="1"/>
          <p:nvPr/>
        </p:nvSpPr>
        <p:spPr>
          <a:xfrm>
            <a:off x="4434347" y="1551073"/>
            <a:ext cx="4097129" cy="3216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4）You can now </a:t>
            </a:r>
            <a:r>
              <a:rPr lang="en-US" b="1" dirty="0"/>
              <a:t>drag</a:t>
            </a:r>
            <a:r>
              <a:rPr lang="en-US" dirty="0"/>
              <a:t> your notebook files directly into the right-hand pane (your remote home directory), or </a:t>
            </a:r>
            <a:r>
              <a:rPr lang="en-US" b="1" dirty="0"/>
              <a:t>upload</a:t>
            </a:r>
            <a:r>
              <a:rPr lang="en-US" dirty="0"/>
              <a:t> them using ‘</a:t>
            </a:r>
            <a:r>
              <a:rPr lang="en-US" dirty="0" err="1"/>
              <a:t>scp</a:t>
            </a:r>
            <a:r>
              <a:rPr lang="en-US" dirty="0"/>
              <a:t>’ into your folder.</a:t>
            </a:r>
          </a:p>
          <a:p>
            <a:pPr>
              <a:lnSpc>
                <a:spcPct val="150000"/>
              </a:lnSpc>
            </a:pPr>
            <a:r>
              <a:rPr lang="en-US" dirty="0"/>
              <a:t>Right click the file(Mouse2), you can </a:t>
            </a:r>
            <a:r>
              <a:rPr lang="en-US" b="1" dirty="0"/>
              <a:t>download </a:t>
            </a:r>
            <a:r>
              <a:rPr lang="en-US" dirty="0"/>
              <a:t>your file from PSC, which is useful when you try to </a:t>
            </a:r>
            <a:r>
              <a:rPr lang="en-US" dirty="0" err="1"/>
              <a:t>handin</a:t>
            </a:r>
            <a:r>
              <a:rPr lang="en-US" dirty="0"/>
              <a:t> your code.</a:t>
            </a:r>
          </a:p>
          <a:p>
            <a:pPr>
              <a:lnSpc>
                <a:spcPct val="150000"/>
              </a:lnSpc>
            </a:pP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6606C7C-12F6-8421-6834-DBE71277DFC3}"/>
              </a:ext>
            </a:extLst>
          </p:cNvPr>
          <p:cNvGrpSpPr/>
          <p:nvPr/>
        </p:nvGrpSpPr>
        <p:grpSpPr>
          <a:xfrm>
            <a:off x="422400" y="1309105"/>
            <a:ext cx="3702000" cy="3682564"/>
            <a:chOff x="4876800" y="714415"/>
            <a:chExt cx="3702000" cy="3682564"/>
          </a:xfrm>
        </p:grpSpPr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C78E7322-DBAE-5A3D-C4C6-5751FBD836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76800" y="714415"/>
              <a:ext cx="3702000" cy="36825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BB4C4B9E-3FE9-B9F8-F55B-D50F78EE55A3}"/>
                </a:ext>
              </a:extLst>
            </p:cNvPr>
            <p:cNvSpPr/>
            <p:nvPr/>
          </p:nvSpPr>
          <p:spPr>
            <a:xfrm flipV="1">
              <a:off x="5855492" y="3168244"/>
              <a:ext cx="2723308" cy="184444"/>
            </a:xfrm>
            <a:prstGeom prst="roundRect">
              <a:avLst/>
            </a:prstGeom>
            <a:noFill/>
            <a:ln w="28575">
              <a:solidFill>
                <a:srgbClr val="C0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358979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6531FA91-06AF-0D92-40C0-F52C418BC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>
            <a:extLst>
              <a:ext uri="{FF2B5EF4-FFF2-40B4-BE49-F238E27FC236}">
                <a16:creationId xmlns:a16="http://schemas.microsoft.com/office/drawing/2014/main" id="{9FBD6F99-EEBF-8E71-A7A6-21033FDC77BA}"/>
              </a:ext>
            </a:extLst>
          </p:cNvPr>
          <p:cNvSpPr/>
          <p:nvPr/>
        </p:nvSpPr>
        <p:spPr>
          <a:xfrm>
            <a:off x="8242200" y="0"/>
            <a:ext cx="673200" cy="672300"/>
          </a:xfrm>
          <a:prstGeom prst="flowChartOffpageConnector">
            <a:avLst/>
          </a:prstGeom>
          <a:noFill/>
          <a:ln w="9525" cap="flat" cmpd="sng">
            <a:solidFill>
              <a:srgbClr val="A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4">
            <a:extLst>
              <a:ext uri="{FF2B5EF4-FFF2-40B4-BE49-F238E27FC236}">
                <a16:creationId xmlns:a16="http://schemas.microsoft.com/office/drawing/2014/main" id="{DCA79E6D-20D6-5635-4CB2-8056F1880101}"/>
              </a:ext>
            </a:extLst>
          </p:cNvPr>
          <p:cNvSpPr txBox="1"/>
          <p:nvPr/>
        </p:nvSpPr>
        <p:spPr>
          <a:xfrm>
            <a:off x="8242200" y="0"/>
            <a:ext cx="6732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  <a:t>11-785</a:t>
            </a:r>
            <a:br>
              <a:rPr lang="en" sz="600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br>
              <a:rPr lang="en" sz="600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  <a:t>Introduction to </a:t>
            </a:r>
            <a:b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  <a:t>Deep Learning</a:t>
            </a:r>
            <a:endParaRPr sz="100"/>
          </a:p>
        </p:txBody>
      </p:sp>
      <p:sp>
        <p:nvSpPr>
          <p:cNvPr id="78" name="Google Shape;78;p14">
            <a:extLst>
              <a:ext uri="{FF2B5EF4-FFF2-40B4-BE49-F238E27FC236}">
                <a16:creationId xmlns:a16="http://schemas.microsoft.com/office/drawing/2014/main" id="{857292B2-21E9-610B-00E6-85B633895FC6}"/>
              </a:ext>
            </a:extLst>
          </p:cNvPr>
          <p:cNvSpPr txBox="1"/>
          <p:nvPr/>
        </p:nvSpPr>
        <p:spPr>
          <a:xfrm>
            <a:off x="228600" y="228601"/>
            <a:ext cx="7791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</a:rPr>
              <a:t>Connect via </a:t>
            </a:r>
            <a:r>
              <a:rPr lang="en" sz="1800" dirty="0" err="1">
                <a:solidFill>
                  <a:schemeClr val="dk1"/>
                </a:solidFill>
              </a:rPr>
              <a:t>VSCode</a:t>
            </a: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93" name="Google Shape;93;p14">
            <a:extLst>
              <a:ext uri="{FF2B5EF4-FFF2-40B4-BE49-F238E27FC236}">
                <a16:creationId xmlns:a16="http://schemas.microsoft.com/office/drawing/2014/main" id="{1B684E88-53B5-1AC0-ADCA-88D2548245D6}"/>
              </a:ext>
            </a:extLst>
          </p:cNvPr>
          <p:cNvSpPr/>
          <p:nvPr/>
        </p:nvSpPr>
        <p:spPr>
          <a:xfrm>
            <a:off x="228600" y="685800"/>
            <a:ext cx="7772400" cy="18300"/>
          </a:xfrm>
          <a:prstGeom prst="rect">
            <a:avLst/>
          </a:prstGeom>
          <a:solidFill>
            <a:srgbClr val="A8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70E2C29-BB19-D8CC-D17C-8BB1B9540EE3}"/>
              </a:ext>
            </a:extLst>
          </p:cNvPr>
          <p:cNvGrpSpPr/>
          <p:nvPr/>
        </p:nvGrpSpPr>
        <p:grpSpPr>
          <a:xfrm>
            <a:off x="287070" y="5162613"/>
            <a:ext cx="8628330" cy="228600"/>
            <a:chOff x="450302" y="5256435"/>
            <a:chExt cx="8628330" cy="228600"/>
          </a:xfrm>
        </p:grpSpPr>
        <p:sp>
          <p:nvSpPr>
            <p:cNvPr id="73" name="Google Shape;73;p14">
              <a:extLst>
                <a:ext uri="{FF2B5EF4-FFF2-40B4-BE49-F238E27FC236}">
                  <a16:creationId xmlns:a16="http://schemas.microsoft.com/office/drawing/2014/main" id="{670A8237-3508-AC8B-FBBC-C78AC5017D29}"/>
                </a:ext>
              </a:extLst>
            </p:cNvPr>
            <p:cNvSpPr/>
            <p:nvPr/>
          </p:nvSpPr>
          <p:spPr>
            <a:xfrm>
              <a:off x="450302" y="5256435"/>
              <a:ext cx="2158500" cy="228600"/>
            </a:xfrm>
            <a:prstGeom prst="homePlate">
              <a:avLst>
                <a:gd name="adj" fmla="val 50000"/>
              </a:avLst>
            </a:prstGeom>
            <a:noFill/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800" dirty="0">
                  <a:solidFill>
                    <a:schemeClr val="tx1"/>
                  </a:solidFill>
                </a:rPr>
                <a:t>What is PSC? </a:t>
              </a:r>
              <a:endParaRPr sz="800" dirty="0">
                <a:solidFill>
                  <a:schemeClr val="tx1"/>
                </a:solidFill>
              </a:endParaRPr>
            </a:p>
          </p:txBody>
        </p:sp>
        <p:sp>
          <p:nvSpPr>
            <p:cNvPr id="74" name="Google Shape;74;p14">
              <a:extLst>
                <a:ext uri="{FF2B5EF4-FFF2-40B4-BE49-F238E27FC236}">
                  <a16:creationId xmlns:a16="http://schemas.microsoft.com/office/drawing/2014/main" id="{7D13314F-B075-3C50-DAF9-350865E727EA}"/>
                </a:ext>
              </a:extLst>
            </p:cNvPr>
            <p:cNvSpPr/>
            <p:nvPr/>
          </p:nvSpPr>
          <p:spPr>
            <a:xfrm>
              <a:off x="2606912" y="5256435"/>
              <a:ext cx="2158500" cy="228600"/>
            </a:xfrm>
            <a:prstGeom prst="chevron">
              <a:avLst>
                <a:gd name="adj" fmla="val 50000"/>
              </a:avLst>
            </a:prstGeom>
            <a:noFill/>
            <a:ln w="9525" cap="flat" cmpd="sng">
              <a:solidFill>
                <a:srgbClr val="C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" sz="800" dirty="0">
                  <a:solidFill>
                    <a:schemeClr val="tx1"/>
                  </a:solidFill>
                </a:rPr>
                <a:t>How to connect via terminal</a:t>
              </a:r>
              <a:endParaRPr sz="800" dirty="0">
                <a:solidFill>
                  <a:schemeClr val="tx1"/>
                </a:solidFill>
              </a:endParaRPr>
            </a:p>
          </p:txBody>
        </p:sp>
        <p:sp>
          <p:nvSpPr>
            <p:cNvPr id="75" name="Google Shape;75;p14">
              <a:extLst>
                <a:ext uri="{FF2B5EF4-FFF2-40B4-BE49-F238E27FC236}">
                  <a16:creationId xmlns:a16="http://schemas.microsoft.com/office/drawing/2014/main" id="{802A1525-4E18-AB99-3F75-13B438AB5D41}"/>
                </a:ext>
              </a:extLst>
            </p:cNvPr>
            <p:cNvSpPr/>
            <p:nvPr/>
          </p:nvSpPr>
          <p:spPr>
            <a:xfrm>
              <a:off x="4763522" y="5256435"/>
              <a:ext cx="2158500" cy="228600"/>
            </a:xfrm>
            <a:prstGeom prst="chevron">
              <a:avLst>
                <a:gd name="adj" fmla="val 50000"/>
              </a:avLst>
            </a:prstGeom>
            <a:solidFill>
              <a:srgbClr val="A80000"/>
            </a:solidFill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" sz="800" b="1" dirty="0">
                  <a:solidFill>
                    <a:schemeClr val="bg1"/>
                  </a:solidFill>
                </a:rPr>
                <a:t>How to connect via </a:t>
              </a:r>
              <a:r>
                <a:rPr lang="en" sz="800" b="1" dirty="0" err="1">
                  <a:solidFill>
                    <a:schemeClr val="bg1"/>
                  </a:solidFill>
                </a:rPr>
                <a:t>VSCode</a:t>
              </a:r>
              <a:endParaRPr sz="800" b="1" dirty="0">
                <a:solidFill>
                  <a:schemeClr val="bg1"/>
                </a:solidFill>
              </a:endParaRPr>
            </a:p>
          </p:txBody>
        </p:sp>
        <p:sp>
          <p:nvSpPr>
            <p:cNvPr id="3" name="Google Shape;75;p14">
              <a:extLst>
                <a:ext uri="{FF2B5EF4-FFF2-40B4-BE49-F238E27FC236}">
                  <a16:creationId xmlns:a16="http://schemas.microsoft.com/office/drawing/2014/main" id="{DB63ACFB-7D34-4833-DCC6-E22FBFA21349}"/>
                </a:ext>
              </a:extLst>
            </p:cNvPr>
            <p:cNvSpPr/>
            <p:nvPr/>
          </p:nvSpPr>
          <p:spPr>
            <a:xfrm>
              <a:off x="6920132" y="5256435"/>
              <a:ext cx="2158500" cy="228600"/>
            </a:xfrm>
            <a:prstGeom prst="chevron">
              <a:avLst>
                <a:gd name="adj" fmla="val 50000"/>
              </a:avLst>
            </a:prstGeom>
            <a:solidFill>
              <a:schemeClr val="lt1"/>
            </a:solidFill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" sz="800" dirty="0">
                  <a:solidFill>
                    <a:schemeClr val="dk1"/>
                  </a:solidFill>
                </a:rPr>
                <a:t>PSC tips</a:t>
              </a:r>
              <a:endParaRPr sz="800" dirty="0">
                <a:solidFill>
                  <a:schemeClr val="dk1"/>
                </a:solidFill>
              </a:endParaRPr>
            </a:p>
          </p:txBody>
        </p:sp>
      </p:grpSp>
      <p:sp>
        <p:nvSpPr>
          <p:cNvPr id="2" name="Google Shape;66;p13">
            <a:extLst>
              <a:ext uri="{FF2B5EF4-FFF2-40B4-BE49-F238E27FC236}">
                <a16:creationId xmlns:a16="http://schemas.microsoft.com/office/drawing/2014/main" id="{BB38DB95-0EBE-CFAB-CEE2-8E261F5902C6}"/>
              </a:ext>
            </a:extLst>
          </p:cNvPr>
          <p:cNvSpPr txBox="1"/>
          <p:nvPr/>
        </p:nvSpPr>
        <p:spPr>
          <a:xfrm>
            <a:off x="1546122" y="5350828"/>
            <a:ext cx="6889955" cy="36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dk2"/>
                </a:solidFill>
              </a:rPr>
              <a:t>TA: En Zheng (enzheng@</a:t>
            </a:r>
            <a:r>
              <a:rPr lang="en-US" sz="1100" dirty="0">
                <a:solidFill>
                  <a:schemeClr val="dk2"/>
                </a:solidFill>
              </a:rPr>
              <a:t>a</a:t>
            </a:r>
            <a:r>
              <a:rPr lang="en" sz="1100" dirty="0">
                <a:solidFill>
                  <a:schemeClr val="dk2"/>
                </a:solidFill>
              </a:rPr>
              <a:t>ndrew.cmu.edu) </a:t>
            </a:r>
            <a:r>
              <a:rPr lang="en-US" sz="1100" dirty="0" err="1">
                <a:solidFill>
                  <a:schemeClr val="dk2"/>
                </a:solidFill>
              </a:rPr>
              <a:t>Pengyu</a:t>
            </a:r>
            <a:r>
              <a:rPr lang="en-US" sz="1100" dirty="0">
                <a:solidFill>
                  <a:schemeClr val="dk2"/>
                </a:solidFill>
              </a:rPr>
              <a:t> Chang (</a:t>
            </a:r>
            <a:r>
              <a:rPr lang="en-US" sz="1100" dirty="0" err="1">
                <a:solidFill>
                  <a:schemeClr val="dk2"/>
                </a:solidFill>
              </a:rPr>
              <a:t>pengyuch@andrew.cmu.edu</a:t>
            </a:r>
            <a:r>
              <a:rPr lang="en-US" sz="1100" dirty="0">
                <a:solidFill>
                  <a:schemeClr val="dk2"/>
                </a:solidFill>
              </a:rPr>
              <a:t>)</a:t>
            </a:r>
            <a:endParaRPr sz="1100" dirty="0">
              <a:solidFill>
                <a:schemeClr val="dk2"/>
              </a:solidFill>
            </a:endParaRPr>
          </a:p>
        </p:txBody>
      </p:sp>
      <p:sp>
        <p:nvSpPr>
          <p:cNvPr id="4" name="Google Shape;78;p14">
            <a:extLst>
              <a:ext uri="{FF2B5EF4-FFF2-40B4-BE49-F238E27FC236}">
                <a16:creationId xmlns:a16="http://schemas.microsoft.com/office/drawing/2014/main" id="{DF316E1B-FF75-CE7F-4DB4-80D1B33DCD95}"/>
              </a:ext>
            </a:extLst>
          </p:cNvPr>
          <p:cNvSpPr txBox="1"/>
          <p:nvPr/>
        </p:nvSpPr>
        <p:spPr>
          <a:xfrm>
            <a:off x="2234381" y="723331"/>
            <a:ext cx="467769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rgbClr val="A80000"/>
                </a:solidFill>
              </a:rPr>
              <a:t>Please watch the video for more details </a:t>
            </a:r>
            <a:r>
              <a:rPr lang="en" sz="1600" b="1" dirty="0">
                <a:solidFill>
                  <a:srgbClr val="A80000"/>
                </a:solidFill>
                <a:sym typeface="Wingdings" pitchFamily="2" charset="2"/>
              </a:rPr>
              <a:t>:)</a:t>
            </a:r>
            <a:endParaRPr sz="1600" b="1" dirty="0">
              <a:solidFill>
                <a:srgbClr val="A8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4FE61C-40E7-2F14-7EB5-7AB472517BEE}"/>
              </a:ext>
            </a:extLst>
          </p:cNvPr>
          <p:cNvSpPr txBox="1"/>
          <p:nvPr/>
        </p:nvSpPr>
        <p:spPr>
          <a:xfrm>
            <a:off x="343676" y="1158609"/>
            <a:ext cx="9000021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*You can simply enter the following commands which are given for each HWs in the terminal for operation.</a:t>
            </a:r>
          </a:p>
          <a:p>
            <a:endParaRPr lang="en-US" b="1" dirty="0"/>
          </a:p>
          <a:p>
            <a:r>
              <a:rPr lang="en-US" sz="1200" b="1" dirty="0"/>
              <a:t>2. Navigate to Your Directory</a:t>
            </a:r>
            <a:endParaRPr lang="en-US" sz="1200" dirty="0"/>
          </a:p>
          <a:p>
            <a:r>
              <a:rPr lang="en-US" sz="1200" dirty="0">
                <a:solidFill>
                  <a:srgbClr val="A80000"/>
                </a:solidFill>
              </a:rPr>
              <a:t>cd /jet/home/&lt;</a:t>
            </a:r>
            <a:r>
              <a:rPr lang="en-US" sz="1200" dirty="0" err="1">
                <a:solidFill>
                  <a:srgbClr val="A80000"/>
                </a:solidFill>
              </a:rPr>
              <a:t>your_username</a:t>
            </a:r>
            <a:r>
              <a:rPr lang="en-US" sz="1200" dirty="0">
                <a:solidFill>
                  <a:srgbClr val="A80000"/>
                </a:solidFill>
              </a:rPr>
              <a:t>&gt; </a:t>
            </a:r>
            <a:r>
              <a:rPr lang="en-US" sz="1200" dirty="0"/>
              <a:t>#change &lt;</a:t>
            </a:r>
            <a:r>
              <a:rPr lang="en-US" sz="1200" dirty="0" err="1"/>
              <a:t>your_username</a:t>
            </a:r>
            <a:r>
              <a:rPr lang="en-US" sz="1200" dirty="0"/>
              <a:t>&gt; to your username</a:t>
            </a:r>
          </a:p>
          <a:p>
            <a:endParaRPr lang="en-US" sz="1200" dirty="0"/>
          </a:p>
          <a:p>
            <a:r>
              <a:rPr lang="en-US" sz="1200" b="1" dirty="0"/>
              <a:t>3. Request a Compute Node</a:t>
            </a:r>
            <a:endParaRPr lang="en-US" sz="1200" dirty="0"/>
          </a:p>
          <a:p>
            <a:r>
              <a:rPr lang="en-US" sz="1200" dirty="0">
                <a:solidFill>
                  <a:srgbClr val="A80000"/>
                </a:solidFill>
              </a:rPr>
              <a:t>interact -p GPU-shared --</a:t>
            </a:r>
            <a:r>
              <a:rPr lang="en-US" sz="1200" dirty="0" err="1">
                <a:solidFill>
                  <a:srgbClr val="A80000"/>
                </a:solidFill>
              </a:rPr>
              <a:t>gres</a:t>
            </a:r>
            <a:r>
              <a:rPr lang="en-US" sz="1200" dirty="0">
                <a:solidFill>
                  <a:srgbClr val="A80000"/>
                </a:solidFill>
              </a:rPr>
              <a:t>=gpu:v100-32:1 -t 8:00:00 -A cis250019p</a:t>
            </a:r>
          </a:p>
          <a:p>
            <a:endParaRPr lang="en-US" dirty="0"/>
          </a:p>
          <a:p>
            <a:r>
              <a:rPr lang="en-US" sz="1200" b="1" dirty="0"/>
              <a:t>4. Load the Anaconda Module</a:t>
            </a:r>
            <a:endParaRPr lang="en-US" sz="1200" dirty="0"/>
          </a:p>
          <a:p>
            <a:r>
              <a:rPr lang="en-US" sz="1200" dirty="0">
                <a:solidFill>
                  <a:srgbClr val="A80000"/>
                </a:solidFill>
              </a:rPr>
              <a:t>module load anaconda3</a:t>
            </a:r>
          </a:p>
          <a:p>
            <a:endParaRPr lang="en-US" sz="1200" dirty="0"/>
          </a:p>
          <a:p>
            <a:r>
              <a:rPr lang="en-US" sz="1200" b="1" dirty="0"/>
              <a:t>5. Activate the provided HW Environment**</a:t>
            </a:r>
            <a:endParaRPr lang="en-US" sz="1200" dirty="0"/>
          </a:p>
          <a:p>
            <a:r>
              <a:rPr lang="en-US" sz="1200" dirty="0" err="1">
                <a:solidFill>
                  <a:srgbClr val="A80000"/>
                </a:solidFill>
              </a:rPr>
              <a:t>conda</a:t>
            </a:r>
            <a:r>
              <a:rPr lang="en-US" sz="1200" dirty="0">
                <a:solidFill>
                  <a:srgbClr val="A80000"/>
                </a:solidFill>
              </a:rPr>
              <a:t> deactivate </a:t>
            </a:r>
            <a:r>
              <a:rPr lang="en-US" sz="1200" dirty="0"/>
              <a:t># First, deactivate any existing Conda environment</a:t>
            </a:r>
          </a:p>
          <a:p>
            <a:r>
              <a:rPr lang="en-US" sz="1200" dirty="0" err="1">
                <a:solidFill>
                  <a:srgbClr val="A80000"/>
                </a:solidFill>
              </a:rPr>
              <a:t>conda</a:t>
            </a:r>
            <a:r>
              <a:rPr lang="en-US" sz="1200" dirty="0">
                <a:solidFill>
                  <a:srgbClr val="A80000"/>
                </a:solidFill>
              </a:rPr>
              <a:t> activate /ocean/projects/cis250019p/mzhang23/TA/HW1P2/</a:t>
            </a:r>
            <a:r>
              <a:rPr lang="en-US" sz="1200" dirty="0" err="1">
                <a:solidFill>
                  <a:srgbClr val="A80000"/>
                </a:solidFill>
              </a:rPr>
              <a:t>envs</a:t>
            </a:r>
            <a:r>
              <a:rPr lang="en-US" sz="1200" dirty="0">
                <a:solidFill>
                  <a:srgbClr val="A80000"/>
                </a:solidFill>
              </a:rPr>
              <a:t>/hw1p2_env &amp;&amp; export PYTHONNOUSERSITE=1</a:t>
            </a:r>
          </a:p>
          <a:p>
            <a:endParaRPr lang="en-US" sz="1200" dirty="0">
              <a:solidFill>
                <a:srgbClr val="A80000"/>
              </a:solidFill>
            </a:endParaRPr>
          </a:p>
          <a:p>
            <a:r>
              <a:rPr lang="en-US" sz="1200" b="1" dirty="0"/>
              <a:t>6. Start </a:t>
            </a:r>
            <a:r>
              <a:rPr lang="en-US" sz="1200" b="1" dirty="0" err="1"/>
              <a:t>Jupyter</a:t>
            </a:r>
            <a:r>
              <a:rPr lang="en-US" sz="1200" b="1" dirty="0"/>
              <a:t> Notebook</a:t>
            </a:r>
            <a:endParaRPr lang="en-US" sz="1200" dirty="0"/>
          </a:p>
          <a:p>
            <a:r>
              <a:rPr lang="en-US" sz="1200" dirty="0" err="1">
                <a:solidFill>
                  <a:srgbClr val="A80000"/>
                </a:solidFill>
              </a:rPr>
              <a:t>jupyter</a:t>
            </a:r>
            <a:r>
              <a:rPr lang="en-US" sz="1200" dirty="0">
                <a:solidFill>
                  <a:srgbClr val="A80000"/>
                </a:solidFill>
              </a:rPr>
              <a:t> notebook --no-browser --</a:t>
            </a:r>
            <a:r>
              <a:rPr lang="en-US" sz="1200" dirty="0" err="1">
                <a:solidFill>
                  <a:srgbClr val="A80000"/>
                </a:solidFill>
              </a:rPr>
              <a:t>ip</a:t>
            </a:r>
            <a:r>
              <a:rPr lang="en-US" sz="1200" dirty="0">
                <a:solidFill>
                  <a:srgbClr val="A80000"/>
                </a:solidFill>
              </a:rPr>
              <a:t>=0.0.0.0</a:t>
            </a:r>
          </a:p>
          <a:p>
            <a:endParaRPr lang="en-US" sz="1200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27583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6BA2C32F-6838-2FED-CD83-A39472F15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588064E6-0E9A-B71F-7F41-6ED593E7F3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005" y="1106535"/>
            <a:ext cx="6900096" cy="4040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6" name="Google Shape;76;p14">
            <a:extLst>
              <a:ext uri="{FF2B5EF4-FFF2-40B4-BE49-F238E27FC236}">
                <a16:creationId xmlns:a16="http://schemas.microsoft.com/office/drawing/2014/main" id="{D09C3404-4224-B3CB-DCB1-7B65400FC84B}"/>
              </a:ext>
            </a:extLst>
          </p:cNvPr>
          <p:cNvSpPr/>
          <p:nvPr/>
        </p:nvSpPr>
        <p:spPr>
          <a:xfrm>
            <a:off x="8242200" y="0"/>
            <a:ext cx="673200" cy="672300"/>
          </a:xfrm>
          <a:prstGeom prst="flowChartOffpageConnector">
            <a:avLst/>
          </a:prstGeom>
          <a:noFill/>
          <a:ln w="9525" cap="flat" cmpd="sng">
            <a:solidFill>
              <a:srgbClr val="A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4">
            <a:extLst>
              <a:ext uri="{FF2B5EF4-FFF2-40B4-BE49-F238E27FC236}">
                <a16:creationId xmlns:a16="http://schemas.microsoft.com/office/drawing/2014/main" id="{D4BAC92F-F166-4072-46BD-C3318157F39F}"/>
              </a:ext>
            </a:extLst>
          </p:cNvPr>
          <p:cNvSpPr txBox="1"/>
          <p:nvPr/>
        </p:nvSpPr>
        <p:spPr>
          <a:xfrm>
            <a:off x="8242200" y="0"/>
            <a:ext cx="6732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  <a:t>11-785</a:t>
            </a:r>
            <a:br>
              <a:rPr lang="en" sz="600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br>
              <a:rPr lang="en" sz="600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  <a:t>Introduction to </a:t>
            </a:r>
            <a:b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  <a:t>Deep Learning</a:t>
            </a:r>
            <a:endParaRPr sz="100"/>
          </a:p>
        </p:txBody>
      </p:sp>
      <p:sp>
        <p:nvSpPr>
          <p:cNvPr id="78" name="Google Shape;78;p14">
            <a:extLst>
              <a:ext uri="{FF2B5EF4-FFF2-40B4-BE49-F238E27FC236}">
                <a16:creationId xmlns:a16="http://schemas.microsoft.com/office/drawing/2014/main" id="{2C462EC1-77AA-F086-F675-C81521E225A5}"/>
              </a:ext>
            </a:extLst>
          </p:cNvPr>
          <p:cNvSpPr txBox="1"/>
          <p:nvPr/>
        </p:nvSpPr>
        <p:spPr>
          <a:xfrm>
            <a:off x="228600" y="228601"/>
            <a:ext cx="7791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</a:rPr>
              <a:t>Connect via </a:t>
            </a:r>
            <a:r>
              <a:rPr lang="en" sz="1800" dirty="0" err="1">
                <a:solidFill>
                  <a:schemeClr val="dk1"/>
                </a:solidFill>
              </a:rPr>
              <a:t>VSCode</a:t>
            </a: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93" name="Google Shape;93;p14">
            <a:extLst>
              <a:ext uri="{FF2B5EF4-FFF2-40B4-BE49-F238E27FC236}">
                <a16:creationId xmlns:a16="http://schemas.microsoft.com/office/drawing/2014/main" id="{1E0FBFA4-F2E7-65B6-8DD4-365566459830}"/>
              </a:ext>
            </a:extLst>
          </p:cNvPr>
          <p:cNvSpPr/>
          <p:nvPr/>
        </p:nvSpPr>
        <p:spPr>
          <a:xfrm>
            <a:off x="228600" y="685800"/>
            <a:ext cx="7772400" cy="18300"/>
          </a:xfrm>
          <a:prstGeom prst="rect">
            <a:avLst/>
          </a:prstGeom>
          <a:solidFill>
            <a:srgbClr val="A8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6F56789-A993-411C-A972-C43E76D9A446}"/>
              </a:ext>
            </a:extLst>
          </p:cNvPr>
          <p:cNvGrpSpPr/>
          <p:nvPr/>
        </p:nvGrpSpPr>
        <p:grpSpPr>
          <a:xfrm>
            <a:off x="287070" y="5162613"/>
            <a:ext cx="8628330" cy="228600"/>
            <a:chOff x="450302" y="5256435"/>
            <a:chExt cx="8628330" cy="228600"/>
          </a:xfrm>
        </p:grpSpPr>
        <p:sp>
          <p:nvSpPr>
            <p:cNvPr id="73" name="Google Shape;73;p14">
              <a:extLst>
                <a:ext uri="{FF2B5EF4-FFF2-40B4-BE49-F238E27FC236}">
                  <a16:creationId xmlns:a16="http://schemas.microsoft.com/office/drawing/2014/main" id="{E486B999-5741-D5EF-F5DB-D8A19D9201F7}"/>
                </a:ext>
              </a:extLst>
            </p:cNvPr>
            <p:cNvSpPr/>
            <p:nvPr/>
          </p:nvSpPr>
          <p:spPr>
            <a:xfrm>
              <a:off x="450302" y="5256435"/>
              <a:ext cx="2158500" cy="228600"/>
            </a:xfrm>
            <a:prstGeom prst="homePlate">
              <a:avLst>
                <a:gd name="adj" fmla="val 50000"/>
              </a:avLst>
            </a:prstGeom>
            <a:noFill/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800" dirty="0">
                  <a:solidFill>
                    <a:schemeClr val="tx1"/>
                  </a:solidFill>
                </a:rPr>
                <a:t>What is PSC? </a:t>
              </a:r>
              <a:endParaRPr sz="800" dirty="0">
                <a:solidFill>
                  <a:schemeClr val="tx1"/>
                </a:solidFill>
              </a:endParaRPr>
            </a:p>
          </p:txBody>
        </p:sp>
        <p:sp>
          <p:nvSpPr>
            <p:cNvPr id="74" name="Google Shape;74;p14">
              <a:extLst>
                <a:ext uri="{FF2B5EF4-FFF2-40B4-BE49-F238E27FC236}">
                  <a16:creationId xmlns:a16="http://schemas.microsoft.com/office/drawing/2014/main" id="{29FAFABF-170F-1B7C-8CD7-037D4119FF72}"/>
                </a:ext>
              </a:extLst>
            </p:cNvPr>
            <p:cNvSpPr/>
            <p:nvPr/>
          </p:nvSpPr>
          <p:spPr>
            <a:xfrm>
              <a:off x="2606912" y="5256435"/>
              <a:ext cx="2158500" cy="228600"/>
            </a:xfrm>
            <a:prstGeom prst="chevron">
              <a:avLst>
                <a:gd name="adj" fmla="val 50000"/>
              </a:avLst>
            </a:prstGeom>
            <a:noFill/>
            <a:ln w="9525" cap="flat" cmpd="sng">
              <a:solidFill>
                <a:srgbClr val="C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" sz="800" dirty="0">
                  <a:solidFill>
                    <a:schemeClr val="tx1"/>
                  </a:solidFill>
                </a:rPr>
                <a:t>How to connect via terminal</a:t>
              </a:r>
              <a:endParaRPr sz="800" dirty="0">
                <a:solidFill>
                  <a:schemeClr val="tx1"/>
                </a:solidFill>
              </a:endParaRPr>
            </a:p>
          </p:txBody>
        </p:sp>
        <p:sp>
          <p:nvSpPr>
            <p:cNvPr id="75" name="Google Shape;75;p14">
              <a:extLst>
                <a:ext uri="{FF2B5EF4-FFF2-40B4-BE49-F238E27FC236}">
                  <a16:creationId xmlns:a16="http://schemas.microsoft.com/office/drawing/2014/main" id="{6D10C57C-CB52-87D3-AA34-0AD6A2183220}"/>
                </a:ext>
              </a:extLst>
            </p:cNvPr>
            <p:cNvSpPr/>
            <p:nvPr/>
          </p:nvSpPr>
          <p:spPr>
            <a:xfrm>
              <a:off x="4763522" y="5256435"/>
              <a:ext cx="2158500" cy="228600"/>
            </a:xfrm>
            <a:prstGeom prst="chevron">
              <a:avLst>
                <a:gd name="adj" fmla="val 50000"/>
              </a:avLst>
            </a:prstGeom>
            <a:solidFill>
              <a:srgbClr val="A80000"/>
            </a:solidFill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" sz="800" b="1" dirty="0">
                  <a:solidFill>
                    <a:schemeClr val="bg1"/>
                  </a:solidFill>
                </a:rPr>
                <a:t>How to connect via </a:t>
              </a:r>
              <a:r>
                <a:rPr lang="en" sz="800" b="1" dirty="0" err="1">
                  <a:solidFill>
                    <a:schemeClr val="bg1"/>
                  </a:solidFill>
                </a:rPr>
                <a:t>VSCode</a:t>
              </a:r>
              <a:endParaRPr sz="800" b="1" dirty="0">
                <a:solidFill>
                  <a:schemeClr val="bg1"/>
                </a:solidFill>
              </a:endParaRPr>
            </a:p>
          </p:txBody>
        </p:sp>
        <p:sp>
          <p:nvSpPr>
            <p:cNvPr id="3" name="Google Shape;75;p14">
              <a:extLst>
                <a:ext uri="{FF2B5EF4-FFF2-40B4-BE49-F238E27FC236}">
                  <a16:creationId xmlns:a16="http://schemas.microsoft.com/office/drawing/2014/main" id="{C3E4E4A5-853A-CFBD-B386-FAEDE0614E39}"/>
                </a:ext>
              </a:extLst>
            </p:cNvPr>
            <p:cNvSpPr/>
            <p:nvPr/>
          </p:nvSpPr>
          <p:spPr>
            <a:xfrm>
              <a:off x="6920132" y="5256435"/>
              <a:ext cx="2158500" cy="228600"/>
            </a:xfrm>
            <a:prstGeom prst="chevron">
              <a:avLst>
                <a:gd name="adj" fmla="val 50000"/>
              </a:avLst>
            </a:prstGeom>
            <a:solidFill>
              <a:schemeClr val="lt1"/>
            </a:solidFill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" sz="800" dirty="0">
                  <a:solidFill>
                    <a:schemeClr val="dk1"/>
                  </a:solidFill>
                </a:rPr>
                <a:t>PSC tips</a:t>
              </a:r>
              <a:endParaRPr sz="800" dirty="0">
                <a:solidFill>
                  <a:schemeClr val="dk1"/>
                </a:solidFill>
              </a:endParaRPr>
            </a:p>
          </p:txBody>
        </p:sp>
      </p:grpSp>
      <p:sp>
        <p:nvSpPr>
          <p:cNvPr id="2" name="Google Shape;66;p13">
            <a:extLst>
              <a:ext uri="{FF2B5EF4-FFF2-40B4-BE49-F238E27FC236}">
                <a16:creationId xmlns:a16="http://schemas.microsoft.com/office/drawing/2014/main" id="{CF68B3A2-DE80-C88A-B0FA-8DAB6C520478}"/>
              </a:ext>
            </a:extLst>
          </p:cNvPr>
          <p:cNvSpPr txBox="1"/>
          <p:nvPr/>
        </p:nvSpPr>
        <p:spPr>
          <a:xfrm>
            <a:off x="1546122" y="5350828"/>
            <a:ext cx="6889955" cy="36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dk2"/>
                </a:solidFill>
              </a:rPr>
              <a:t>TA: En Zheng (enzheng@</a:t>
            </a:r>
            <a:r>
              <a:rPr lang="en-US" sz="1100" dirty="0">
                <a:solidFill>
                  <a:schemeClr val="dk2"/>
                </a:solidFill>
              </a:rPr>
              <a:t>a</a:t>
            </a:r>
            <a:r>
              <a:rPr lang="en" sz="1100" dirty="0">
                <a:solidFill>
                  <a:schemeClr val="dk2"/>
                </a:solidFill>
              </a:rPr>
              <a:t>ndrew.cmu.edu) </a:t>
            </a:r>
            <a:r>
              <a:rPr lang="en-US" sz="1100" dirty="0" err="1">
                <a:solidFill>
                  <a:schemeClr val="dk2"/>
                </a:solidFill>
              </a:rPr>
              <a:t>Pengyu</a:t>
            </a:r>
            <a:r>
              <a:rPr lang="en-US" sz="1100" dirty="0">
                <a:solidFill>
                  <a:schemeClr val="dk2"/>
                </a:solidFill>
              </a:rPr>
              <a:t> Chang (</a:t>
            </a:r>
            <a:r>
              <a:rPr lang="en-US" sz="1100" dirty="0" err="1">
                <a:solidFill>
                  <a:schemeClr val="dk2"/>
                </a:solidFill>
              </a:rPr>
              <a:t>pengyuch@andrew.cmu.edu</a:t>
            </a:r>
            <a:r>
              <a:rPr lang="en-US" sz="1100" dirty="0">
                <a:solidFill>
                  <a:schemeClr val="dk2"/>
                </a:solidFill>
              </a:rPr>
              <a:t>)</a:t>
            </a:r>
            <a:endParaRPr sz="1100" dirty="0">
              <a:solidFill>
                <a:schemeClr val="dk2"/>
              </a:solidFill>
            </a:endParaRPr>
          </a:p>
        </p:txBody>
      </p:sp>
      <p:sp>
        <p:nvSpPr>
          <p:cNvPr id="4" name="Google Shape;78;p14">
            <a:extLst>
              <a:ext uri="{FF2B5EF4-FFF2-40B4-BE49-F238E27FC236}">
                <a16:creationId xmlns:a16="http://schemas.microsoft.com/office/drawing/2014/main" id="{E2CF53C1-2E16-19FE-7C71-A0E5A5E820CC}"/>
              </a:ext>
            </a:extLst>
          </p:cNvPr>
          <p:cNvSpPr txBox="1"/>
          <p:nvPr/>
        </p:nvSpPr>
        <p:spPr>
          <a:xfrm>
            <a:off x="2234381" y="723331"/>
            <a:ext cx="467769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rgbClr val="A80000"/>
                </a:solidFill>
              </a:rPr>
              <a:t>Please watch the video for more details </a:t>
            </a:r>
            <a:r>
              <a:rPr lang="en" sz="1600" b="1" dirty="0">
                <a:solidFill>
                  <a:srgbClr val="A80000"/>
                </a:solidFill>
                <a:sym typeface="Wingdings" pitchFamily="2" charset="2"/>
              </a:rPr>
              <a:t>:)</a:t>
            </a:r>
            <a:endParaRPr sz="1600" b="1" dirty="0">
              <a:solidFill>
                <a:srgbClr val="A80000"/>
              </a:solidFill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EB1C4E9-1050-21A6-5B68-8C51AF42CA4D}"/>
              </a:ext>
            </a:extLst>
          </p:cNvPr>
          <p:cNvSpPr/>
          <p:nvPr/>
        </p:nvSpPr>
        <p:spPr>
          <a:xfrm>
            <a:off x="3903405" y="1250389"/>
            <a:ext cx="501447" cy="182401"/>
          </a:xfrm>
          <a:prstGeom prst="roundRect">
            <a:avLst/>
          </a:prstGeom>
          <a:noFill/>
          <a:ln w="285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38567B0-F57B-25A2-899D-1D32641D16C4}"/>
              </a:ext>
            </a:extLst>
          </p:cNvPr>
          <p:cNvSpPr/>
          <p:nvPr/>
        </p:nvSpPr>
        <p:spPr>
          <a:xfrm flipV="1">
            <a:off x="2015471" y="4763069"/>
            <a:ext cx="2389382" cy="181372"/>
          </a:xfrm>
          <a:prstGeom prst="roundRect">
            <a:avLst/>
          </a:prstGeom>
          <a:noFill/>
          <a:ln w="285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83F62391-0FCB-E1E4-5B6C-706C0A9C142F}"/>
              </a:ext>
            </a:extLst>
          </p:cNvPr>
          <p:cNvSpPr/>
          <p:nvPr/>
        </p:nvSpPr>
        <p:spPr>
          <a:xfrm flipV="1">
            <a:off x="2818535" y="3456563"/>
            <a:ext cx="258962" cy="181371"/>
          </a:xfrm>
          <a:prstGeom prst="roundRect">
            <a:avLst/>
          </a:prstGeom>
          <a:noFill/>
          <a:ln w="285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8382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B80AEBB1-4481-0AC1-6D91-54CAC28EB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>
            <a:extLst>
              <a:ext uri="{FF2B5EF4-FFF2-40B4-BE49-F238E27FC236}">
                <a16:creationId xmlns:a16="http://schemas.microsoft.com/office/drawing/2014/main" id="{9F0CC10A-A1AE-F493-5386-2B7BE08FFB7C}"/>
              </a:ext>
            </a:extLst>
          </p:cNvPr>
          <p:cNvSpPr/>
          <p:nvPr/>
        </p:nvSpPr>
        <p:spPr>
          <a:xfrm>
            <a:off x="8242200" y="0"/>
            <a:ext cx="673200" cy="672300"/>
          </a:xfrm>
          <a:prstGeom prst="flowChartOffpageConnector">
            <a:avLst/>
          </a:prstGeom>
          <a:noFill/>
          <a:ln w="9525" cap="flat" cmpd="sng">
            <a:solidFill>
              <a:srgbClr val="A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4">
            <a:extLst>
              <a:ext uri="{FF2B5EF4-FFF2-40B4-BE49-F238E27FC236}">
                <a16:creationId xmlns:a16="http://schemas.microsoft.com/office/drawing/2014/main" id="{EA13D1BD-A4BA-5273-77B1-9A6B7B5C31C7}"/>
              </a:ext>
            </a:extLst>
          </p:cNvPr>
          <p:cNvSpPr txBox="1"/>
          <p:nvPr/>
        </p:nvSpPr>
        <p:spPr>
          <a:xfrm>
            <a:off x="8242200" y="0"/>
            <a:ext cx="6732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  <a:t>11-785</a:t>
            </a:r>
            <a:br>
              <a:rPr lang="en" sz="600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br>
              <a:rPr lang="en" sz="600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  <a:t>Introduction to </a:t>
            </a:r>
            <a:b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  <a:t>Deep Learning</a:t>
            </a:r>
            <a:endParaRPr sz="100"/>
          </a:p>
        </p:txBody>
      </p:sp>
      <p:sp>
        <p:nvSpPr>
          <p:cNvPr id="93" name="Google Shape;93;p14">
            <a:extLst>
              <a:ext uri="{FF2B5EF4-FFF2-40B4-BE49-F238E27FC236}">
                <a16:creationId xmlns:a16="http://schemas.microsoft.com/office/drawing/2014/main" id="{29754B9C-EAFE-DFE5-A351-4785E2C378A7}"/>
              </a:ext>
            </a:extLst>
          </p:cNvPr>
          <p:cNvSpPr/>
          <p:nvPr/>
        </p:nvSpPr>
        <p:spPr>
          <a:xfrm>
            <a:off x="228600" y="685800"/>
            <a:ext cx="7772400" cy="18300"/>
          </a:xfrm>
          <a:prstGeom prst="rect">
            <a:avLst/>
          </a:prstGeom>
          <a:solidFill>
            <a:srgbClr val="A8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9251CF2-4D44-73C6-169B-B1041420D3E9}"/>
              </a:ext>
            </a:extLst>
          </p:cNvPr>
          <p:cNvGrpSpPr/>
          <p:nvPr/>
        </p:nvGrpSpPr>
        <p:grpSpPr>
          <a:xfrm>
            <a:off x="287070" y="5162613"/>
            <a:ext cx="8628330" cy="228600"/>
            <a:chOff x="450302" y="5256435"/>
            <a:chExt cx="8628330" cy="228600"/>
          </a:xfrm>
        </p:grpSpPr>
        <p:sp>
          <p:nvSpPr>
            <p:cNvPr id="73" name="Google Shape;73;p14">
              <a:extLst>
                <a:ext uri="{FF2B5EF4-FFF2-40B4-BE49-F238E27FC236}">
                  <a16:creationId xmlns:a16="http://schemas.microsoft.com/office/drawing/2014/main" id="{86F05462-9EE0-7753-7CED-165D3268E9E6}"/>
                </a:ext>
              </a:extLst>
            </p:cNvPr>
            <p:cNvSpPr/>
            <p:nvPr/>
          </p:nvSpPr>
          <p:spPr>
            <a:xfrm>
              <a:off x="450302" y="5256435"/>
              <a:ext cx="2158500" cy="228600"/>
            </a:xfrm>
            <a:prstGeom prst="homePlate">
              <a:avLst>
                <a:gd name="adj" fmla="val 50000"/>
              </a:avLst>
            </a:prstGeom>
            <a:noFill/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800" dirty="0">
                  <a:solidFill>
                    <a:schemeClr val="tx1"/>
                  </a:solidFill>
                </a:rPr>
                <a:t>What is PSC? </a:t>
              </a:r>
              <a:endParaRPr sz="800" dirty="0">
                <a:solidFill>
                  <a:schemeClr val="tx1"/>
                </a:solidFill>
              </a:endParaRPr>
            </a:p>
          </p:txBody>
        </p:sp>
        <p:sp>
          <p:nvSpPr>
            <p:cNvPr id="74" name="Google Shape;74;p14">
              <a:extLst>
                <a:ext uri="{FF2B5EF4-FFF2-40B4-BE49-F238E27FC236}">
                  <a16:creationId xmlns:a16="http://schemas.microsoft.com/office/drawing/2014/main" id="{BDE14E16-2426-E8E9-A10C-9A5B101BE04F}"/>
                </a:ext>
              </a:extLst>
            </p:cNvPr>
            <p:cNvSpPr/>
            <p:nvPr/>
          </p:nvSpPr>
          <p:spPr>
            <a:xfrm>
              <a:off x="2606912" y="5256435"/>
              <a:ext cx="2158500" cy="228600"/>
            </a:xfrm>
            <a:prstGeom prst="chevron">
              <a:avLst>
                <a:gd name="adj" fmla="val 50000"/>
              </a:avLst>
            </a:prstGeom>
            <a:noFill/>
            <a:ln w="9525" cap="flat" cmpd="sng">
              <a:solidFill>
                <a:srgbClr val="C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" sz="800" dirty="0">
                  <a:solidFill>
                    <a:schemeClr val="tx1"/>
                  </a:solidFill>
                </a:rPr>
                <a:t>How to connect via terminal</a:t>
              </a:r>
              <a:endParaRPr sz="800" dirty="0">
                <a:solidFill>
                  <a:schemeClr val="tx1"/>
                </a:solidFill>
              </a:endParaRPr>
            </a:p>
          </p:txBody>
        </p:sp>
        <p:sp>
          <p:nvSpPr>
            <p:cNvPr id="75" name="Google Shape;75;p14">
              <a:extLst>
                <a:ext uri="{FF2B5EF4-FFF2-40B4-BE49-F238E27FC236}">
                  <a16:creationId xmlns:a16="http://schemas.microsoft.com/office/drawing/2014/main" id="{C52C4A48-D1B0-BAF9-224A-DEAD720599AE}"/>
                </a:ext>
              </a:extLst>
            </p:cNvPr>
            <p:cNvSpPr/>
            <p:nvPr/>
          </p:nvSpPr>
          <p:spPr>
            <a:xfrm>
              <a:off x="4763522" y="5256435"/>
              <a:ext cx="2158500" cy="228600"/>
            </a:xfrm>
            <a:prstGeom prst="chevron">
              <a:avLst>
                <a:gd name="adj" fmla="val 50000"/>
              </a:avLst>
            </a:prstGeom>
            <a:noFill/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" sz="800" dirty="0">
                  <a:solidFill>
                    <a:schemeClr val="tx1"/>
                  </a:solidFill>
                </a:rPr>
                <a:t>How to connect via </a:t>
              </a:r>
              <a:r>
                <a:rPr lang="en" sz="800" dirty="0" err="1">
                  <a:solidFill>
                    <a:schemeClr val="tx1"/>
                  </a:solidFill>
                </a:rPr>
                <a:t>VSCode</a:t>
              </a:r>
              <a:endParaRPr sz="800" dirty="0">
                <a:solidFill>
                  <a:schemeClr val="tx1"/>
                </a:solidFill>
              </a:endParaRPr>
            </a:p>
          </p:txBody>
        </p:sp>
        <p:sp>
          <p:nvSpPr>
            <p:cNvPr id="3" name="Google Shape;75;p14">
              <a:extLst>
                <a:ext uri="{FF2B5EF4-FFF2-40B4-BE49-F238E27FC236}">
                  <a16:creationId xmlns:a16="http://schemas.microsoft.com/office/drawing/2014/main" id="{F07784F3-F41A-DEAA-C977-9D736E248D05}"/>
                </a:ext>
              </a:extLst>
            </p:cNvPr>
            <p:cNvSpPr/>
            <p:nvPr/>
          </p:nvSpPr>
          <p:spPr>
            <a:xfrm>
              <a:off x="6920132" y="5256435"/>
              <a:ext cx="2158500" cy="228600"/>
            </a:xfrm>
            <a:prstGeom prst="chevron">
              <a:avLst>
                <a:gd name="adj" fmla="val 50000"/>
              </a:avLst>
            </a:prstGeom>
            <a:solidFill>
              <a:srgbClr val="A80000"/>
            </a:solidFill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" sz="800" b="1" dirty="0">
                  <a:solidFill>
                    <a:schemeClr val="bg1"/>
                  </a:solidFill>
                </a:rPr>
                <a:t>PSC tips</a:t>
              </a:r>
              <a:endParaRPr sz="8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Google Shape;66;p13">
            <a:extLst>
              <a:ext uri="{FF2B5EF4-FFF2-40B4-BE49-F238E27FC236}">
                <a16:creationId xmlns:a16="http://schemas.microsoft.com/office/drawing/2014/main" id="{5D000564-7244-794F-2870-D9BCA8FDB85D}"/>
              </a:ext>
            </a:extLst>
          </p:cNvPr>
          <p:cNvSpPr txBox="1"/>
          <p:nvPr/>
        </p:nvSpPr>
        <p:spPr>
          <a:xfrm>
            <a:off x="2826219" y="5373628"/>
            <a:ext cx="3054168" cy="36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dk2"/>
                </a:solidFill>
              </a:rPr>
              <a:t>TA: En Zheng (enzheng@</a:t>
            </a:r>
            <a:r>
              <a:rPr lang="en-US" sz="1100" dirty="0">
                <a:solidFill>
                  <a:schemeClr val="dk2"/>
                </a:solidFill>
              </a:rPr>
              <a:t>a</a:t>
            </a:r>
            <a:r>
              <a:rPr lang="en" sz="1100" dirty="0" err="1">
                <a:solidFill>
                  <a:schemeClr val="dk2"/>
                </a:solidFill>
              </a:rPr>
              <a:t>ndrew.cmu.edu</a:t>
            </a:r>
            <a:r>
              <a:rPr lang="en" sz="1100" dirty="0">
                <a:solidFill>
                  <a:schemeClr val="dk2"/>
                </a:solidFill>
              </a:rPr>
              <a:t>)</a:t>
            </a:r>
            <a:endParaRPr sz="1100" dirty="0">
              <a:solidFill>
                <a:schemeClr val="dk2"/>
              </a:solidFill>
            </a:endParaRPr>
          </a:p>
        </p:txBody>
      </p:sp>
      <p:sp>
        <p:nvSpPr>
          <p:cNvPr id="8" name="Google Shape;78;p14">
            <a:extLst>
              <a:ext uri="{FF2B5EF4-FFF2-40B4-BE49-F238E27FC236}">
                <a16:creationId xmlns:a16="http://schemas.microsoft.com/office/drawing/2014/main" id="{72CB5C0D-3195-C837-50ED-4DFDC2F5142A}"/>
              </a:ext>
            </a:extLst>
          </p:cNvPr>
          <p:cNvSpPr txBox="1"/>
          <p:nvPr/>
        </p:nvSpPr>
        <p:spPr>
          <a:xfrm>
            <a:off x="3838599" y="2400300"/>
            <a:ext cx="19231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</a:rPr>
              <a:t>PSC Tips</a:t>
            </a:r>
            <a:endParaRPr sz="24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34623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B58D57A0-B76E-DE9D-A23C-3F6A7645C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>
            <a:extLst>
              <a:ext uri="{FF2B5EF4-FFF2-40B4-BE49-F238E27FC236}">
                <a16:creationId xmlns:a16="http://schemas.microsoft.com/office/drawing/2014/main" id="{BB980E18-0B67-47A3-0AC2-C5681D0E2FEA}"/>
              </a:ext>
            </a:extLst>
          </p:cNvPr>
          <p:cNvSpPr/>
          <p:nvPr/>
        </p:nvSpPr>
        <p:spPr>
          <a:xfrm>
            <a:off x="8242200" y="0"/>
            <a:ext cx="673200" cy="672300"/>
          </a:xfrm>
          <a:prstGeom prst="flowChartOffpageConnector">
            <a:avLst/>
          </a:prstGeom>
          <a:noFill/>
          <a:ln w="9525" cap="flat" cmpd="sng">
            <a:solidFill>
              <a:srgbClr val="A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4">
            <a:extLst>
              <a:ext uri="{FF2B5EF4-FFF2-40B4-BE49-F238E27FC236}">
                <a16:creationId xmlns:a16="http://schemas.microsoft.com/office/drawing/2014/main" id="{478EE296-97A8-5706-D206-C808569F8239}"/>
              </a:ext>
            </a:extLst>
          </p:cNvPr>
          <p:cNvSpPr txBox="1"/>
          <p:nvPr/>
        </p:nvSpPr>
        <p:spPr>
          <a:xfrm>
            <a:off x="8242200" y="0"/>
            <a:ext cx="6732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  <a:t>11-785</a:t>
            </a:r>
            <a:br>
              <a:rPr lang="en" sz="600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br>
              <a:rPr lang="en" sz="600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  <a:t>Introduction to </a:t>
            </a:r>
            <a:b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  <a:t>Deep Learning</a:t>
            </a:r>
            <a:endParaRPr sz="100"/>
          </a:p>
        </p:txBody>
      </p:sp>
      <p:sp>
        <p:nvSpPr>
          <p:cNvPr id="78" name="Google Shape;78;p14">
            <a:extLst>
              <a:ext uri="{FF2B5EF4-FFF2-40B4-BE49-F238E27FC236}">
                <a16:creationId xmlns:a16="http://schemas.microsoft.com/office/drawing/2014/main" id="{26C96A4E-6C2C-D418-3797-B3A69B36A6B0}"/>
              </a:ext>
            </a:extLst>
          </p:cNvPr>
          <p:cNvSpPr txBox="1"/>
          <p:nvPr/>
        </p:nvSpPr>
        <p:spPr>
          <a:xfrm>
            <a:off x="228600" y="228601"/>
            <a:ext cx="7791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</a:rPr>
              <a:t>PSC tips</a:t>
            </a: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93" name="Google Shape;93;p14">
            <a:extLst>
              <a:ext uri="{FF2B5EF4-FFF2-40B4-BE49-F238E27FC236}">
                <a16:creationId xmlns:a16="http://schemas.microsoft.com/office/drawing/2014/main" id="{1A97A61D-3119-C4A0-74B2-0F732336AAED}"/>
              </a:ext>
            </a:extLst>
          </p:cNvPr>
          <p:cNvSpPr/>
          <p:nvPr/>
        </p:nvSpPr>
        <p:spPr>
          <a:xfrm>
            <a:off x="228600" y="685800"/>
            <a:ext cx="7772400" cy="18300"/>
          </a:xfrm>
          <a:prstGeom prst="rect">
            <a:avLst/>
          </a:prstGeom>
          <a:solidFill>
            <a:srgbClr val="A8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A733D19-331E-B7E2-6120-C92A336AB137}"/>
              </a:ext>
            </a:extLst>
          </p:cNvPr>
          <p:cNvGrpSpPr/>
          <p:nvPr/>
        </p:nvGrpSpPr>
        <p:grpSpPr>
          <a:xfrm>
            <a:off x="287070" y="5162613"/>
            <a:ext cx="8628330" cy="228600"/>
            <a:chOff x="450302" y="5256435"/>
            <a:chExt cx="8628330" cy="228600"/>
          </a:xfrm>
        </p:grpSpPr>
        <p:sp>
          <p:nvSpPr>
            <p:cNvPr id="73" name="Google Shape;73;p14">
              <a:extLst>
                <a:ext uri="{FF2B5EF4-FFF2-40B4-BE49-F238E27FC236}">
                  <a16:creationId xmlns:a16="http://schemas.microsoft.com/office/drawing/2014/main" id="{81459EAC-D3F2-1F25-BA48-80A8F6E64711}"/>
                </a:ext>
              </a:extLst>
            </p:cNvPr>
            <p:cNvSpPr/>
            <p:nvPr/>
          </p:nvSpPr>
          <p:spPr>
            <a:xfrm>
              <a:off x="450302" y="5256435"/>
              <a:ext cx="2158500" cy="228600"/>
            </a:xfrm>
            <a:prstGeom prst="homePlate">
              <a:avLst>
                <a:gd name="adj" fmla="val 50000"/>
              </a:avLst>
            </a:prstGeom>
            <a:noFill/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800" dirty="0">
                  <a:solidFill>
                    <a:schemeClr val="tx1"/>
                  </a:solidFill>
                </a:rPr>
                <a:t>What is PSC? </a:t>
              </a:r>
              <a:endParaRPr sz="800" dirty="0">
                <a:solidFill>
                  <a:schemeClr val="tx1"/>
                </a:solidFill>
              </a:endParaRPr>
            </a:p>
          </p:txBody>
        </p:sp>
        <p:sp>
          <p:nvSpPr>
            <p:cNvPr id="74" name="Google Shape;74;p14">
              <a:extLst>
                <a:ext uri="{FF2B5EF4-FFF2-40B4-BE49-F238E27FC236}">
                  <a16:creationId xmlns:a16="http://schemas.microsoft.com/office/drawing/2014/main" id="{4B8550A0-46B9-86F6-842D-8BCD37708E80}"/>
                </a:ext>
              </a:extLst>
            </p:cNvPr>
            <p:cNvSpPr/>
            <p:nvPr/>
          </p:nvSpPr>
          <p:spPr>
            <a:xfrm>
              <a:off x="2606912" y="5256435"/>
              <a:ext cx="2158500" cy="228600"/>
            </a:xfrm>
            <a:prstGeom prst="chevron">
              <a:avLst>
                <a:gd name="adj" fmla="val 50000"/>
              </a:avLst>
            </a:prstGeom>
            <a:noFill/>
            <a:ln w="9525" cap="flat" cmpd="sng">
              <a:solidFill>
                <a:srgbClr val="C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" sz="800" dirty="0">
                  <a:solidFill>
                    <a:schemeClr val="tx1"/>
                  </a:solidFill>
                </a:rPr>
                <a:t>How to connect via terminal</a:t>
              </a:r>
              <a:endParaRPr sz="800" dirty="0">
                <a:solidFill>
                  <a:schemeClr val="tx1"/>
                </a:solidFill>
              </a:endParaRPr>
            </a:p>
          </p:txBody>
        </p:sp>
        <p:sp>
          <p:nvSpPr>
            <p:cNvPr id="75" name="Google Shape;75;p14">
              <a:extLst>
                <a:ext uri="{FF2B5EF4-FFF2-40B4-BE49-F238E27FC236}">
                  <a16:creationId xmlns:a16="http://schemas.microsoft.com/office/drawing/2014/main" id="{3E1966D2-1952-1017-E45D-2F457797D70E}"/>
                </a:ext>
              </a:extLst>
            </p:cNvPr>
            <p:cNvSpPr/>
            <p:nvPr/>
          </p:nvSpPr>
          <p:spPr>
            <a:xfrm>
              <a:off x="4763522" y="5256435"/>
              <a:ext cx="2158500" cy="228600"/>
            </a:xfrm>
            <a:prstGeom prst="chevron">
              <a:avLst>
                <a:gd name="adj" fmla="val 50000"/>
              </a:avLst>
            </a:prstGeom>
            <a:noFill/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" sz="800" dirty="0">
                  <a:solidFill>
                    <a:schemeClr val="tx1"/>
                  </a:solidFill>
                </a:rPr>
                <a:t>How to connect via </a:t>
              </a:r>
              <a:r>
                <a:rPr lang="en" sz="800" dirty="0" err="1">
                  <a:solidFill>
                    <a:schemeClr val="tx1"/>
                  </a:solidFill>
                </a:rPr>
                <a:t>VSCode</a:t>
              </a:r>
              <a:endParaRPr sz="800" dirty="0">
                <a:solidFill>
                  <a:schemeClr val="tx1"/>
                </a:solidFill>
              </a:endParaRPr>
            </a:p>
          </p:txBody>
        </p:sp>
        <p:sp>
          <p:nvSpPr>
            <p:cNvPr id="3" name="Google Shape;75;p14">
              <a:extLst>
                <a:ext uri="{FF2B5EF4-FFF2-40B4-BE49-F238E27FC236}">
                  <a16:creationId xmlns:a16="http://schemas.microsoft.com/office/drawing/2014/main" id="{8DA15D42-C4F4-7B37-F475-5D4DA70065C3}"/>
                </a:ext>
              </a:extLst>
            </p:cNvPr>
            <p:cNvSpPr/>
            <p:nvPr/>
          </p:nvSpPr>
          <p:spPr>
            <a:xfrm>
              <a:off x="6920132" y="5256435"/>
              <a:ext cx="2158500" cy="228600"/>
            </a:xfrm>
            <a:prstGeom prst="chevron">
              <a:avLst>
                <a:gd name="adj" fmla="val 50000"/>
              </a:avLst>
            </a:prstGeom>
            <a:solidFill>
              <a:srgbClr val="A80000"/>
            </a:solidFill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" sz="800" b="1" dirty="0">
                  <a:solidFill>
                    <a:schemeClr val="bg1"/>
                  </a:solidFill>
                </a:rPr>
                <a:t>PSC tips</a:t>
              </a:r>
              <a:endParaRPr sz="8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Google Shape;66;p13">
            <a:extLst>
              <a:ext uri="{FF2B5EF4-FFF2-40B4-BE49-F238E27FC236}">
                <a16:creationId xmlns:a16="http://schemas.microsoft.com/office/drawing/2014/main" id="{878CDFCA-D117-1791-073E-4CA3C6A9A10A}"/>
              </a:ext>
            </a:extLst>
          </p:cNvPr>
          <p:cNvSpPr txBox="1"/>
          <p:nvPr/>
        </p:nvSpPr>
        <p:spPr>
          <a:xfrm>
            <a:off x="2826219" y="5373628"/>
            <a:ext cx="3054168" cy="36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dk2"/>
                </a:solidFill>
              </a:rPr>
              <a:t>TA: En Zheng (enzheng@</a:t>
            </a:r>
            <a:r>
              <a:rPr lang="en-US" sz="1100" dirty="0">
                <a:solidFill>
                  <a:schemeClr val="dk2"/>
                </a:solidFill>
              </a:rPr>
              <a:t>a</a:t>
            </a:r>
            <a:r>
              <a:rPr lang="en" sz="1100" dirty="0" err="1">
                <a:solidFill>
                  <a:schemeClr val="dk2"/>
                </a:solidFill>
              </a:rPr>
              <a:t>ndrew.cmu.edu</a:t>
            </a:r>
            <a:r>
              <a:rPr lang="en" sz="1100" dirty="0">
                <a:solidFill>
                  <a:schemeClr val="dk2"/>
                </a:solidFill>
              </a:rPr>
              <a:t>)</a:t>
            </a:r>
            <a:endParaRPr sz="1100" dirty="0">
              <a:solidFill>
                <a:schemeClr val="dk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B4F7E9-0D4F-119E-C273-E56F38F72E72}"/>
              </a:ext>
            </a:extLst>
          </p:cNvPr>
          <p:cNvSpPr txBox="1"/>
          <p:nvPr/>
        </p:nvSpPr>
        <p:spPr>
          <a:xfrm>
            <a:off x="438300" y="1983704"/>
            <a:ext cx="7617851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- To check your running jobs, use:</a:t>
            </a:r>
          </a:p>
          <a:p>
            <a:r>
              <a:rPr lang="en-US" sz="1600" dirty="0"/>
              <a:t>	</a:t>
            </a:r>
            <a:r>
              <a:rPr lang="en-US" sz="1600" dirty="0" err="1"/>
              <a:t>squeue</a:t>
            </a:r>
            <a:r>
              <a:rPr lang="en-US" sz="1600" dirty="0"/>
              <a:t> -u $USER</a:t>
            </a:r>
          </a:p>
          <a:p>
            <a:endParaRPr lang="en-US" sz="1600" dirty="0"/>
          </a:p>
          <a:p>
            <a:r>
              <a:rPr lang="en-US" sz="1600" dirty="0"/>
              <a:t>This shows your current job status. The columns mean:</a:t>
            </a:r>
          </a:p>
          <a:p>
            <a:r>
              <a:rPr lang="en-US" sz="1600" b="1" dirty="0"/>
              <a:t>JOBID</a:t>
            </a:r>
            <a:r>
              <a:rPr lang="en-US" sz="1600" dirty="0"/>
              <a:t>: your job ID (unique number)</a:t>
            </a:r>
          </a:p>
          <a:p>
            <a:r>
              <a:rPr lang="en-US" sz="1600" b="1" dirty="0"/>
              <a:t>PARTITION</a:t>
            </a:r>
            <a:r>
              <a:rPr lang="en-US" sz="1600" dirty="0"/>
              <a:t>: which queue you are in (e.g. GPU-shared)</a:t>
            </a:r>
          </a:p>
          <a:p>
            <a:r>
              <a:rPr lang="en-US" sz="1600" b="1" dirty="0"/>
              <a:t>NAME</a:t>
            </a:r>
            <a:r>
              <a:rPr lang="en-US" sz="1600" dirty="0"/>
              <a:t>: job name (e.g. Interact)</a:t>
            </a:r>
          </a:p>
          <a:p>
            <a:r>
              <a:rPr lang="en-US" sz="1600" b="1" dirty="0"/>
              <a:t>USER</a:t>
            </a:r>
            <a:r>
              <a:rPr lang="en-US" sz="1600" dirty="0"/>
              <a:t>: your username</a:t>
            </a:r>
          </a:p>
          <a:p>
            <a:r>
              <a:rPr lang="en-US" sz="1600" b="1" dirty="0"/>
              <a:t>ST</a:t>
            </a:r>
            <a:r>
              <a:rPr lang="en-US" sz="1600" dirty="0"/>
              <a:t>: status (R = running, PD = pending, etc.)</a:t>
            </a:r>
          </a:p>
          <a:p>
            <a:r>
              <a:rPr lang="en-US" sz="1600" b="1" dirty="0"/>
              <a:t>TIME</a:t>
            </a:r>
            <a:r>
              <a:rPr lang="en-US" sz="1600" dirty="0"/>
              <a:t>: how long the job has been running</a:t>
            </a:r>
          </a:p>
          <a:p>
            <a:r>
              <a:rPr lang="en-US" sz="1600" b="1" dirty="0"/>
              <a:t>NODELIST</a:t>
            </a:r>
            <a:r>
              <a:rPr lang="en-US" sz="1600" dirty="0"/>
              <a:t>: which compute node you are on (e.g. v002)</a:t>
            </a:r>
          </a:p>
          <a:p>
            <a:endParaRPr lang="en-US" sz="1600" dirty="0"/>
          </a:p>
          <a:p>
            <a:endParaRPr lang="en-US"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D19576-B51C-CEDB-072B-947258ADA8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1046203"/>
            <a:ext cx="7581900" cy="5588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07B4580-880D-68D8-93F1-F36145AB0D51}"/>
              </a:ext>
            </a:extLst>
          </p:cNvPr>
          <p:cNvSpPr/>
          <p:nvPr/>
        </p:nvSpPr>
        <p:spPr>
          <a:xfrm>
            <a:off x="1971731" y="1043473"/>
            <a:ext cx="1479391" cy="215057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9582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34D8B254-AB9C-DB9B-EC3D-8E3FE1F65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>
            <a:extLst>
              <a:ext uri="{FF2B5EF4-FFF2-40B4-BE49-F238E27FC236}">
                <a16:creationId xmlns:a16="http://schemas.microsoft.com/office/drawing/2014/main" id="{2E33102C-ECC6-EB42-125B-DF17F08E59D8}"/>
              </a:ext>
            </a:extLst>
          </p:cNvPr>
          <p:cNvSpPr/>
          <p:nvPr/>
        </p:nvSpPr>
        <p:spPr>
          <a:xfrm>
            <a:off x="8242200" y="0"/>
            <a:ext cx="673200" cy="672300"/>
          </a:xfrm>
          <a:prstGeom prst="flowChartOffpageConnector">
            <a:avLst/>
          </a:prstGeom>
          <a:noFill/>
          <a:ln w="9525" cap="flat" cmpd="sng">
            <a:solidFill>
              <a:srgbClr val="A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4">
            <a:extLst>
              <a:ext uri="{FF2B5EF4-FFF2-40B4-BE49-F238E27FC236}">
                <a16:creationId xmlns:a16="http://schemas.microsoft.com/office/drawing/2014/main" id="{DF34537D-5FC9-D73B-DF90-C45B778D222D}"/>
              </a:ext>
            </a:extLst>
          </p:cNvPr>
          <p:cNvSpPr txBox="1"/>
          <p:nvPr/>
        </p:nvSpPr>
        <p:spPr>
          <a:xfrm>
            <a:off x="8242200" y="0"/>
            <a:ext cx="6732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  <a:t>11-785</a:t>
            </a:r>
            <a:br>
              <a:rPr lang="en" sz="600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br>
              <a:rPr lang="en" sz="600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  <a:t>Introduction to </a:t>
            </a:r>
            <a:b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  <a:t>Deep Learning</a:t>
            </a:r>
            <a:endParaRPr sz="100"/>
          </a:p>
        </p:txBody>
      </p:sp>
      <p:sp>
        <p:nvSpPr>
          <p:cNvPr id="78" name="Google Shape;78;p14">
            <a:extLst>
              <a:ext uri="{FF2B5EF4-FFF2-40B4-BE49-F238E27FC236}">
                <a16:creationId xmlns:a16="http://schemas.microsoft.com/office/drawing/2014/main" id="{D6CB0316-4618-DC76-8A24-58E6B1F65848}"/>
              </a:ext>
            </a:extLst>
          </p:cNvPr>
          <p:cNvSpPr txBox="1"/>
          <p:nvPr/>
        </p:nvSpPr>
        <p:spPr>
          <a:xfrm>
            <a:off x="228600" y="228601"/>
            <a:ext cx="7791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</a:rPr>
              <a:t>PSC tips</a:t>
            </a: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93" name="Google Shape;93;p14">
            <a:extLst>
              <a:ext uri="{FF2B5EF4-FFF2-40B4-BE49-F238E27FC236}">
                <a16:creationId xmlns:a16="http://schemas.microsoft.com/office/drawing/2014/main" id="{FB625B77-52F1-7564-4370-E224949288D6}"/>
              </a:ext>
            </a:extLst>
          </p:cNvPr>
          <p:cNvSpPr/>
          <p:nvPr/>
        </p:nvSpPr>
        <p:spPr>
          <a:xfrm>
            <a:off x="228600" y="685800"/>
            <a:ext cx="7772400" cy="18300"/>
          </a:xfrm>
          <a:prstGeom prst="rect">
            <a:avLst/>
          </a:prstGeom>
          <a:solidFill>
            <a:srgbClr val="A8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2EB3C97-B98B-47A5-7BCA-6479FE2AF6DE}"/>
              </a:ext>
            </a:extLst>
          </p:cNvPr>
          <p:cNvGrpSpPr/>
          <p:nvPr/>
        </p:nvGrpSpPr>
        <p:grpSpPr>
          <a:xfrm>
            <a:off x="287070" y="5162613"/>
            <a:ext cx="8628330" cy="228600"/>
            <a:chOff x="450302" y="5256435"/>
            <a:chExt cx="8628330" cy="228600"/>
          </a:xfrm>
        </p:grpSpPr>
        <p:sp>
          <p:nvSpPr>
            <p:cNvPr id="73" name="Google Shape;73;p14">
              <a:extLst>
                <a:ext uri="{FF2B5EF4-FFF2-40B4-BE49-F238E27FC236}">
                  <a16:creationId xmlns:a16="http://schemas.microsoft.com/office/drawing/2014/main" id="{7C250CAF-FC13-32EE-ED21-6EF16A16E6DD}"/>
                </a:ext>
              </a:extLst>
            </p:cNvPr>
            <p:cNvSpPr/>
            <p:nvPr/>
          </p:nvSpPr>
          <p:spPr>
            <a:xfrm>
              <a:off x="450302" y="5256435"/>
              <a:ext cx="2158500" cy="228600"/>
            </a:xfrm>
            <a:prstGeom prst="homePlate">
              <a:avLst>
                <a:gd name="adj" fmla="val 50000"/>
              </a:avLst>
            </a:prstGeom>
            <a:noFill/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800" dirty="0">
                  <a:solidFill>
                    <a:schemeClr val="tx1"/>
                  </a:solidFill>
                </a:rPr>
                <a:t>What is PSC? </a:t>
              </a:r>
              <a:endParaRPr sz="800" dirty="0">
                <a:solidFill>
                  <a:schemeClr val="tx1"/>
                </a:solidFill>
              </a:endParaRPr>
            </a:p>
          </p:txBody>
        </p:sp>
        <p:sp>
          <p:nvSpPr>
            <p:cNvPr id="74" name="Google Shape;74;p14">
              <a:extLst>
                <a:ext uri="{FF2B5EF4-FFF2-40B4-BE49-F238E27FC236}">
                  <a16:creationId xmlns:a16="http://schemas.microsoft.com/office/drawing/2014/main" id="{A3F5C51F-8A78-B58B-5426-46DFBB91738C}"/>
                </a:ext>
              </a:extLst>
            </p:cNvPr>
            <p:cNvSpPr/>
            <p:nvPr/>
          </p:nvSpPr>
          <p:spPr>
            <a:xfrm>
              <a:off x="2606912" y="5256435"/>
              <a:ext cx="2158500" cy="228600"/>
            </a:xfrm>
            <a:prstGeom prst="chevron">
              <a:avLst>
                <a:gd name="adj" fmla="val 50000"/>
              </a:avLst>
            </a:prstGeom>
            <a:noFill/>
            <a:ln w="9525" cap="flat" cmpd="sng">
              <a:solidFill>
                <a:srgbClr val="C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" sz="800" dirty="0">
                  <a:solidFill>
                    <a:schemeClr val="tx1"/>
                  </a:solidFill>
                </a:rPr>
                <a:t>How to connect via terminal</a:t>
              </a:r>
              <a:endParaRPr sz="800" dirty="0">
                <a:solidFill>
                  <a:schemeClr val="tx1"/>
                </a:solidFill>
              </a:endParaRPr>
            </a:p>
          </p:txBody>
        </p:sp>
        <p:sp>
          <p:nvSpPr>
            <p:cNvPr id="75" name="Google Shape;75;p14">
              <a:extLst>
                <a:ext uri="{FF2B5EF4-FFF2-40B4-BE49-F238E27FC236}">
                  <a16:creationId xmlns:a16="http://schemas.microsoft.com/office/drawing/2014/main" id="{3E699E4C-7D90-8C3B-937A-702A5FFAA6A4}"/>
                </a:ext>
              </a:extLst>
            </p:cNvPr>
            <p:cNvSpPr/>
            <p:nvPr/>
          </p:nvSpPr>
          <p:spPr>
            <a:xfrm>
              <a:off x="4763522" y="5256435"/>
              <a:ext cx="2158500" cy="228600"/>
            </a:xfrm>
            <a:prstGeom prst="chevron">
              <a:avLst>
                <a:gd name="adj" fmla="val 50000"/>
              </a:avLst>
            </a:prstGeom>
            <a:noFill/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" sz="800" dirty="0">
                  <a:solidFill>
                    <a:schemeClr val="tx1"/>
                  </a:solidFill>
                </a:rPr>
                <a:t>How to connect via </a:t>
              </a:r>
              <a:r>
                <a:rPr lang="en" sz="800" dirty="0" err="1">
                  <a:solidFill>
                    <a:schemeClr val="tx1"/>
                  </a:solidFill>
                </a:rPr>
                <a:t>VSCode</a:t>
              </a:r>
              <a:endParaRPr sz="800" dirty="0">
                <a:solidFill>
                  <a:schemeClr val="tx1"/>
                </a:solidFill>
              </a:endParaRPr>
            </a:p>
          </p:txBody>
        </p:sp>
        <p:sp>
          <p:nvSpPr>
            <p:cNvPr id="3" name="Google Shape;75;p14">
              <a:extLst>
                <a:ext uri="{FF2B5EF4-FFF2-40B4-BE49-F238E27FC236}">
                  <a16:creationId xmlns:a16="http://schemas.microsoft.com/office/drawing/2014/main" id="{5C560896-A36D-7323-045C-AD99628C360E}"/>
                </a:ext>
              </a:extLst>
            </p:cNvPr>
            <p:cNvSpPr/>
            <p:nvPr/>
          </p:nvSpPr>
          <p:spPr>
            <a:xfrm>
              <a:off x="6920132" y="5256435"/>
              <a:ext cx="2158500" cy="228600"/>
            </a:xfrm>
            <a:prstGeom prst="chevron">
              <a:avLst>
                <a:gd name="adj" fmla="val 50000"/>
              </a:avLst>
            </a:prstGeom>
            <a:solidFill>
              <a:srgbClr val="A80000"/>
            </a:solidFill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" sz="800" b="1" dirty="0">
                  <a:solidFill>
                    <a:schemeClr val="bg1"/>
                  </a:solidFill>
                </a:rPr>
                <a:t>PSC tips</a:t>
              </a:r>
              <a:endParaRPr sz="8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Google Shape;66;p13">
            <a:extLst>
              <a:ext uri="{FF2B5EF4-FFF2-40B4-BE49-F238E27FC236}">
                <a16:creationId xmlns:a16="http://schemas.microsoft.com/office/drawing/2014/main" id="{55FBB611-5BBE-8EEF-3172-D10A04FC7D99}"/>
              </a:ext>
            </a:extLst>
          </p:cNvPr>
          <p:cNvSpPr txBox="1"/>
          <p:nvPr/>
        </p:nvSpPr>
        <p:spPr>
          <a:xfrm>
            <a:off x="2826219" y="5373628"/>
            <a:ext cx="3054168" cy="36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dk2"/>
                </a:solidFill>
              </a:rPr>
              <a:t>TA: En Zheng (enzheng@</a:t>
            </a:r>
            <a:r>
              <a:rPr lang="en-US" sz="1100" dirty="0">
                <a:solidFill>
                  <a:schemeClr val="dk2"/>
                </a:solidFill>
              </a:rPr>
              <a:t>a</a:t>
            </a:r>
            <a:r>
              <a:rPr lang="en" sz="1100" dirty="0" err="1">
                <a:solidFill>
                  <a:schemeClr val="dk2"/>
                </a:solidFill>
              </a:rPr>
              <a:t>ndrew.cmu.edu</a:t>
            </a:r>
            <a:r>
              <a:rPr lang="en" sz="1100" dirty="0">
                <a:solidFill>
                  <a:schemeClr val="dk2"/>
                </a:solidFill>
              </a:rPr>
              <a:t>)</a:t>
            </a:r>
            <a:endParaRPr sz="1100" dirty="0">
              <a:solidFill>
                <a:schemeClr val="dk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6A2E46-19AF-0A21-0409-2BC14A148B2E}"/>
              </a:ext>
            </a:extLst>
          </p:cNvPr>
          <p:cNvSpPr txBox="1"/>
          <p:nvPr/>
        </p:nvSpPr>
        <p:spPr>
          <a:xfrm>
            <a:off x="419100" y="2368145"/>
            <a:ext cx="761785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-If you </a:t>
            </a:r>
            <a:r>
              <a:rPr lang="en-US" sz="1600" b="1" dirty="0"/>
              <a:t>get disconnected </a:t>
            </a:r>
            <a:r>
              <a:rPr lang="en-US" sz="1600" dirty="0"/>
              <a:t>(e.g. network drop, terminal crash), your GPU job is still running in the background. Since you cannot start another GPU job before finishing the previous one, you can reattach by:</a:t>
            </a:r>
          </a:p>
          <a:p>
            <a:endParaRPr lang="en-US" sz="1600" dirty="0"/>
          </a:p>
          <a:p>
            <a:r>
              <a:rPr lang="en-US" sz="1600" dirty="0"/>
              <a:t>	ssh &lt;node&gt;</a:t>
            </a:r>
          </a:p>
          <a:p>
            <a:endParaRPr lang="en-US" sz="1600" dirty="0"/>
          </a:p>
          <a:p>
            <a:r>
              <a:rPr lang="en-US" sz="1600" dirty="0"/>
              <a:t>For example, if </a:t>
            </a:r>
            <a:r>
              <a:rPr lang="en-US" sz="1600" dirty="0" err="1"/>
              <a:t>squeue</a:t>
            </a:r>
            <a:r>
              <a:rPr lang="en-US" sz="1600" dirty="0"/>
              <a:t> shows v019, then run ssh v019.</a:t>
            </a:r>
          </a:p>
          <a:p>
            <a:endParaRPr lang="en-US" sz="1600" dirty="0"/>
          </a:p>
          <a:p>
            <a:endParaRPr lang="en-US" sz="16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6A68E90-1560-472C-F7C8-0A39D7AE74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" y="1033502"/>
            <a:ext cx="7645400" cy="1143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E15D2B4-D6AE-5876-615C-7EC81E750FD3}"/>
              </a:ext>
            </a:extLst>
          </p:cNvPr>
          <p:cNvSpPr/>
          <p:nvPr/>
        </p:nvSpPr>
        <p:spPr>
          <a:xfrm>
            <a:off x="6518788" y="1386348"/>
            <a:ext cx="648929" cy="218654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2C46928-54A3-818D-913B-7D00F3A78123}"/>
              </a:ext>
            </a:extLst>
          </p:cNvPr>
          <p:cNvSpPr/>
          <p:nvPr/>
        </p:nvSpPr>
        <p:spPr>
          <a:xfrm>
            <a:off x="2035277" y="1555841"/>
            <a:ext cx="943896" cy="218654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7530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>
          <a:extLst>
            <a:ext uri="{FF2B5EF4-FFF2-40B4-BE49-F238E27FC236}">
              <a16:creationId xmlns:a16="http://schemas.microsoft.com/office/drawing/2014/main" id="{B915AAFA-06DD-569E-F1B1-EE4D8A539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4">
            <a:extLst>
              <a:ext uri="{FF2B5EF4-FFF2-40B4-BE49-F238E27FC236}">
                <a16:creationId xmlns:a16="http://schemas.microsoft.com/office/drawing/2014/main" id="{0C72CA6B-FEFF-1436-A2AF-4EBF184806A7}"/>
              </a:ext>
            </a:extLst>
          </p:cNvPr>
          <p:cNvSpPr txBox="1"/>
          <p:nvPr/>
        </p:nvSpPr>
        <p:spPr>
          <a:xfrm>
            <a:off x="228600" y="228601"/>
            <a:ext cx="7791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1800" dirty="0">
                <a:solidFill>
                  <a:schemeClr val="dk1"/>
                </a:solidFill>
              </a:rPr>
              <a:t>PSC tips</a:t>
            </a:r>
          </a:p>
        </p:txBody>
      </p:sp>
      <p:sp>
        <p:nvSpPr>
          <p:cNvPr id="297" name="Google Shape;297;p24">
            <a:extLst>
              <a:ext uri="{FF2B5EF4-FFF2-40B4-BE49-F238E27FC236}">
                <a16:creationId xmlns:a16="http://schemas.microsoft.com/office/drawing/2014/main" id="{C8578011-EAE7-B417-F169-560E129C5638}"/>
              </a:ext>
            </a:extLst>
          </p:cNvPr>
          <p:cNvSpPr/>
          <p:nvPr/>
        </p:nvSpPr>
        <p:spPr>
          <a:xfrm>
            <a:off x="8242200" y="0"/>
            <a:ext cx="673200" cy="672300"/>
          </a:xfrm>
          <a:prstGeom prst="flowChartOffpageConnector">
            <a:avLst/>
          </a:prstGeom>
          <a:noFill/>
          <a:ln w="9525" cap="flat" cmpd="sng">
            <a:solidFill>
              <a:srgbClr val="A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24">
            <a:extLst>
              <a:ext uri="{FF2B5EF4-FFF2-40B4-BE49-F238E27FC236}">
                <a16:creationId xmlns:a16="http://schemas.microsoft.com/office/drawing/2014/main" id="{C420A842-77AC-EF1E-0234-1F0694C212BF}"/>
              </a:ext>
            </a:extLst>
          </p:cNvPr>
          <p:cNvSpPr txBox="1"/>
          <p:nvPr/>
        </p:nvSpPr>
        <p:spPr>
          <a:xfrm>
            <a:off x="8242200" y="0"/>
            <a:ext cx="6732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  <a:t>11-785</a:t>
            </a:r>
            <a:br>
              <a:rPr lang="en" sz="600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br>
              <a:rPr lang="en" sz="600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  <a:t>Introduction to </a:t>
            </a:r>
            <a:b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600" b="1">
                <a:solidFill>
                  <a:srgbClr val="A80000"/>
                </a:solidFill>
                <a:latin typeface="Open Sans"/>
                <a:ea typeface="Open Sans"/>
                <a:cs typeface="Open Sans"/>
                <a:sym typeface="Open Sans"/>
              </a:rPr>
              <a:t>Deep Learning</a:t>
            </a:r>
            <a:endParaRPr sz="100"/>
          </a:p>
        </p:txBody>
      </p:sp>
      <p:sp>
        <p:nvSpPr>
          <p:cNvPr id="301" name="Google Shape;301;p24">
            <a:extLst>
              <a:ext uri="{FF2B5EF4-FFF2-40B4-BE49-F238E27FC236}">
                <a16:creationId xmlns:a16="http://schemas.microsoft.com/office/drawing/2014/main" id="{D6865799-0F47-6FF6-9C76-512A9B9CAB9C}"/>
              </a:ext>
            </a:extLst>
          </p:cNvPr>
          <p:cNvSpPr/>
          <p:nvPr/>
        </p:nvSpPr>
        <p:spPr>
          <a:xfrm>
            <a:off x="228600" y="685800"/>
            <a:ext cx="7772400" cy="18300"/>
          </a:xfrm>
          <a:prstGeom prst="rect">
            <a:avLst/>
          </a:prstGeom>
          <a:solidFill>
            <a:srgbClr val="A8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pic>
        <p:nvPicPr>
          <p:cNvPr id="3" name="Picture 2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C33B2142-6BAA-3346-4871-3250F4FF65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070" y="1179447"/>
            <a:ext cx="8109679" cy="13965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5E3F891-F1C1-FA89-F045-86602492B9A4}"/>
              </a:ext>
            </a:extLst>
          </p:cNvPr>
          <p:cNvSpPr txBox="1"/>
          <p:nvPr/>
        </p:nvSpPr>
        <p:spPr>
          <a:xfrm>
            <a:off x="383149" y="2857500"/>
            <a:ext cx="7617851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- If you are DONE with your work but still have GPU time left, </a:t>
            </a:r>
            <a:r>
              <a:rPr lang="en-US" sz="1600" dirty="0"/>
              <a:t>please</a:t>
            </a:r>
            <a:r>
              <a:rPr lang="en-US" dirty="0"/>
              <a:t> </a:t>
            </a:r>
            <a:r>
              <a:rPr lang="en-US" b="1" dirty="0"/>
              <a:t>release the resource </a:t>
            </a:r>
            <a:r>
              <a:rPr lang="en-US" dirty="0"/>
              <a:t>with:</a:t>
            </a:r>
          </a:p>
          <a:p>
            <a:r>
              <a:rPr lang="en-US" dirty="0"/>
              <a:t>	</a:t>
            </a:r>
            <a:r>
              <a:rPr lang="en-US" dirty="0" err="1"/>
              <a:t>scancel</a:t>
            </a:r>
            <a:r>
              <a:rPr lang="en-US" dirty="0"/>
              <a:t> &lt;JOBID&gt;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D8F3089-9C8A-A962-0138-4E7371F9B27E}"/>
              </a:ext>
            </a:extLst>
          </p:cNvPr>
          <p:cNvGrpSpPr/>
          <p:nvPr/>
        </p:nvGrpSpPr>
        <p:grpSpPr>
          <a:xfrm>
            <a:off x="287070" y="5162613"/>
            <a:ext cx="8628330" cy="228600"/>
            <a:chOff x="450302" y="5256435"/>
            <a:chExt cx="8628330" cy="228600"/>
          </a:xfrm>
        </p:grpSpPr>
        <p:sp>
          <p:nvSpPr>
            <p:cNvPr id="6" name="Google Shape;73;p14">
              <a:extLst>
                <a:ext uri="{FF2B5EF4-FFF2-40B4-BE49-F238E27FC236}">
                  <a16:creationId xmlns:a16="http://schemas.microsoft.com/office/drawing/2014/main" id="{C5CFBB84-B507-B85A-4BF8-99986122C88D}"/>
                </a:ext>
              </a:extLst>
            </p:cNvPr>
            <p:cNvSpPr/>
            <p:nvPr/>
          </p:nvSpPr>
          <p:spPr>
            <a:xfrm>
              <a:off x="450302" y="5256435"/>
              <a:ext cx="2158500" cy="228600"/>
            </a:xfrm>
            <a:prstGeom prst="homePlate">
              <a:avLst>
                <a:gd name="adj" fmla="val 50000"/>
              </a:avLst>
            </a:prstGeom>
            <a:noFill/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800" dirty="0">
                  <a:solidFill>
                    <a:schemeClr val="tx1"/>
                  </a:solidFill>
                </a:rPr>
                <a:t>What is PSC? </a:t>
              </a:r>
              <a:endParaRPr sz="800" dirty="0">
                <a:solidFill>
                  <a:schemeClr val="tx1"/>
                </a:solidFill>
              </a:endParaRPr>
            </a:p>
          </p:txBody>
        </p:sp>
        <p:sp>
          <p:nvSpPr>
            <p:cNvPr id="7" name="Google Shape;74;p14">
              <a:extLst>
                <a:ext uri="{FF2B5EF4-FFF2-40B4-BE49-F238E27FC236}">
                  <a16:creationId xmlns:a16="http://schemas.microsoft.com/office/drawing/2014/main" id="{60703B2C-4BF6-40F2-9BC1-1446589E39D3}"/>
                </a:ext>
              </a:extLst>
            </p:cNvPr>
            <p:cNvSpPr/>
            <p:nvPr/>
          </p:nvSpPr>
          <p:spPr>
            <a:xfrm>
              <a:off x="2606912" y="5256435"/>
              <a:ext cx="2158500" cy="228600"/>
            </a:xfrm>
            <a:prstGeom prst="chevron">
              <a:avLst>
                <a:gd name="adj" fmla="val 50000"/>
              </a:avLst>
            </a:prstGeom>
            <a:noFill/>
            <a:ln w="9525" cap="flat" cmpd="sng">
              <a:solidFill>
                <a:srgbClr val="C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" sz="800" dirty="0">
                  <a:solidFill>
                    <a:schemeClr val="tx1"/>
                  </a:solidFill>
                </a:rPr>
                <a:t>How to connect via terminal</a:t>
              </a:r>
              <a:endParaRPr sz="800" dirty="0">
                <a:solidFill>
                  <a:schemeClr val="tx1"/>
                </a:solidFill>
              </a:endParaRPr>
            </a:p>
          </p:txBody>
        </p:sp>
        <p:sp>
          <p:nvSpPr>
            <p:cNvPr id="9" name="Google Shape;75;p14">
              <a:extLst>
                <a:ext uri="{FF2B5EF4-FFF2-40B4-BE49-F238E27FC236}">
                  <a16:creationId xmlns:a16="http://schemas.microsoft.com/office/drawing/2014/main" id="{E564ED3C-2FF6-2C31-8DDC-289A6A2CD4A8}"/>
                </a:ext>
              </a:extLst>
            </p:cNvPr>
            <p:cNvSpPr/>
            <p:nvPr/>
          </p:nvSpPr>
          <p:spPr>
            <a:xfrm>
              <a:off x="4763522" y="5256435"/>
              <a:ext cx="2158500" cy="228600"/>
            </a:xfrm>
            <a:prstGeom prst="chevron">
              <a:avLst>
                <a:gd name="adj" fmla="val 50000"/>
              </a:avLst>
            </a:prstGeom>
            <a:noFill/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" sz="800" dirty="0">
                  <a:solidFill>
                    <a:schemeClr val="tx1"/>
                  </a:solidFill>
                </a:rPr>
                <a:t>How to connect via </a:t>
              </a:r>
              <a:r>
                <a:rPr lang="en" sz="800" dirty="0" err="1">
                  <a:solidFill>
                    <a:schemeClr val="tx1"/>
                  </a:solidFill>
                </a:rPr>
                <a:t>VSCode</a:t>
              </a:r>
              <a:endParaRPr sz="800" dirty="0">
                <a:solidFill>
                  <a:schemeClr val="tx1"/>
                </a:solidFill>
              </a:endParaRPr>
            </a:p>
          </p:txBody>
        </p:sp>
        <p:sp>
          <p:nvSpPr>
            <p:cNvPr id="10" name="Google Shape;75;p14">
              <a:extLst>
                <a:ext uri="{FF2B5EF4-FFF2-40B4-BE49-F238E27FC236}">
                  <a16:creationId xmlns:a16="http://schemas.microsoft.com/office/drawing/2014/main" id="{69E6C868-C941-84C3-73CB-7EFE48A5B226}"/>
                </a:ext>
              </a:extLst>
            </p:cNvPr>
            <p:cNvSpPr/>
            <p:nvPr/>
          </p:nvSpPr>
          <p:spPr>
            <a:xfrm>
              <a:off x="6920132" y="5256435"/>
              <a:ext cx="2158500" cy="228600"/>
            </a:xfrm>
            <a:prstGeom prst="chevron">
              <a:avLst>
                <a:gd name="adj" fmla="val 50000"/>
              </a:avLst>
            </a:prstGeom>
            <a:solidFill>
              <a:srgbClr val="A80000"/>
            </a:solidFill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" sz="800" b="1" dirty="0">
                  <a:solidFill>
                    <a:schemeClr val="bg1"/>
                  </a:solidFill>
                </a:rPr>
                <a:t>PSC tips</a:t>
              </a:r>
              <a:endParaRPr sz="8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1" name="Google Shape;66;p13">
            <a:extLst>
              <a:ext uri="{FF2B5EF4-FFF2-40B4-BE49-F238E27FC236}">
                <a16:creationId xmlns:a16="http://schemas.microsoft.com/office/drawing/2014/main" id="{39142A86-9B81-0BDB-6698-181C02DA1AE6}"/>
              </a:ext>
            </a:extLst>
          </p:cNvPr>
          <p:cNvSpPr txBox="1"/>
          <p:nvPr/>
        </p:nvSpPr>
        <p:spPr>
          <a:xfrm>
            <a:off x="2826219" y="5373628"/>
            <a:ext cx="3054168" cy="36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dk2"/>
                </a:solidFill>
              </a:rPr>
              <a:t>TA: En Zheng (enzheng@</a:t>
            </a:r>
            <a:r>
              <a:rPr lang="en-US" sz="1100" dirty="0">
                <a:solidFill>
                  <a:schemeClr val="dk2"/>
                </a:solidFill>
              </a:rPr>
              <a:t>a</a:t>
            </a:r>
            <a:r>
              <a:rPr lang="en" sz="1100" dirty="0" err="1">
                <a:solidFill>
                  <a:schemeClr val="dk2"/>
                </a:solidFill>
              </a:rPr>
              <a:t>ndrew.cmu.edu</a:t>
            </a:r>
            <a:r>
              <a:rPr lang="en" sz="1100" dirty="0">
                <a:solidFill>
                  <a:schemeClr val="dk2"/>
                </a:solidFill>
              </a:rPr>
              <a:t>)</a:t>
            </a:r>
            <a:endParaRPr sz="1100" dirty="0">
              <a:solidFill>
                <a:schemeClr val="dk2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BA68D21-7AFD-EF24-D475-FE19D821E67C}"/>
              </a:ext>
            </a:extLst>
          </p:cNvPr>
          <p:cNvSpPr/>
          <p:nvPr/>
        </p:nvSpPr>
        <p:spPr>
          <a:xfrm>
            <a:off x="1317160" y="1514167"/>
            <a:ext cx="1077360" cy="147485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361215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1252</TotalTime>
  <Words>1981</Words>
  <Application>Microsoft Macintosh PowerPoint</Application>
  <PresentationFormat>On-screen Show (16:10)</PresentationFormat>
  <Paragraphs>258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Open Sans</vt:lpstr>
      <vt:lpstr>Wingdings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En Zheng</cp:lastModifiedBy>
  <cp:revision>13</cp:revision>
  <dcterms:modified xsi:type="dcterms:W3CDTF">2025-12-21T06:18:01Z</dcterms:modified>
</cp:coreProperties>
</file>