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548b352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9548b352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9548b35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9548b35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9548b35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9548b35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9548b352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9548b352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9548b352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9548b352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9548b352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9548b352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9548b352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9548b352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9548b352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9548b352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9548b352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9548b352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9548b352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9548b352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9548b35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9548b35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9548b352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9548b352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9548b352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9548b352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9548b352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9548b352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548b352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9548b352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9548b352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9548b352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9548b352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9548b352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9548b352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9548b352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9548b352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9548b352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9548b352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9548b352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9548b352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9548b352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9548b352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9548b352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9548b352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9548b352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9548b352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9548b352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Einsum and Tensordot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George Lundgren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781250"/>
            <a:ext cx="8520600" cy="15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Goal</a:t>
            </a:r>
            <a:r>
              <a:rPr lang="en"/>
              <a:t>: To teach you what a tensor is and how to do basic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 operations by utilizing np.einsum() and np.tensordot()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Targets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3835800" cy="3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tensor?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Einstein Summation Notation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Einsum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Tensordot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u="sng"/>
              <a:t>Prerequisites</a:t>
            </a:r>
            <a:r>
              <a:rPr lang="en"/>
              <a:t>: Matrix Algebra 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827175" y="1236025"/>
            <a:ext cx="3835800" cy="3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Tips: 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 </a:t>
            </a:r>
            <a:r>
              <a:rPr lang="en" sz="1800">
                <a:solidFill>
                  <a:schemeClr val="dk2"/>
                </a:solidFill>
              </a:rPr>
              <a:t>recommend</a:t>
            </a:r>
            <a:r>
              <a:rPr lang="en" sz="1800">
                <a:solidFill>
                  <a:schemeClr val="dk2"/>
                </a:solidFill>
              </a:rPr>
              <a:t> following along with the jupyter notebook provided. I also recommend re-reading the notebook if </a:t>
            </a:r>
            <a:r>
              <a:rPr lang="en" sz="1800">
                <a:solidFill>
                  <a:schemeClr val="dk2"/>
                </a:solidFill>
              </a:rPr>
              <a:t>you</a:t>
            </a:r>
            <a:r>
              <a:rPr lang="en" sz="1800">
                <a:solidFill>
                  <a:schemeClr val="dk2"/>
                </a:solidFill>
              </a:rPr>
              <a:t> have trouble following this recitation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Make sure to practice with these tools to get a better understanding of them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Tensor?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46200"/>
            <a:ext cx="304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/>
              <a:t>Definition</a:t>
            </a:r>
            <a:r>
              <a:rPr lang="en"/>
              <a:t>: A tensor is an n-dimensional vector used for storing data and model parameters in deep learning. Common tensor implementations are np.ndarray() and torch.tensor()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502" y="1078402"/>
            <a:ext cx="5689475" cy="33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Tensor Conventions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read the notebook section </a:t>
            </a:r>
            <a:r>
              <a:rPr i="1" lang="en"/>
              <a:t>common tensor conventions </a:t>
            </a:r>
            <a:r>
              <a:rPr lang="en"/>
              <a:t>for an overview of common patterns you should look through when </a:t>
            </a:r>
            <a:r>
              <a:rPr lang="en"/>
              <a:t>building</a:t>
            </a:r>
            <a:r>
              <a:rPr lang="en"/>
              <a:t> your homeworks.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Tensor Conventions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/>
              <a:t>Vector Data</a:t>
            </a:r>
            <a:r>
              <a:rPr lang="en"/>
              <a:t>: Vectors are simply 1D tensors. Their shape is denoted as (N) where N is the number of elements present in the vector. If we want to represent a batch of vectors we get a 2D tensor with shape (B, N) where B is the batch dimension and N is the number of elements in each vector.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Tensor Conventions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/>
              <a:t>Image</a:t>
            </a:r>
            <a:r>
              <a:rPr b="1" lang="en" u="sng"/>
              <a:t> Data</a:t>
            </a:r>
            <a:r>
              <a:rPr lang="en"/>
              <a:t>: </a:t>
            </a:r>
            <a:r>
              <a:rPr lang="en"/>
              <a:t>A single image is typically represented by a 3D tensor with shape (C, H, W) where C represents the number of channels, H is the height of the image in pixels, and W is the width of the image in pixels. C is used when images are RGB in which case there a typically 3 channels in an image. If C = 1, then the image is </a:t>
            </a:r>
            <a:r>
              <a:rPr lang="en"/>
              <a:t>grayscale</a:t>
            </a:r>
            <a:r>
              <a:rPr lang="en"/>
              <a:t> and becomes 2D. A batch of images has shape (B, C, H, W) where B is the batch dimension.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Tensor Conventions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/>
              <a:t>Sequence</a:t>
            </a:r>
            <a:r>
              <a:rPr b="1" lang="en" u="sng"/>
              <a:t> Data</a:t>
            </a:r>
            <a:r>
              <a:rPr lang="en"/>
              <a:t>: </a:t>
            </a:r>
            <a:r>
              <a:rPr lang="en"/>
              <a:t>There are many types of sequence data. For example a sequence of images makes a video, a sequence of normalized real numbers makes audio, and a sequence of real numbers makes a stock signal. Sequence data is represented in 2 standard ways. Either the data is represented in a batch first or sequence first manner. Batch first representation is of shape (B, L, ...) where B is the batch dimension, L is the number of timesteps, and ... represents n-dimensinoal per time step data. Sequence first representation simply flips the batch and sequence dimension creating a shape of (L, B, ...). Seqence first storage is common in RNNs and batch first storage is common in Transformers.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Einstein Summation Notation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/>
              <a:t>Motivation</a:t>
            </a:r>
            <a:r>
              <a:rPr lang="en"/>
              <a:t>: Einstein summation notation is a shorthand mathematical convention for simplifying the notation of tensor and matrix operations. It involves omitting sum notation for matching axes. We will look at an example to get a grip on the convention.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us consider the definition of matrix multiplication for two real valued matrices.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 see that by omitting the </a:t>
            </a:r>
            <a:r>
              <a:rPr lang="en"/>
              <a:t>summation</a:t>
            </a:r>
            <a:r>
              <a:rPr lang="en"/>
              <a:t> we can imply contraction over the jth dimension of A and B </a:t>
            </a:r>
            <a:r>
              <a:rPr lang="en"/>
              <a:t>creating</a:t>
            </a:r>
            <a:r>
              <a:rPr lang="en"/>
              <a:t> a more concise convention for matrix multiplication.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implication and omission of </a:t>
            </a:r>
            <a:r>
              <a:rPr lang="en"/>
              <a:t>summation</a:t>
            </a:r>
            <a:r>
              <a:rPr lang="en"/>
              <a:t> is precisely the definition of the einstein summation convention.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5" y="1929500"/>
            <a:ext cx="86296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us now consider the </a:t>
            </a:r>
            <a:r>
              <a:rPr lang="en"/>
              <a:t>einstein</a:t>
            </a:r>
            <a:r>
              <a:rPr lang="en"/>
              <a:t> summation version of dot product: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can see that this definition follows from our previous example because the sum over i is </a:t>
            </a:r>
            <a:r>
              <a:rPr lang="en"/>
              <a:t>omitted</a:t>
            </a:r>
            <a:r>
              <a:rPr lang="en"/>
              <a:t> in the final notation.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700" y="1724575"/>
            <a:ext cx="48006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Einsum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Einsum is the standard matrix library implementation of einstein summation </a:t>
            </a:r>
            <a:r>
              <a:rPr lang="en"/>
              <a:t>notation</a:t>
            </a:r>
            <a:r>
              <a:rPr lang="en"/>
              <a:t>. Instead of just simply a notation, np.einsum() and </a:t>
            </a:r>
            <a:r>
              <a:rPr lang="en"/>
              <a:t>similar</a:t>
            </a:r>
            <a:r>
              <a:rPr lang="en"/>
              <a:t> tools provide a powerhouse for matrix operations.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 us take a look at the documentation.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642" y="0"/>
            <a:ext cx="67547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2965200" cy="38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Notice the subscript strings used are similar to einstein summation notation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/>
              <a:t>Implicit mode:</a:t>
            </a:r>
            <a:r>
              <a:rPr lang="en"/>
              <a:t> is exactly einstein summation notation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/>
              <a:t>Explicit mode: </a:t>
            </a:r>
            <a:r>
              <a:rPr lang="en"/>
              <a:t>includes the dimensions of the output tensor and omits the contracted axes</a:t>
            </a:r>
            <a:endParaRPr/>
          </a:p>
        </p:txBody>
      </p:sp>
      <p:pic>
        <p:nvPicPr>
          <p:cNvPr id="136" name="Google Shape;136;p26" title="Screenshot from 2026-05-17 11-52-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350" y="274975"/>
            <a:ext cx="5140200" cy="4593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7" title="Screenshot from 2026-05-17 11-54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0376" y="568176"/>
            <a:ext cx="5911926" cy="38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Hadamard Product (Elementwise Multiplication)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8" title="Screenshot from 2026-05-17 11-54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148" y="1017723"/>
            <a:ext cx="44452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Transpose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9" title="Screenshot from 2026-05-17 11-54-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900" y="528625"/>
            <a:ext cx="4953000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Outer Product</a:t>
            </a:r>
            <a:endParaRPr/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0" title="Screenshot from 2026-05-17 11-54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600" y="556977"/>
            <a:ext cx="5720850" cy="40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31" title="Screenshot from 2026-05-17 11-55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825" y="306239"/>
            <a:ext cx="4734550" cy="45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Tensordot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Tensordot is essentially a less flexible version of einsum that is optimized for matrix multiplication like operations. It is built specifically for elementwise multiplication and contraction.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 us look at the documentation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3" title="Screenshot from 2026-05-17 12-00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50" y="771575"/>
            <a:ext cx="8941902" cy="36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</a:t>
            </a:r>
            <a:endParaRPr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152475"/>
            <a:ext cx="311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Notice the axes is a tuple specification of the axes for elementwise multiplication and summation (contraction)</a:t>
            </a:r>
            <a:endParaRPr/>
          </a:p>
        </p:txBody>
      </p:sp>
      <p:pic>
        <p:nvPicPr>
          <p:cNvPr id="189" name="Google Shape;189;p34" title="Screenshot from 2026-06-26 06-39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625" y="445025"/>
            <a:ext cx="442706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</a:t>
            </a:r>
            <a:endParaRPr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5" title="Screenshot from 2026-06-26 06-40-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625" y="1017725"/>
            <a:ext cx="67437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 Dimensional Dot Product</a:t>
            </a:r>
            <a:endParaRPr/>
          </a:p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6" title="Screenshot from 2026-05-17 11-55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9600" y="1017725"/>
            <a:ext cx="5526649" cy="41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92650" y="1139275"/>
            <a:ext cx="8222700" cy="3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tensor is the fundamental unit of data and parameter storage in deep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Einstein Summation Notation is a mathematical convention used for simplifying </a:t>
            </a:r>
            <a:r>
              <a:rPr lang="en"/>
              <a:t>element wise</a:t>
            </a:r>
            <a:r>
              <a:rPr lang="en"/>
              <a:t> multiplication and contraction tensor operations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Einsum is the matrix library standard for implementing einstein summation notation operations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Tensord</a:t>
            </a:r>
            <a:r>
              <a:rPr lang="en"/>
              <a:t>ot is a more specific version of einsum used specifically for tensor contractions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Feel free to shoot me an email with any questions or make a piazza post: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 email: glundgre@andrew.cmu.edu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