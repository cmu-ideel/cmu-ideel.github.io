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Open Sans ExtraBold"/>
      <p:bold r:id="rId16"/>
      <p:boldItalic r:id="rId17"/>
    </p:embeddedFont>
    <p:embeddedFont>
      <p:font typeface="Crimson Text"/>
      <p:regular r:id="rId18"/>
      <p:bold r:id="rId19"/>
      <p:italic r:id="rId20"/>
      <p:boldItalic r:id="rId21"/>
    </p:embeddedFont>
    <p:embeddedFont>
      <p:font typeface="Open Sans Light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0YmcMQBabFLRRVy11zRZMN/z9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rimsonText-italic.fntdata"/><Relationship Id="rId22" Type="http://schemas.openxmlformats.org/officeDocument/2006/relationships/font" Target="fonts/OpenSansLight-regular.fntdata"/><Relationship Id="rId21" Type="http://schemas.openxmlformats.org/officeDocument/2006/relationships/font" Target="fonts/CrimsonText-boldItalic.fntdata"/><Relationship Id="rId24" Type="http://schemas.openxmlformats.org/officeDocument/2006/relationships/font" Target="fonts/OpenSansLight-italic.fntdata"/><Relationship Id="rId23" Type="http://schemas.openxmlformats.org/officeDocument/2006/relationships/font" Target="fonts/OpenSans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Light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penSansExtraBold-boldItalic.fntdata"/><Relationship Id="rId16" Type="http://schemas.openxmlformats.org/officeDocument/2006/relationships/font" Target="fonts/OpenSansExtraBold-bold.fntdata"/><Relationship Id="rId19" Type="http://schemas.openxmlformats.org/officeDocument/2006/relationships/font" Target="fonts/CrimsonText-bold.fntdata"/><Relationship Id="rId18" Type="http://schemas.openxmlformats.org/officeDocument/2006/relationships/font" Target="fonts/CrimsonText-regular.fntdata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0" name="Google Shape;1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/>
          <p:nvPr/>
        </p:nvSpPr>
        <p:spPr>
          <a:xfrm>
            <a:off x="4972833" y="0"/>
            <a:ext cx="721916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Google Shape;12;p13"/>
          <p:cNvCxnSpPr/>
          <p:nvPr/>
        </p:nvCxnSpPr>
        <p:spPr>
          <a:xfrm>
            <a:off x="5776231" y="3745282"/>
            <a:ext cx="5687223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5732463" y="2284413"/>
            <a:ext cx="57308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2" type="body"/>
          </p:nvPr>
        </p:nvSpPr>
        <p:spPr>
          <a:xfrm>
            <a:off x="5788025" y="4026802"/>
            <a:ext cx="3270250" cy="338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b="1" sz="1600" cap="non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" name="Google Shape;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543" y="2556221"/>
            <a:ext cx="2078103" cy="13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3"/>
          <p:cNvSpPr txBox="1"/>
          <p:nvPr>
            <p:ph idx="3" type="body"/>
          </p:nvPr>
        </p:nvSpPr>
        <p:spPr>
          <a:xfrm>
            <a:off x="5781891" y="4449077"/>
            <a:ext cx="59261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8" name="Google Shape;1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4"/>
          <p:cNvSpPr/>
          <p:nvPr/>
        </p:nvSpPr>
        <p:spPr>
          <a:xfrm>
            <a:off x="588723" y="588724"/>
            <a:ext cx="11014553" cy="568055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4"/>
          <p:cNvCxnSpPr/>
          <p:nvPr/>
        </p:nvCxnSpPr>
        <p:spPr>
          <a:xfrm>
            <a:off x="1757819" y="2035793"/>
            <a:ext cx="8538576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1720850" y="2438400"/>
            <a:ext cx="8575545" cy="280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400"/>
              <a:buFont typeface="Open Sans ExtraBold"/>
              <a:buAutoNum type="arabicPeriod"/>
              <a:defRPr sz="24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 txBox="1"/>
          <p:nvPr/>
        </p:nvSpPr>
        <p:spPr>
          <a:xfrm>
            <a:off x="1820450" y="1220947"/>
            <a:ext cx="5883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</a:pPr>
            <a:r>
              <a:rPr b="0" i="0" lang="en-US" sz="36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3600" u="none" cap="none" strike="noStrike">
              <a:solidFill>
                <a:srgbClr val="5D5D5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4" name="Google Shape;2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5"/>
          <p:cNvCxnSpPr/>
          <p:nvPr/>
        </p:nvCxnSpPr>
        <p:spPr>
          <a:xfrm>
            <a:off x="2384121" y="2001772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" name="Google Shape;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2384425" y="1157288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2393950" y="2535238"/>
            <a:ext cx="6816725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i="1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33" name="Google Shape;3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6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2308225" y="6320927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6"/>
          <p:cNvSpPr/>
          <p:nvPr>
            <p:ph idx="2" type="chart"/>
          </p:nvPr>
        </p:nvSpPr>
        <p:spPr>
          <a:xfrm>
            <a:off x="2308225" y="2682875"/>
            <a:ext cx="7102475" cy="318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/>
        </p:txBody>
      </p:sp>
      <p:cxnSp>
        <p:nvCxnSpPr>
          <p:cNvPr id="38" name="Google Shape;38;p16"/>
          <p:cNvCxnSpPr/>
          <p:nvPr/>
        </p:nvCxnSpPr>
        <p:spPr>
          <a:xfrm>
            <a:off x="2384121" y="1615723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39" name="Google Shape;39;p16"/>
          <p:cNvGraphicFramePr/>
          <p:nvPr/>
        </p:nvGraphicFramePr>
        <p:xfrm>
          <a:off x="3704639" y="2683253"/>
          <a:ext cx="4782721" cy="31884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2384425" y="823913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3" type="body"/>
          </p:nvPr>
        </p:nvSpPr>
        <p:spPr>
          <a:xfrm>
            <a:off x="2308225" y="2179638"/>
            <a:ext cx="6676559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b="1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43" name="Google Shape;4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3154363" y="3044825"/>
            <a:ext cx="58832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indent="-508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2pPr>
            <a:lvl3pPr indent="-508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3pPr>
            <a:lvl4pPr indent="-508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4pPr>
            <a:lvl5pPr indent="-508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Headline">
  <p:cSld name="Text with Headlin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47" name="Google Shape;4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8"/>
          <p:cNvCxnSpPr/>
          <p:nvPr/>
        </p:nvCxnSpPr>
        <p:spPr>
          <a:xfrm>
            <a:off x="2384121" y="2001772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0" name="Google Shape;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8"/>
          <p:cNvSpPr txBox="1"/>
          <p:nvPr>
            <p:ph idx="1" type="body"/>
          </p:nvPr>
        </p:nvSpPr>
        <p:spPr>
          <a:xfrm>
            <a:off x="2384425" y="1157288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2" type="body"/>
          </p:nvPr>
        </p:nvSpPr>
        <p:spPr>
          <a:xfrm>
            <a:off x="2346325" y="3081338"/>
            <a:ext cx="67468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3" type="body"/>
          </p:nvPr>
        </p:nvSpPr>
        <p:spPr>
          <a:xfrm>
            <a:off x="2346325" y="2535238"/>
            <a:ext cx="66389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2346325" y="6318042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-Column">
  <p:cSld name="Two-Colum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56" name="Google Shape;5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9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2346325" y="2978150"/>
            <a:ext cx="4289425" cy="224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9" name="Google Shape;59;p19"/>
          <p:cNvCxnSpPr/>
          <p:nvPr/>
        </p:nvCxnSpPr>
        <p:spPr>
          <a:xfrm>
            <a:off x="2384121" y="2001772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60" name="Google Shape;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9"/>
          <p:cNvCxnSpPr/>
          <p:nvPr/>
        </p:nvCxnSpPr>
        <p:spPr>
          <a:xfrm flipH="1">
            <a:off x="6861569" y="2624443"/>
            <a:ext cx="36096" cy="260002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2" name="Google Shape;62;p19"/>
          <p:cNvSpPr txBox="1"/>
          <p:nvPr>
            <p:ph idx="2" type="body"/>
          </p:nvPr>
        </p:nvSpPr>
        <p:spPr>
          <a:xfrm>
            <a:off x="2384425" y="1157288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3" type="body"/>
          </p:nvPr>
        </p:nvSpPr>
        <p:spPr>
          <a:xfrm>
            <a:off x="2346324" y="2535238"/>
            <a:ext cx="42886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4" type="body"/>
          </p:nvPr>
        </p:nvSpPr>
        <p:spPr>
          <a:xfrm>
            <a:off x="7269053" y="2535238"/>
            <a:ext cx="42886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5" type="body"/>
          </p:nvPr>
        </p:nvSpPr>
        <p:spPr>
          <a:xfrm>
            <a:off x="7272098" y="2974975"/>
            <a:ext cx="4289425" cy="224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2347165" y="6318250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68" name="Google Shape;6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0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20"/>
          <p:cNvCxnSpPr/>
          <p:nvPr/>
        </p:nvCxnSpPr>
        <p:spPr>
          <a:xfrm>
            <a:off x="2384121" y="2001772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1" name="Google Shape;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0"/>
          <p:cNvSpPr/>
          <p:nvPr/>
        </p:nvSpPr>
        <p:spPr>
          <a:xfrm>
            <a:off x="2346544" y="2596953"/>
            <a:ext cx="3930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Crimson Text"/>
              <a:buNone/>
            </a:pPr>
            <a:r>
              <a:rPr b="0" i="0" lang="en-US" sz="5400" u="none" cap="none" strike="noStrike">
                <a:solidFill>
                  <a:srgbClr val="A5A5A5"/>
                </a:solidFill>
                <a:latin typeface="Crimson Text"/>
                <a:ea typeface="Crimson Text"/>
                <a:cs typeface="Crimson Text"/>
                <a:sym typeface="Crimson Text"/>
              </a:rPr>
              <a:t>“</a:t>
            </a:r>
            <a:endParaRPr b="0" i="0" sz="5400" u="none" cap="none" strike="noStrike">
              <a:solidFill>
                <a:srgbClr val="A5A5A5"/>
              </a:solidFill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73" name="Google Shape;73;p20"/>
          <p:cNvSpPr/>
          <p:nvPr>
            <p:ph idx="2" type="pic"/>
          </p:nvPr>
        </p:nvSpPr>
        <p:spPr>
          <a:xfrm rot="429021">
            <a:off x="8715166" y="1582670"/>
            <a:ext cx="2665962" cy="41751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2676100" y="5367415"/>
            <a:ext cx="4413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 cap="none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2676525" y="2779713"/>
            <a:ext cx="5286375" cy="221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400"/>
              <a:buNone/>
              <a:defRPr sz="2400">
                <a:solidFill>
                  <a:srgbClr val="5D5D5D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4" type="body"/>
          </p:nvPr>
        </p:nvSpPr>
        <p:spPr>
          <a:xfrm>
            <a:off x="2384425" y="1157288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2325685" y="6332948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-Out">
  <p:cSld name="Call-Ou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9" name="Google Shape;7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1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21"/>
          <p:cNvCxnSpPr/>
          <p:nvPr/>
        </p:nvCxnSpPr>
        <p:spPr>
          <a:xfrm>
            <a:off x="2384121" y="2001772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2" name="Google Shape;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21"/>
          <p:cNvCxnSpPr/>
          <p:nvPr/>
        </p:nvCxnSpPr>
        <p:spPr>
          <a:xfrm>
            <a:off x="2382685" y="3389704"/>
            <a:ext cx="9202993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4" name="Google Shape;84;p21"/>
          <p:cNvCxnSpPr/>
          <p:nvPr/>
        </p:nvCxnSpPr>
        <p:spPr>
          <a:xfrm>
            <a:off x="2382685" y="4675735"/>
            <a:ext cx="9202993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5" name="Google Shape;85;p21"/>
          <p:cNvCxnSpPr/>
          <p:nvPr/>
        </p:nvCxnSpPr>
        <p:spPr>
          <a:xfrm>
            <a:off x="2382685" y="6017521"/>
            <a:ext cx="9202993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2384425" y="1157288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2457450" y="2378670"/>
            <a:ext cx="15033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3" type="body"/>
          </p:nvPr>
        </p:nvSpPr>
        <p:spPr>
          <a:xfrm>
            <a:off x="4302125" y="2448025"/>
            <a:ext cx="68326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4" type="body"/>
          </p:nvPr>
        </p:nvSpPr>
        <p:spPr>
          <a:xfrm>
            <a:off x="2457450" y="3601170"/>
            <a:ext cx="15033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5" type="body"/>
          </p:nvPr>
        </p:nvSpPr>
        <p:spPr>
          <a:xfrm>
            <a:off x="4302125" y="3670525"/>
            <a:ext cx="68326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6" type="body"/>
          </p:nvPr>
        </p:nvSpPr>
        <p:spPr>
          <a:xfrm>
            <a:off x="2457450" y="4884025"/>
            <a:ext cx="15033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7" type="body"/>
          </p:nvPr>
        </p:nvSpPr>
        <p:spPr>
          <a:xfrm>
            <a:off x="4302125" y="4953380"/>
            <a:ext cx="68326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2341697" y="6316472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 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95" name="Google Shape;9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2"/>
          <p:cNvSpPr txBox="1"/>
          <p:nvPr>
            <p:ph idx="12" type="sldNum"/>
          </p:nvPr>
        </p:nvSpPr>
        <p:spPr>
          <a:xfrm>
            <a:off x="2308225" y="6320927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2"/>
          <p:cNvSpPr/>
          <p:nvPr>
            <p:ph idx="2" type="chart"/>
          </p:nvPr>
        </p:nvSpPr>
        <p:spPr>
          <a:xfrm>
            <a:off x="2308225" y="2682875"/>
            <a:ext cx="7102475" cy="318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/>
        </p:txBody>
      </p:sp>
      <p:cxnSp>
        <p:nvCxnSpPr>
          <p:cNvPr id="100" name="Google Shape;100;p22"/>
          <p:cNvCxnSpPr/>
          <p:nvPr/>
        </p:nvCxnSpPr>
        <p:spPr>
          <a:xfrm>
            <a:off x="2384121" y="1615723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01" name="Google Shape;101;p22"/>
          <p:cNvGraphicFramePr/>
          <p:nvPr/>
        </p:nvGraphicFramePr>
        <p:xfrm>
          <a:off x="3704639" y="2683253"/>
          <a:ext cx="4782721" cy="31884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2384425" y="823913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3" type="body"/>
          </p:nvPr>
        </p:nvSpPr>
        <p:spPr>
          <a:xfrm>
            <a:off x="2308225" y="2179638"/>
            <a:ext cx="6676559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b="1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Photo">
  <p:cSld name="Column and Photo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05" name="Google Shape;10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23"/>
          <p:cNvCxnSpPr/>
          <p:nvPr/>
        </p:nvCxnSpPr>
        <p:spPr>
          <a:xfrm>
            <a:off x="813071" y="2001772"/>
            <a:ext cx="3295669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8" name="Google Shape;1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/>
          <p:nvPr/>
        </p:nvSpPr>
        <p:spPr>
          <a:xfrm>
            <a:off x="4884234" y="0"/>
            <a:ext cx="7307766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3"/>
          <p:cNvSpPr/>
          <p:nvPr>
            <p:ph idx="2" type="pic"/>
          </p:nvPr>
        </p:nvSpPr>
        <p:spPr>
          <a:xfrm>
            <a:off x="4884738" y="0"/>
            <a:ext cx="730726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812800" y="600075"/>
            <a:ext cx="32959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776288" y="2535238"/>
            <a:ext cx="3332452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812800" y="6332948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Image">
  <p:cSld name="Column and Imag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24"/>
          <p:cNvCxnSpPr/>
          <p:nvPr/>
        </p:nvCxnSpPr>
        <p:spPr>
          <a:xfrm>
            <a:off x="813071" y="2001772"/>
            <a:ext cx="3295669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16" name="Google Shape;11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812800" y="600075"/>
            <a:ext cx="32959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2" type="body"/>
          </p:nvPr>
        </p:nvSpPr>
        <p:spPr>
          <a:xfrm>
            <a:off x="776288" y="2535238"/>
            <a:ext cx="3332452" cy="303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4"/>
          <p:cNvSpPr/>
          <p:nvPr>
            <p:ph idx="3" type="pic"/>
          </p:nvPr>
        </p:nvSpPr>
        <p:spPr>
          <a:xfrm>
            <a:off x="4884738" y="1190625"/>
            <a:ext cx="6977409" cy="5127626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10122" y="6332948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 strike="noStrik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Slide Photo">
  <p:cSld name="Full-Slide Photo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Column Photo &amp; Text">
  <p:cSld name="3-Column Photo &amp; 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4186479" y="134938"/>
            <a:ext cx="3862775" cy="659523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6"/>
          <p:cNvSpPr/>
          <p:nvPr/>
        </p:nvSpPr>
        <p:spPr>
          <a:xfrm>
            <a:off x="8184191" y="134938"/>
            <a:ext cx="3862775" cy="659523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6"/>
          <p:cNvSpPr/>
          <p:nvPr/>
        </p:nvSpPr>
        <p:spPr>
          <a:xfrm>
            <a:off x="166464" y="134938"/>
            <a:ext cx="3885077" cy="659523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166688" y="134938"/>
            <a:ext cx="3884612" cy="6596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000"/>
              <a:buNone/>
              <a:defRPr>
                <a:solidFill>
                  <a:srgbClr val="82828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186478" y="134938"/>
            <a:ext cx="3862776" cy="6596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000"/>
              <a:buNone/>
              <a:defRPr>
                <a:solidFill>
                  <a:srgbClr val="82828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3" type="body"/>
          </p:nvPr>
        </p:nvSpPr>
        <p:spPr>
          <a:xfrm>
            <a:off x="8184191" y="134938"/>
            <a:ext cx="3862775" cy="6596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000"/>
              <a:buNone/>
              <a:defRPr>
                <a:solidFill>
                  <a:srgbClr val="82828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b="0" i="0" sz="36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idx="1" type="body"/>
          </p:nvPr>
        </p:nvSpPr>
        <p:spPr>
          <a:xfrm>
            <a:off x="5732463" y="2284413"/>
            <a:ext cx="57308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b="1" lang="en-US"/>
              <a:t>Saving and Loading Model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b="1" lang="en-US"/>
              <a:t>Recitation 0.25</a:t>
            </a:r>
            <a:endParaRPr/>
          </a:p>
        </p:txBody>
      </p:sp>
      <p:sp>
        <p:nvSpPr>
          <p:cNvPr id="135" name="Google Shape;135;p1"/>
          <p:cNvSpPr txBox="1"/>
          <p:nvPr>
            <p:ph idx="3" type="body"/>
          </p:nvPr>
        </p:nvSpPr>
        <p:spPr>
          <a:xfrm>
            <a:off x="5781891" y="4449077"/>
            <a:ext cx="59261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</a:pPr>
            <a:r>
              <a:rPr lang="en-US"/>
              <a:t>Hunter Lin</a:t>
            </a:r>
            <a:endParaRPr/>
          </a:p>
        </p:txBody>
      </p:sp>
      <p:sp>
        <p:nvSpPr>
          <p:cNvPr id="136" name="Google Shape;136;p1"/>
          <p:cNvSpPr txBox="1"/>
          <p:nvPr/>
        </p:nvSpPr>
        <p:spPr>
          <a:xfrm>
            <a:off x="5732463" y="4081346"/>
            <a:ext cx="4678523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to Deep Learning – 11785/685/485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>
            <p:ph idx="1" type="body"/>
          </p:nvPr>
        </p:nvSpPr>
        <p:spPr>
          <a:xfrm>
            <a:off x="1720850" y="2540000"/>
            <a:ext cx="9001579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878"/>
              </a:buClr>
              <a:buSzPts val="2000"/>
              <a:buAutoNum type="arabicPeriod"/>
            </a:pPr>
            <a:r>
              <a:rPr b="1" lang="en-US" sz="2000">
                <a:solidFill>
                  <a:srgbClr val="12263A"/>
                </a:solidFill>
              </a:rPr>
              <a:t>Checkpointing Basics: </a:t>
            </a:r>
            <a:r>
              <a:rPr lang="en-US" sz="1800">
                <a:solidFill>
                  <a:srgbClr val="4A4A4A"/>
                </a:solidFill>
              </a:rPr>
              <a:t>why checkpoint, and what one contains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A878"/>
              </a:buClr>
              <a:buSzPts val="2000"/>
              <a:buAutoNum type="arabicPeriod"/>
            </a:pPr>
            <a:r>
              <a:rPr b="1" lang="en-US" sz="2000">
                <a:solidFill>
                  <a:srgbClr val="12263A"/>
                </a:solidFill>
              </a:rPr>
              <a:t>The Checkpointing Workflow: </a:t>
            </a:r>
            <a:r>
              <a:rPr lang="en-US" sz="1800">
                <a:solidFill>
                  <a:srgbClr val="4A4A4A"/>
                </a:solidFill>
              </a:rPr>
              <a:t>Train → Save → Load → Resume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A878"/>
              </a:buClr>
              <a:buSzPts val="2000"/>
              <a:buAutoNum type="arabicPeriod"/>
            </a:pPr>
            <a:r>
              <a:rPr b="1" lang="en-US" sz="2000">
                <a:solidFill>
                  <a:srgbClr val="12263A"/>
                </a:solidFill>
              </a:rPr>
              <a:t>Saving Checkpoints: </a:t>
            </a:r>
            <a:r>
              <a:rPr lang="en-US" sz="1800">
                <a:solidFill>
                  <a:srgbClr val="4A4A4A"/>
                </a:solidFill>
              </a:rPr>
              <a:t>locally with torch.save(), or to wandb Artifacts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A878"/>
              </a:buClr>
              <a:buSzPts val="2000"/>
              <a:buAutoNum type="arabicPeriod"/>
            </a:pPr>
            <a:r>
              <a:rPr b="1" lang="en-US" sz="2000">
                <a:solidFill>
                  <a:srgbClr val="12263A"/>
                </a:solidFill>
              </a:rPr>
              <a:t>Loading &amp; Resuming: </a:t>
            </a:r>
            <a:r>
              <a:rPr lang="en-US" sz="1800">
                <a:solidFill>
                  <a:srgbClr val="4A4A4A"/>
                </a:solidFill>
              </a:rPr>
              <a:t>local .pth, wandb downloads, same-run resume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A878"/>
              </a:buClr>
              <a:buSzPts val="2000"/>
              <a:buAutoNum type="arabicPeriod"/>
            </a:pPr>
            <a:r>
              <a:rPr b="1" lang="en-US" sz="2000">
                <a:solidFill>
                  <a:srgbClr val="12263A"/>
                </a:solidFill>
              </a:rPr>
              <a:t>Partial Loading: </a:t>
            </a:r>
            <a:r>
              <a:rPr lang="en-US" sz="1800">
                <a:solidFill>
                  <a:srgbClr val="4A4A4A"/>
                </a:solidFill>
              </a:rPr>
              <a:t>selecting weights with strict=False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A878"/>
              </a:buClr>
              <a:buSzPts val="2000"/>
              <a:buAutoNum type="arabicPeriod"/>
            </a:pPr>
            <a:r>
              <a:rPr b="1" lang="en-US" sz="2000">
                <a:solidFill>
                  <a:srgbClr val="12263A"/>
                </a:solidFill>
              </a:rPr>
              <a:t>Live Demo: </a:t>
            </a:r>
            <a:r>
              <a:rPr lang="en-US" sz="1800">
                <a:solidFill>
                  <a:srgbClr val="4A4A4A"/>
                </a:solidFill>
              </a:rPr>
              <a:t>end-to-end in the notebook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1778000" y="3124200"/>
            <a:ext cx="8534400" cy="127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778000" y="3683000"/>
            <a:ext cx="8534400" cy="127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1778000" y="4241800"/>
            <a:ext cx="8534400" cy="127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1778000" y="4800600"/>
            <a:ext cx="8534400" cy="127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1778000" y="5359400"/>
            <a:ext cx="8534400" cy="127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/>
          <p:nvPr/>
        </p:nvSpPr>
        <p:spPr>
          <a:xfrm>
            <a:off x="1905000" y="1854200"/>
            <a:ext cx="102870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2362200" y="3657600"/>
            <a:ext cx="8128000" cy="330200"/>
          </a:xfrm>
          <a:prstGeom prst="roundRect">
            <a:avLst>
              <a:gd fmla="val 16667" name="adj"/>
            </a:avLst>
          </a:prstGeom>
          <a:solidFill>
            <a:srgbClr val="EFF7F2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"/>
          <p:cNvSpPr txBox="1"/>
          <p:nvPr>
            <p:ph idx="1" type="body"/>
          </p:nvPr>
        </p:nvSpPr>
        <p:spPr>
          <a:xfrm>
            <a:off x="2082800" y="482600"/>
            <a:ext cx="7112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lang="en-US"/>
              <a:t>Checkpointing Basics</a:t>
            </a:r>
            <a:endParaRPr/>
          </a:p>
        </p:txBody>
      </p:sp>
      <p:sp>
        <p:nvSpPr>
          <p:cNvPr id="155" name="Google Shape;155;p3"/>
          <p:cNvSpPr txBox="1"/>
          <p:nvPr>
            <p:ph idx="2" type="body"/>
          </p:nvPr>
        </p:nvSpPr>
        <p:spPr>
          <a:xfrm>
            <a:off x="2235200" y="1905000"/>
            <a:ext cx="949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b="1" lang="en-US" sz="1600">
                <a:solidFill>
                  <a:srgbClr val="12263A"/>
                </a:solidFill>
              </a:rPr>
              <a:t>The Challenge</a:t>
            </a:r>
            <a:endParaRPr/>
          </a:p>
          <a:p>
            <a:pPr indent="-228600" lvl="0" marL="228600" rtl="0" algn="l">
              <a:lnSpc>
                <a:spcPct val="139285"/>
              </a:lnSpc>
              <a:spcBef>
                <a:spcPts val="6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Training takes hours or days — time limits, preemption, OOM, and bugs end runs early</a:t>
            </a:r>
            <a:endParaRPr/>
          </a:p>
          <a:p>
            <a:pPr indent="-228600" lvl="0" marL="228600" rtl="0" algn="l">
              <a:lnSpc>
                <a:spcPct val="139285"/>
              </a:lnSpc>
              <a:spcBef>
                <a:spcPts val="4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Die at epoch 47 of 100, and without a checkpoint you restart at 0</a:t>
            </a:r>
            <a:endParaRPr/>
          </a:p>
          <a:p>
            <a:pPr indent="0" lvl="0" marL="0" rtl="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b="1" lang="en-US" sz="1600">
                <a:solidFill>
                  <a:srgbClr val="12263A"/>
                </a:solidFill>
              </a:rPr>
              <a:t>What Is Checkpointing?</a:t>
            </a:r>
            <a:endParaRPr/>
          </a:p>
          <a:p>
            <a:pPr indent="-228600" lvl="0" marL="228600" rtl="0" algn="l">
              <a:lnSpc>
                <a:spcPct val="139285"/>
              </a:lnSpc>
              <a:spcBef>
                <a:spcPts val="6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A snapshot of your training state — a plain Python dict you build:</a:t>
            </a:r>
            <a:endParaRPr/>
          </a:p>
          <a:p>
            <a:pPr indent="0" lvl="0" marL="228600" rtl="0" algn="l">
              <a:lnSpc>
                <a:spcPct val="146153"/>
              </a:lnSpc>
              <a:spcBef>
                <a:spcPts val="400"/>
              </a:spcBef>
              <a:spcAft>
                <a:spcPts val="0"/>
              </a:spcAft>
              <a:buClr>
                <a:srgbClr val="0B6E4F"/>
              </a:buClr>
              <a:buSzPts val="1300"/>
              <a:buNone/>
            </a:pP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model · optimizer · scheduler state_dict() · epoch · metrics · wandb_run_id</a:t>
            </a:r>
            <a:endParaRPr/>
          </a:p>
          <a:p>
            <a:pPr indent="-228600" lvl="0" marL="228600" rtl="0" algn="l">
              <a:lnSpc>
                <a:spcPct val="139285"/>
              </a:lnSpc>
              <a:spcBef>
                <a:spcPts val="4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Weights alone aren't enough: no optimizer → loss spikes on resume; no scheduler → LR resets</a:t>
            </a:r>
            <a:endParaRPr/>
          </a:p>
          <a:p>
            <a:pPr indent="0" lvl="0" marL="0" rtl="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b="1" lang="en-US" sz="1600">
                <a:solidFill>
                  <a:srgbClr val="12263A"/>
                </a:solidFill>
              </a:rPr>
              <a:t>Why We Need Checkpoints</a:t>
            </a:r>
            <a:endParaRPr/>
          </a:p>
          <a:p>
            <a:pPr indent="-228600" lvl="0" marL="228600" rtl="0" algn="l">
              <a:lnSpc>
                <a:spcPct val="139285"/>
              </a:lnSpc>
              <a:spcBef>
                <a:spcPts val="6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Resume after crashes · keep the best-validation model · branch from any saved point</a:t>
            </a:r>
            <a:endParaRPr/>
          </a:p>
        </p:txBody>
      </p:sp>
      <p:sp>
        <p:nvSpPr>
          <p:cNvPr id="156" name="Google Shape;156;p3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</a:pPr>
            <a:r>
              <a:rPr lang="en-US"/>
              <a:t>Checkpointing Basics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2057400" y="1955800"/>
            <a:ext cx="50800" cy="2540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2057400" y="3124200"/>
            <a:ext cx="50800" cy="2540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2057400" y="4419600"/>
            <a:ext cx="50800" cy="2540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082800" y="1270000"/>
            <a:ext cx="9652000" cy="9525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idx="12" type="sldNum"/>
          </p:nvPr>
        </p:nvSpPr>
        <p:spPr>
          <a:xfrm>
            <a:off x="2308225" y="6320927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2384425" y="823913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ct val="100000"/>
              <a:buNone/>
            </a:pPr>
            <a:r>
              <a:rPr lang="en-US"/>
              <a:t>The Checkpointing Workflow</a:t>
            </a:r>
            <a:endParaRPr/>
          </a:p>
        </p:txBody>
      </p:sp>
      <p:cxnSp>
        <p:nvCxnSpPr>
          <p:cNvPr id="167" name="Google Shape;167;p4"/>
          <p:cNvCxnSpPr/>
          <p:nvPr/>
        </p:nvCxnSpPr>
        <p:spPr>
          <a:xfrm>
            <a:off x="4254500" y="2768600"/>
            <a:ext cx="0" cy="2184400"/>
          </a:xfrm>
          <a:prstGeom prst="straightConnector1">
            <a:avLst/>
          </a:prstGeom>
          <a:noFill/>
          <a:ln cap="flat" cmpd="sng" w="22225">
            <a:solidFill>
              <a:srgbClr val="22222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" name="Google Shape;168;p4"/>
          <p:cNvCxnSpPr/>
          <p:nvPr/>
        </p:nvCxnSpPr>
        <p:spPr>
          <a:xfrm>
            <a:off x="5461000" y="2362200"/>
            <a:ext cx="381000" cy="177800"/>
          </a:xfrm>
          <a:prstGeom prst="straightConnector1">
            <a:avLst/>
          </a:prstGeom>
          <a:noFill/>
          <a:ln cap="flat" cmpd="sng" w="22225">
            <a:solidFill>
              <a:srgbClr val="22222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69" name="Google Shape;169;p4"/>
          <p:cNvCxnSpPr/>
          <p:nvPr/>
        </p:nvCxnSpPr>
        <p:spPr>
          <a:xfrm>
            <a:off x="8445500" y="3327400"/>
            <a:ext cx="444500" cy="355600"/>
          </a:xfrm>
          <a:prstGeom prst="straightConnector1">
            <a:avLst/>
          </a:prstGeom>
          <a:noFill/>
          <a:ln cap="flat" cmpd="sng" w="22225">
            <a:solidFill>
              <a:srgbClr val="2222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4"/>
          <p:cNvCxnSpPr/>
          <p:nvPr/>
        </p:nvCxnSpPr>
        <p:spPr>
          <a:xfrm flipH="1" rot="10800000">
            <a:off x="8445500" y="4064000"/>
            <a:ext cx="444500" cy="317500"/>
          </a:xfrm>
          <a:prstGeom prst="straightConnector1">
            <a:avLst/>
          </a:prstGeom>
          <a:noFill/>
          <a:ln cap="flat" cmpd="sng" w="22225">
            <a:solidFill>
              <a:srgbClr val="2222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4"/>
          <p:cNvCxnSpPr/>
          <p:nvPr/>
        </p:nvCxnSpPr>
        <p:spPr>
          <a:xfrm flipH="1" rot="10800000">
            <a:off x="5461000" y="5016500"/>
            <a:ext cx="355600" cy="215900"/>
          </a:xfrm>
          <a:prstGeom prst="straightConnector1">
            <a:avLst/>
          </a:prstGeom>
          <a:noFill/>
          <a:ln cap="flat" cmpd="sng" w="22225">
            <a:solidFill>
              <a:srgbClr val="22222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72" name="Google Shape;172;p4"/>
          <p:cNvSpPr/>
          <p:nvPr/>
        </p:nvSpPr>
        <p:spPr>
          <a:xfrm>
            <a:off x="3048000" y="2082800"/>
            <a:ext cx="2413000" cy="685800"/>
          </a:xfrm>
          <a:prstGeom prst="roundRect">
            <a:avLst>
              <a:gd fmla="val 1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Session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(Training / Inference)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3048000" y="4953000"/>
            <a:ext cx="2413000" cy="787400"/>
          </a:xfrm>
          <a:prstGeom prst="roundRect">
            <a:avLst>
              <a:gd fmla="val 10000" name="adj"/>
            </a:avLst>
          </a:prstGeom>
          <a:solidFill>
            <a:srgbClr val="3E7C8E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Storage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2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AF2F5"/>
                </a:solidFill>
                <a:latin typeface="Calibri"/>
                <a:ea typeface="Calibri"/>
                <a:cs typeface="Calibri"/>
                <a:sym typeface="Calibri"/>
              </a:rPr>
              <a:t>(.pth files)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8890000" y="3276600"/>
            <a:ext cx="2540000" cy="1016000"/>
          </a:xfrm>
          <a:prstGeom prst="roundRect">
            <a:avLst>
              <a:gd fmla="val 10000" name="adj"/>
            </a:avLst>
          </a:prstGeom>
          <a:solidFill>
            <a:srgbClr val="A62B22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Weights &amp; Biases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E4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6E4E2"/>
                </a:solidFill>
                <a:latin typeface="Calibri"/>
                <a:ea typeface="Calibri"/>
                <a:cs typeface="Calibri"/>
                <a:sym typeface="Calibri"/>
              </a:rPr>
              <a:t>(cloud artifacts)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3530600" y="2895600"/>
            <a:ext cx="1447800" cy="584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B53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Save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torch.save()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403600" y="4013200"/>
            <a:ext cx="17018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B53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 Load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torch.load() +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load_state_dict()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842000" y="2413000"/>
            <a:ext cx="2667000" cy="939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B53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Init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wandb.init()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6. Resume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wandb.init(id=..., resume="must")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5842000" y="4267200"/>
            <a:ext cx="2667000" cy="939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B53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Upload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wandb.save() / log_artifact()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Download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wandb.restore() / artifact.download()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994400" y="2895600"/>
            <a:ext cx="23622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994400" y="4749800"/>
            <a:ext cx="23622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048000" y="5842000"/>
            <a:ext cx="8382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Init and Resume are session ↔ cloud. Upload and Download are storage ↔ cloud.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/>
          <p:nvPr/>
        </p:nvSpPr>
        <p:spPr>
          <a:xfrm>
            <a:off x="1905000" y="1854200"/>
            <a:ext cx="102870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2082800" y="482600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lang="en-US"/>
              <a:t>Saving Checkpoints (Locally)</a:t>
            </a:r>
            <a:endParaRPr/>
          </a:p>
        </p:txBody>
      </p:sp>
      <p:sp>
        <p:nvSpPr>
          <p:cNvPr id="189" name="Google Shape;189;p5"/>
          <p:cNvSpPr txBox="1"/>
          <p:nvPr>
            <p:ph idx="2" type="body"/>
          </p:nvPr>
        </p:nvSpPr>
        <p:spPr>
          <a:xfrm>
            <a:off x="2235200" y="1447800"/>
            <a:ext cx="482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</a:rPr>
              <a:t>Save Locally with torch.save()</a:t>
            </a:r>
            <a:endParaRPr/>
          </a:p>
          <a:p>
            <a:pPr indent="-190500" lvl="0" marL="19050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Saves a dictionary you build — written to a .pth file by Python's pickling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60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</a:rPr>
              <a:t>Save the state_dict, Not the Model</a:t>
            </a:r>
            <a:endParaRPr/>
          </a:p>
          <a:p>
            <a:pPr indent="-190500" lvl="0" marL="19050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0A878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torch.save(model)</a:t>
            </a:r>
            <a:r>
              <a:rPr lang="en-US" sz="1400">
                <a:solidFill>
                  <a:srgbClr val="3D4650"/>
                </a:solidFill>
              </a:rPr>
              <a:t> ties the file to your class's import path — it breaks if you rename or move it</a:t>
            </a:r>
            <a:endParaRPr/>
          </a:p>
        </p:txBody>
      </p:sp>
      <p:sp>
        <p:nvSpPr>
          <p:cNvPr id="190" name="Google Shape;190;p5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</a:pPr>
            <a:r>
              <a:rPr lang="en-US"/>
              <a:t>Saving Checkpoints </a:t>
            </a:r>
            <a:endParaRPr/>
          </a:p>
        </p:txBody>
      </p:sp>
      <p:pic>
        <p:nvPicPr>
          <p:cNvPr id="191" name="Google Shape;1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000" y="3505200"/>
            <a:ext cx="5588000" cy="23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/>
          <p:nvPr/>
        </p:nvSpPr>
        <p:spPr>
          <a:xfrm>
            <a:off x="2082800" y="1270000"/>
            <a:ext cx="9652000" cy="9525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7239000" y="1447800"/>
            <a:ext cx="44958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Open Sans Light"/>
              <a:buNone/>
            </a:pPr>
            <a:r>
              <a:rPr b="0" i="0" lang="en-US" sz="1600" u="none" cap="none" strike="noStrike">
                <a:solidFill>
                  <a:srgbClr val="12263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What Goes In the Dict</a:t>
            </a:r>
            <a:endParaRPr/>
          </a:p>
          <a:p>
            <a:pPr indent="-190500" lvl="0" marL="190500" marR="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model.state_dict()</a:t>
            </a: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— weights and biases</a:t>
            </a:r>
            <a:endParaRPr/>
          </a:p>
          <a:p>
            <a:pPr indent="-190500" lvl="0" marL="190500" marR="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optimizer.state_dict()</a:t>
            </a: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and </a:t>
            </a: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scheduler.state_dict()</a:t>
            </a:r>
            <a:endParaRPr/>
          </a:p>
          <a:p>
            <a:pPr indent="-190500" lvl="0" marL="190500" marR="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3D465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Current epoch and loss metrics</a:t>
            </a:r>
            <a:endParaRPr/>
          </a:p>
          <a:p>
            <a:pPr indent="-190500" lvl="0" marL="190500" marR="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wandb_run_id</a:t>
            </a: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— which run the file belongs to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2057400" y="1485900"/>
            <a:ext cx="50800" cy="2413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057400" y="2260600"/>
            <a:ext cx="50800" cy="2413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7061200" y="1485900"/>
            <a:ext cx="50800" cy="2413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1905000" y="1854200"/>
            <a:ext cx="102870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235200" y="3175000"/>
            <a:ext cx="9499600" cy="584200"/>
          </a:xfrm>
          <a:prstGeom prst="rect">
            <a:avLst/>
          </a:prstGeom>
          <a:solidFill>
            <a:srgbClr val="FFF6E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400"/>
              <a:buFont typeface="Open Sans Light"/>
              <a:buNone/>
            </a:pPr>
            <a:r>
              <a:rPr b="1" i="0" lang="en-US" sz="1400" u="none" cap="none" strike="noStrike">
                <a:solidFill>
                  <a:srgbClr val="8A5A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Watch out: </a:t>
            </a:r>
            <a:r>
              <a:rPr b="0" i="0" lang="en-US" sz="1400" u="none" cap="none" strike="noStrike">
                <a:solidFill>
                  <a:srgbClr val="5C42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artifact names allow letters, digits, - _ . only — a &lt;run_name&gt;-style placeholder errors here, even though </a:t>
            </a:r>
            <a:r>
              <a:rPr b="0" i="0" lang="en-US" sz="1300" u="none" cap="none" strike="noStrike">
                <a:solidFill>
                  <a:srgbClr val="5C4200"/>
                </a:solidFill>
                <a:latin typeface="Consolas"/>
                <a:ea typeface="Consolas"/>
                <a:cs typeface="Consolas"/>
                <a:sym typeface="Consolas"/>
              </a:rPr>
              <a:t>wandb.init(name=...)</a:t>
            </a:r>
            <a:r>
              <a:rPr b="0" i="0" lang="en-US" sz="1400" u="none" cap="none" strike="noStrike">
                <a:solidFill>
                  <a:srgbClr val="5C42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accepts it.</a:t>
            </a:r>
            <a:endParaRPr/>
          </a:p>
        </p:txBody>
      </p:sp>
      <p:sp>
        <p:nvSpPr>
          <p:cNvPr id="203" name="Google Shape;203;p6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6"/>
          <p:cNvSpPr txBox="1"/>
          <p:nvPr>
            <p:ph idx="1" type="body"/>
          </p:nvPr>
        </p:nvSpPr>
        <p:spPr>
          <a:xfrm>
            <a:off x="2082800" y="482600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lang="en-US"/>
              <a:t>Saving Checkpoints (Wandb)</a:t>
            </a:r>
            <a:endParaRPr/>
          </a:p>
        </p:txBody>
      </p:sp>
      <p:sp>
        <p:nvSpPr>
          <p:cNvPr id="205" name="Google Shape;205;p6"/>
          <p:cNvSpPr txBox="1"/>
          <p:nvPr>
            <p:ph idx="2" type="body"/>
          </p:nvPr>
        </p:nvSpPr>
        <p:spPr>
          <a:xfrm>
            <a:off x="2235200" y="1447800"/>
            <a:ext cx="48260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</a:rPr>
              <a:t>Option 1 — Artifacts (use by default)</a:t>
            </a:r>
            <a:endParaRPr/>
          </a:p>
          <a:p>
            <a:pPr indent="-200025" lvl="0" marL="200025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Versioned — each upload is a new version you can pin with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:latest</a:t>
            </a:r>
            <a:r>
              <a:rPr lang="en-US" sz="1400">
                <a:solidFill>
                  <a:srgbClr val="3D4650"/>
                </a:solidFill>
              </a:rPr>
              <a:t> or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:v3</a:t>
            </a:r>
            <a:endParaRPr/>
          </a:p>
          <a:p>
            <a:pPr indent="-200025" lvl="0" marL="200025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Stored under the file's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BASENAME</a:t>
            </a:r>
            <a:r>
              <a:rPr lang="en-US" sz="1400">
                <a:solidFill>
                  <a:srgbClr val="3D4650"/>
                </a:solidFill>
              </a:rPr>
              <a:t>, not the artifact name</a:t>
            </a:r>
            <a:endParaRPr/>
          </a:p>
          <a:p>
            <a:pPr indent="-200025" lvl="0" marL="200025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Use when you'll need a specific version back, or want lineage</a:t>
            </a:r>
            <a:endParaRPr/>
          </a:p>
        </p:txBody>
      </p:sp>
      <p:sp>
        <p:nvSpPr>
          <p:cNvPr id="206" name="Google Shape;206;p6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</a:pPr>
            <a:r>
              <a:rPr lang="en-US"/>
              <a:t>Saving Checkpoints 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2057400" y="1498600"/>
            <a:ext cx="50800" cy="2540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 shot of a computer&#10;&#10;AI-generated content may be incorrect." id="208" name="Google Shape;2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1100" y="3860800"/>
            <a:ext cx="9042400" cy="22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7239000" y="1447800"/>
            <a:ext cx="44958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Option 2 — wandb.save() (quick)</a:t>
            </a:r>
            <a:endParaRPr/>
          </a:p>
          <a:p>
            <a:pPr indent="-200025" lvl="0" marL="200025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3D465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D4650"/>
                </a:solidFill>
                <a:latin typeface="Calibri"/>
                <a:ea typeface="Calibri"/>
                <a:cs typeface="Calibri"/>
                <a:sym typeface="Calibri"/>
              </a:rPr>
              <a:t>Unversioned — the file just lands in the run's Files tab</a:t>
            </a:r>
            <a:endParaRPr/>
          </a:p>
          <a:p>
            <a:pPr indent="-200025" lvl="0" marL="200025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3D465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D4650"/>
                </a:solidFill>
                <a:latin typeface="Calibri"/>
                <a:ea typeface="Calibri"/>
                <a:cs typeface="Calibri"/>
                <a:sym typeface="Calibri"/>
              </a:rPr>
              <a:t>Use when you only need the file attached to the run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7061200" y="1498600"/>
            <a:ext cx="50800" cy="2413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235200" y="3175000"/>
            <a:ext cx="50800" cy="584200"/>
          </a:xfrm>
          <a:prstGeom prst="rect">
            <a:avLst/>
          </a:prstGeom>
          <a:solidFill>
            <a:srgbClr val="E0A400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082800" y="1270000"/>
            <a:ext cx="9652000" cy="9525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1905000" y="1854200"/>
            <a:ext cx="102870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235200" y="2946400"/>
            <a:ext cx="9499600" cy="558800"/>
          </a:xfrm>
          <a:prstGeom prst="rect">
            <a:avLst/>
          </a:prstGeom>
          <a:solidFill>
            <a:srgbClr val="FFF6E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400"/>
              <a:buFont typeface="Open Sans Light"/>
              <a:buNone/>
            </a:pPr>
            <a:r>
              <a:rPr b="1" i="0" lang="en-US" sz="1400" u="none" cap="none" strike="noStrike">
                <a:solidFill>
                  <a:srgbClr val="8A5A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Important: </a:t>
            </a:r>
            <a:r>
              <a:rPr b="0" i="0" lang="en-US" sz="1400" u="none" cap="none" strike="noStrike">
                <a:solidFill>
                  <a:srgbClr val="5C42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model architecture must match exactly, and optimizer / scheduler types must match the checkpoint.</a:t>
            </a:r>
            <a:endParaRPr/>
          </a:p>
          <a:p>
            <a:pPr indent="0" lvl="0" marL="0" marR="0" rtl="0" algn="l">
              <a:lnSpc>
                <a:spcPct val="107142"/>
              </a:lnSpc>
              <a:spcBef>
                <a:spcPts val="100"/>
              </a:spcBef>
              <a:spcAft>
                <a:spcPts val="0"/>
              </a:spcAft>
              <a:buClr>
                <a:srgbClr val="5C4200"/>
              </a:buClr>
              <a:buSzPts val="1400"/>
              <a:buFont typeface="Open Sans Light"/>
              <a:buNone/>
            </a:pPr>
            <a:r>
              <a:rPr b="0" i="0" lang="en-US" sz="1400" u="none" cap="none" strike="noStrike">
                <a:solidFill>
                  <a:srgbClr val="5C42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Hyperparameters such as learning rate or momentum can be changed.</a:t>
            </a:r>
            <a:endParaRPr/>
          </a:p>
        </p:txBody>
      </p:sp>
      <p:sp>
        <p:nvSpPr>
          <p:cNvPr id="219" name="Google Shape;219;p7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7"/>
          <p:cNvSpPr txBox="1"/>
          <p:nvPr>
            <p:ph idx="1" type="body"/>
          </p:nvPr>
        </p:nvSpPr>
        <p:spPr>
          <a:xfrm>
            <a:off x="2082800" y="482600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ct val="100000"/>
              <a:buNone/>
            </a:pPr>
            <a:r>
              <a:rPr lang="en-US"/>
              <a:t>Loading Checkpoints (Locally)</a:t>
            </a:r>
            <a:endParaRPr/>
          </a:p>
        </p:txBody>
      </p:sp>
      <p:sp>
        <p:nvSpPr>
          <p:cNvPr id="221" name="Google Shape;221;p7"/>
          <p:cNvSpPr txBox="1"/>
          <p:nvPr>
            <p:ph idx="2" type="body"/>
          </p:nvPr>
        </p:nvSpPr>
        <p:spPr>
          <a:xfrm>
            <a:off x="2235200" y="1447800"/>
            <a:ext cx="4826000" cy="2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</a:rPr>
              <a:t>Load the File</a:t>
            </a:r>
            <a:endParaRPr/>
          </a:p>
          <a:p>
            <a:pPr indent="-190500" lvl="0" marL="19050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One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torch.load()</a:t>
            </a:r>
            <a:r>
              <a:rPr lang="en-US" sz="1400">
                <a:solidFill>
                  <a:srgbClr val="3D4650"/>
                </a:solidFill>
              </a:rPr>
              <a:t> gives back the dict you saved</a:t>
            </a:r>
            <a:endParaRPr/>
          </a:p>
        </p:txBody>
      </p:sp>
      <p:sp>
        <p:nvSpPr>
          <p:cNvPr id="222" name="Google Shape;222;p7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</a:pPr>
            <a:r>
              <a:rPr lang="en-US"/>
              <a:t>Loading &amp; Resuming</a:t>
            </a:r>
            <a:endParaRPr/>
          </a:p>
        </p:txBody>
      </p:sp>
      <p:pic>
        <p:nvPicPr>
          <p:cNvPr descr="A screen shot of a computer program&#10;&#10;AI-generated content may be incorrect." id="223" name="Google Shape;2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102" y="3759200"/>
            <a:ext cx="721379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 txBox="1"/>
          <p:nvPr/>
        </p:nvSpPr>
        <p:spPr>
          <a:xfrm>
            <a:off x="7239000" y="1447800"/>
            <a:ext cx="4495800" cy="2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Restore Each Component</a:t>
            </a:r>
            <a:endParaRPr/>
          </a:p>
          <a:p>
            <a:pPr indent="-190500" lvl="0" marL="190500" marR="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3D465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D4650"/>
                </a:solidFill>
                <a:latin typeface="Calibri"/>
                <a:ea typeface="Calibri"/>
                <a:cs typeface="Calibri"/>
                <a:sym typeface="Calibri"/>
              </a:rPr>
              <a:t>All three </a:t>
            </a: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state_dict</a:t>
            </a:r>
            <a:r>
              <a:rPr b="0" i="0" lang="en-US" sz="1400" u="none" cap="none" strike="noStrike">
                <a:solidFill>
                  <a:srgbClr val="3D4650"/>
                </a:solidFill>
                <a:latin typeface="Calibri"/>
                <a:ea typeface="Calibri"/>
                <a:cs typeface="Calibri"/>
                <a:sym typeface="Calibri"/>
              </a:rPr>
              <a:t>s — model, optimizer, scheduler. Restoring only the weights is the most common mistake</a:t>
            </a:r>
            <a:endParaRPr/>
          </a:p>
          <a:p>
            <a:pPr indent="-190500" lvl="0" marL="190500" marR="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epoch</a:t>
            </a:r>
            <a:r>
              <a:rPr b="0" i="0" lang="en-US" sz="1400" u="none" cap="none" strike="noStrike">
                <a:solidFill>
                  <a:srgbClr val="3D4650"/>
                </a:solidFill>
                <a:latin typeface="Calibri"/>
                <a:ea typeface="Calibri"/>
                <a:cs typeface="Calibri"/>
                <a:sym typeface="Calibri"/>
              </a:rPr>
              <a:t> — the one that FINISHED; resume at epoch + 1</a:t>
            </a:r>
            <a:endParaRPr/>
          </a:p>
          <a:p>
            <a:pPr indent="-190500" lvl="0" marL="190500" marR="0" rtl="0" algn="l">
              <a:lnSpc>
                <a:spcPct val="114285"/>
              </a:lnSpc>
              <a:spcBef>
                <a:spcPts val="18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current_loss</a:t>
            </a:r>
            <a:r>
              <a:rPr b="0" i="0" lang="en-US" sz="1400" u="none" cap="none" strike="noStrike">
                <a:solidFill>
                  <a:srgbClr val="3D4650"/>
                </a:solidFill>
                <a:latin typeface="Calibri"/>
                <a:ea typeface="Calibri"/>
                <a:cs typeface="Calibri"/>
                <a:sym typeface="Calibri"/>
              </a:rPr>
              <a:t> — where you left off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235200" y="2946400"/>
            <a:ext cx="50800" cy="558800"/>
          </a:xfrm>
          <a:prstGeom prst="rect">
            <a:avLst/>
          </a:prstGeom>
          <a:solidFill>
            <a:srgbClr val="E0A400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057400" y="1485900"/>
            <a:ext cx="50800" cy="2286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061200" y="1498600"/>
            <a:ext cx="50800" cy="2286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082800" y="1270000"/>
            <a:ext cx="9652000" cy="9525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/>
          <p:nvPr/>
        </p:nvSpPr>
        <p:spPr>
          <a:xfrm>
            <a:off x="1905000" y="1854200"/>
            <a:ext cx="102870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8"/>
          <p:cNvSpPr txBox="1"/>
          <p:nvPr>
            <p:ph idx="1" type="body"/>
          </p:nvPr>
        </p:nvSpPr>
        <p:spPr>
          <a:xfrm>
            <a:off x="2082800" y="482600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ct val="100000"/>
              <a:buNone/>
            </a:pPr>
            <a:r>
              <a:rPr lang="en-US"/>
              <a:t>Loading Checkpoints (Wandb)</a:t>
            </a:r>
            <a:endParaRPr/>
          </a:p>
        </p:txBody>
      </p:sp>
      <p:sp>
        <p:nvSpPr>
          <p:cNvPr id="236" name="Google Shape;236;p8"/>
          <p:cNvSpPr txBox="1"/>
          <p:nvPr>
            <p:ph idx="2" type="body"/>
          </p:nvPr>
        </p:nvSpPr>
        <p:spPr>
          <a:xfrm>
            <a:off x="2235200" y="1447800"/>
            <a:ext cx="4826000" cy="4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21875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</a:rPr>
              <a:t>Get a Handle on the Old Run</a:t>
            </a:r>
            <a:endParaRPr/>
          </a:p>
          <a:p>
            <a:pPr indent="-200025" lvl="0" marL="200025" rtl="0" algn="l">
              <a:lnSpc>
                <a:spcPct val="117857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api_run</a:t>
            </a:r>
            <a:r>
              <a:rPr lang="en-US" sz="1400">
                <a:solidFill>
                  <a:srgbClr val="3D4650"/>
                </a:solidFill>
              </a:rPr>
              <a:t>, NOT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en-US" sz="1400">
                <a:solidFill>
                  <a:srgbClr val="3D4650"/>
                </a:solidFill>
              </a:rPr>
              <a:t> —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en-US" sz="1400">
                <a:solidFill>
                  <a:srgbClr val="3D4650"/>
                </a:solidFill>
              </a:rPr>
              <a:t> is your live session's run; overwriting it breaks the saving cells above</a:t>
            </a:r>
            <a:endParaRPr/>
          </a:p>
          <a:p>
            <a:pPr indent="-200025" lvl="0" marL="200025" rtl="0" algn="l">
              <a:lnSpc>
                <a:spcPct val="117857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RUN_ID</a:t>
            </a:r>
            <a:r>
              <a:rPr lang="en-US" sz="1400">
                <a:solidFill>
                  <a:srgbClr val="3D4650"/>
                </a:solidFill>
              </a:rPr>
              <a:t> has to be pasted from the run's URL. It can't be derived: a new session means a new run with a new id</a:t>
            </a:r>
            <a:endParaRPr/>
          </a:p>
          <a:p>
            <a:pPr indent="0" lvl="0" marL="0" rtl="0" algn="l">
              <a:lnSpc>
                <a:spcPct val="121875"/>
              </a:lnSpc>
              <a:spcBef>
                <a:spcPts val="60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</a:rPr>
              <a:t>Two Ways Down</a:t>
            </a:r>
            <a:endParaRPr/>
          </a:p>
          <a:p>
            <a:pPr indent="-200025" lvl="0" marL="200025" rtl="0" algn="l">
              <a:lnSpc>
                <a:spcPct val="117857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Artifacts — pick a version with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:latest</a:t>
            </a:r>
            <a:r>
              <a:rPr lang="en-US" sz="1400">
                <a:solidFill>
                  <a:srgbClr val="3D4650"/>
                </a:solidFill>
              </a:rPr>
              <a:t> or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:v3</a:t>
            </a:r>
            <a:r>
              <a:rPr lang="en-US" sz="1400">
                <a:solidFill>
                  <a:srgbClr val="3D4650"/>
                </a:solidFill>
              </a:rPr>
              <a:t>, then download</a:t>
            </a:r>
            <a:endParaRPr/>
          </a:p>
          <a:p>
            <a:pPr indent="-200025" lvl="0" marL="200025" rtl="0" algn="l">
              <a:lnSpc>
                <a:spcPct val="117857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wandb.restore()</a:t>
            </a:r>
            <a:r>
              <a:rPr lang="en-US" sz="1400">
                <a:solidFill>
                  <a:srgbClr val="3D4650"/>
                </a:solidFill>
              </a:rPr>
              <a:t> — grabs the file directly, no versioning</a:t>
            </a:r>
            <a:endParaRPr/>
          </a:p>
          <a:p>
            <a:pPr indent="0" lvl="0" marL="0" rtl="0" algn="l">
              <a:lnSpc>
                <a:spcPct val="121875"/>
              </a:lnSpc>
              <a:spcBef>
                <a:spcPts val="60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</a:rPr>
              <a:t>Then Load It</a:t>
            </a:r>
            <a:endParaRPr/>
          </a:p>
          <a:p>
            <a:pPr indent="-200025" lvl="0" marL="200025" rtl="0" algn="l">
              <a:lnSpc>
                <a:spcPct val="117857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The file sits under its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BASENAME</a:t>
            </a:r>
            <a:r>
              <a:rPr lang="en-US" sz="1400">
                <a:solidFill>
                  <a:srgbClr val="3D4650"/>
                </a:solidFill>
              </a:rPr>
              <a:t>, not the artifact name</a:t>
            </a:r>
            <a:endParaRPr/>
          </a:p>
          <a:p>
            <a:pPr indent="-200025" lvl="0" marL="200025" rtl="0" algn="l">
              <a:lnSpc>
                <a:spcPct val="117857"/>
              </a:lnSpc>
              <a:spcBef>
                <a:spcPts val="20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</a:rPr>
              <a:t>From here it's identical to local loading</a:t>
            </a:r>
            <a:endParaRPr/>
          </a:p>
        </p:txBody>
      </p:sp>
      <p:sp>
        <p:nvSpPr>
          <p:cNvPr id="237" name="Google Shape;237;p8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</a:pPr>
            <a:r>
              <a:rPr lang="en-US"/>
              <a:t>Loading &amp; Resuming</a:t>
            </a:r>
            <a:endParaRPr/>
          </a:p>
        </p:txBody>
      </p:sp>
      <p:pic>
        <p:nvPicPr>
          <p:cNvPr id="238" name="Google Shape;2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6000" y="2379133"/>
            <a:ext cx="4368800" cy="291253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2057400" y="1498600"/>
            <a:ext cx="50800" cy="2413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2057400" y="2781300"/>
            <a:ext cx="50800" cy="2413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057400" y="3822700"/>
            <a:ext cx="50800" cy="2413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2082800" y="1270000"/>
            <a:ext cx="9652000" cy="9525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/>
          <p:nvPr/>
        </p:nvSpPr>
        <p:spPr>
          <a:xfrm>
            <a:off x="1905000" y="1854200"/>
            <a:ext cx="102870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2235200" y="3276600"/>
            <a:ext cx="9499600" cy="584200"/>
          </a:xfrm>
          <a:prstGeom prst="rect">
            <a:avLst/>
          </a:prstGeom>
          <a:solidFill>
            <a:srgbClr val="FFF6E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400"/>
              <a:buFont typeface="Open Sans Light"/>
              <a:buNone/>
            </a:pPr>
            <a:r>
              <a:rPr b="1" i="0" lang="en-US" sz="1400" u="none" cap="none" strike="noStrike">
                <a:solidFill>
                  <a:srgbClr val="8A5A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Watch out: </a:t>
            </a:r>
            <a:r>
              <a:rPr b="0" i="0" lang="en-US" sz="1400" u="none" cap="none" strike="noStrike">
                <a:solidFill>
                  <a:srgbClr val="5C42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project and entity must match the original run — resume looks the id up inside that project, so a mismatch fails even when the id is correct.</a:t>
            </a:r>
            <a:endParaRPr/>
          </a:p>
        </p:txBody>
      </p:sp>
      <p:sp>
        <p:nvSpPr>
          <p:cNvPr id="249" name="Google Shape;249;p9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9"/>
          <p:cNvSpPr txBox="1"/>
          <p:nvPr>
            <p:ph idx="1" type="body"/>
          </p:nvPr>
        </p:nvSpPr>
        <p:spPr>
          <a:xfrm>
            <a:off x="2082800" y="482600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lang="en-US"/>
              <a:t>Resuming the Run</a:t>
            </a:r>
            <a:endParaRPr/>
          </a:p>
        </p:txBody>
      </p:sp>
      <p:sp>
        <p:nvSpPr>
          <p:cNvPr id="251" name="Google Shape;251;p9"/>
          <p:cNvSpPr txBox="1"/>
          <p:nvPr>
            <p:ph idx="2" type="body"/>
          </p:nvPr>
        </p:nvSpPr>
        <p:spPr>
          <a:xfrm>
            <a:off x="2235200" y="1447800"/>
            <a:ext cx="4826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"must" vs "allow"</a:t>
            </a:r>
            <a:endParaRPr/>
          </a:p>
          <a:p>
            <a:pPr indent="-190500" lvl="0" marL="19050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00A878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"must"</a:t>
            </a:r>
            <a:r>
              <a:rPr lang="en-US" sz="1400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— fail loudly if that id doesn't exist</a:t>
            </a:r>
            <a:endParaRPr/>
          </a:p>
          <a:p>
            <a:pPr indent="-190500" lvl="0" marL="19050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00A878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"allow"</a:t>
            </a:r>
            <a:r>
              <a:rPr lang="en-US" sz="1400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— resume if it exists, quietly start a NEW run if it doesn't</a:t>
            </a:r>
            <a:endParaRPr/>
          </a:p>
          <a:p>
            <a:pPr indent="-190500" lvl="0" marL="19050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 id in the checkpoint? </a:t>
            </a:r>
            <a:r>
              <a:rPr lang="en-US" sz="13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resume=None</a:t>
            </a:r>
            <a:r>
              <a:rPr lang="en-US" sz="1400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starts fresh</a:t>
            </a:r>
            <a:endParaRPr/>
          </a:p>
        </p:txBody>
      </p:sp>
      <p:sp>
        <p:nvSpPr>
          <p:cNvPr id="252" name="Google Shape;252;p9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</a:pPr>
            <a:r>
              <a:rPr lang="en-US"/>
              <a:t>Loading &amp; Resuming</a:t>
            </a:r>
            <a:endParaRPr/>
          </a:p>
        </p:txBody>
      </p:sp>
      <p:pic>
        <p:nvPicPr>
          <p:cNvPr id="253" name="Google Shape;2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900" y="3962400"/>
            <a:ext cx="6680200" cy="21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2082800" y="1270000"/>
            <a:ext cx="9652000" cy="9525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7239000" y="1447800"/>
            <a:ext cx="44958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Open Sans Light"/>
              <a:buNone/>
            </a:pPr>
            <a:r>
              <a:rPr b="0" i="0" lang="en-US" sz="1600" u="none" cap="none" strike="noStrike">
                <a:solidFill>
                  <a:srgbClr val="12263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Why This Matters</a:t>
            </a:r>
            <a:endParaRPr/>
          </a:p>
          <a:p>
            <a:pPr indent="-190500" lvl="0" marL="190500" marR="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3D465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Nothing to paste — the .pth carried its own run id</a:t>
            </a:r>
            <a:endParaRPr/>
          </a:p>
          <a:p>
            <a:pPr indent="-190500" lvl="0" marL="190500" marR="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3D465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Compare the wandb path: no local file meant hunting RUN_ID out of a URL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2057400" y="1473200"/>
            <a:ext cx="50800" cy="2159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7061200" y="1473200"/>
            <a:ext cx="50800" cy="2159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235200" y="3276600"/>
            <a:ext cx="50800" cy="584200"/>
          </a:xfrm>
          <a:prstGeom prst="rect">
            <a:avLst/>
          </a:prstGeom>
          <a:solidFill>
            <a:srgbClr val="E0A400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2235200" y="3276600"/>
            <a:ext cx="9499600" cy="584200"/>
          </a:xfrm>
          <a:prstGeom prst="rect">
            <a:avLst/>
          </a:prstGeom>
          <a:solidFill>
            <a:srgbClr val="FFF6E5"/>
          </a:solidFill>
          <a:ln>
            <a:noFill/>
          </a:ln>
        </p:spPr>
        <p:txBody>
          <a:bodyPr anchorCtr="0" anchor="ctr" bIns="76200" lIns="228600" spcFirstLastPara="1" rIns="152400" wrap="square" tIns="76200">
            <a:noAutofit/>
          </a:bodyPr>
          <a:lstStyle/>
          <a:p>
            <a:pPr indent="0" lvl="0" marL="0" marR="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300"/>
              <a:buFont typeface="Open Sans Light"/>
              <a:buNone/>
            </a:pPr>
            <a:r>
              <a:rPr b="1" i="0" lang="en-US" sz="1300" u="none" cap="none" strike="noStrike">
                <a:solidFill>
                  <a:srgbClr val="8A5A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Watch out: </a:t>
            </a:r>
            <a:r>
              <a:rPr b="0" i="0" lang="en-US" sz="1300" u="none" cap="none" strike="noStrike">
                <a:solidFill>
                  <a:srgbClr val="5C42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names must match exactly, and shapes must match for the parameters you do load. </a:t>
            </a:r>
            <a:r>
              <a:rPr b="0" i="0" lang="en-US" sz="1200" u="none" cap="none" strike="noStrike">
                <a:solidFill>
                  <a:srgbClr val="5C4200"/>
                </a:solidFill>
                <a:latin typeface="Consolas"/>
                <a:ea typeface="Consolas"/>
                <a:cs typeface="Consolas"/>
                <a:sym typeface="Consolas"/>
              </a:rPr>
              <a:t>strict=False</a:t>
            </a:r>
            <a:r>
              <a:rPr b="0" i="0" lang="en-US" sz="1300" u="none" cap="none" strike="noStrike">
                <a:solidFill>
                  <a:srgbClr val="5C42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forgives missing and extra names — it does not forgive wrong shapes.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905000" y="1854200"/>
            <a:ext cx="102870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0"/>
          <p:cNvSpPr txBox="1"/>
          <p:nvPr>
            <p:ph idx="1" type="body"/>
          </p:nvPr>
        </p:nvSpPr>
        <p:spPr>
          <a:xfrm>
            <a:off x="2082800" y="482600"/>
            <a:ext cx="7112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lang="en-US"/>
              <a:t>Partial Loading</a:t>
            </a:r>
            <a:endParaRPr/>
          </a:p>
        </p:txBody>
      </p:sp>
      <p:sp>
        <p:nvSpPr>
          <p:cNvPr id="267" name="Google Shape;267;p10"/>
          <p:cNvSpPr txBox="1"/>
          <p:nvPr>
            <p:ph idx="2" type="body"/>
          </p:nvPr>
        </p:nvSpPr>
        <p:spPr>
          <a:xfrm>
            <a:off x="2235200" y="1447800"/>
            <a:ext cx="4826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None/>
            </a:pPr>
            <a:r>
              <a:rPr lang="en-US" sz="1600">
                <a:solidFill>
                  <a:srgbClr val="12263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Why Only Part?</a:t>
            </a:r>
            <a:endParaRPr/>
          </a:p>
          <a:p>
            <a:pPr indent="-190500" lvl="0" marL="19050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00A87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Reuse a trained block in a new model, or restore one piece and leave the rest freshly initialized</a:t>
            </a:r>
            <a:endParaRPr/>
          </a:p>
        </p:txBody>
      </p:sp>
      <p:sp>
        <p:nvSpPr>
          <p:cNvPr id="268" name="Google Shape;268;p10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</a:pPr>
            <a:r>
              <a:rPr lang="en-US"/>
              <a:t>Partial Loading</a:t>
            </a:r>
            <a:endParaRPr/>
          </a:p>
        </p:txBody>
      </p:sp>
      <p:pic>
        <p:nvPicPr>
          <p:cNvPr descr="A computer screen with colorful text&#10;&#10;AI-generated content may be incorrect." id="269" name="Google Shape;2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4140200"/>
            <a:ext cx="92202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/>
          <p:nvPr/>
        </p:nvSpPr>
        <p:spPr>
          <a:xfrm>
            <a:off x="2082800" y="1270000"/>
            <a:ext cx="9652000" cy="9525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7239000" y="1447800"/>
            <a:ext cx="44958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Open Sans Light"/>
              <a:buNone/>
            </a:pPr>
            <a:r>
              <a:rPr b="0" i="0" lang="en-US" sz="1600" u="none" cap="none" strike="noStrike">
                <a:solidFill>
                  <a:srgbClr val="12263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Read the Result</a:t>
            </a:r>
            <a:endParaRPr/>
          </a:p>
          <a:p>
            <a:pPr indent="-190500" lvl="0" marL="190500" marR="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missing_keys</a:t>
            </a: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— model keys you didn't supply; left at their current values</a:t>
            </a:r>
            <a:endParaRPr/>
          </a:p>
          <a:p>
            <a:pPr indent="-190500" lvl="0" marL="190500" marR="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0B6E4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unexpected_keys</a:t>
            </a: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— keys the model doesn't have; a typo signal</a:t>
            </a:r>
            <a:endParaRPr/>
          </a:p>
          <a:p>
            <a:pPr indent="-190500" lvl="0" marL="190500" marR="0" rtl="0" algn="l">
              <a:lnSpc>
                <a:spcPct val="117857"/>
              </a:lnSpc>
              <a:spcBef>
                <a:spcPts val="240"/>
              </a:spcBef>
              <a:spcAft>
                <a:spcPts val="0"/>
              </a:spcAft>
              <a:buClr>
                <a:srgbClr val="3D465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typo'd filter builds an EMPTY dict: loads nothing, raises nothing. </a:t>
            </a:r>
            <a:r>
              <a:rPr b="0" i="0" lang="en-US" sz="13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missing_keys</a:t>
            </a:r>
            <a:r>
              <a:rPr b="0" i="0" lang="en-US" sz="1400" u="none" cap="none" strike="noStrike">
                <a:solidFill>
                  <a:srgbClr val="3D465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is your only evidence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2057400" y="1473200"/>
            <a:ext cx="50800" cy="2159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7061200" y="1473200"/>
            <a:ext cx="50800" cy="215900"/>
          </a:xfrm>
          <a:prstGeom prst="rect">
            <a:avLst/>
          </a:prstGeom>
          <a:solidFill>
            <a:srgbClr val="00A878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235200" y="3276600"/>
            <a:ext cx="50800" cy="584200"/>
          </a:xfrm>
          <a:prstGeom prst="rect">
            <a:avLst/>
          </a:prstGeom>
          <a:solidFill>
            <a:srgbClr val="E0A400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 txBox="1"/>
          <p:nvPr>
            <p:ph idx="1" type="body"/>
          </p:nvPr>
        </p:nvSpPr>
        <p:spPr>
          <a:xfrm>
            <a:off x="3154363" y="3044825"/>
            <a:ext cx="58832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/>
              <a:t>Live Demo</a:t>
            </a:r>
            <a:endParaRPr/>
          </a:p>
        </p:txBody>
      </p:sp>
      <p:sp>
        <p:nvSpPr>
          <p:cNvPr id="280" name="Google Shape;280;p11"/>
          <p:cNvSpPr txBox="1"/>
          <p:nvPr>
            <p:ph idx="4294967295" type="sldNum"/>
          </p:nvPr>
        </p:nvSpPr>
        <p:spPr>
          <a:xfrm>
            <a:off x="0" y="6327775"/>
            <a:ext cx="350838" cy="33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2026-08-11T21:56:28Z</dcterms:created>
  <dc:creator>Hunter Lin</dc:creator>
</cp:coreProperties>
</file>